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Cameras on. Say hi. Wait for the room to fill. Do not start teaching until 8:03.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them typing in the first 90 seconds. Read a few cities out loud by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 here. Let it sit. Ask: has this happened to you? Type yes.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thesis of the whole night. Say it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them to hold up their bottle. Have three people read the brand and name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TEACHING. Wait for the chat. Read out five brands by name. This is the participation beat.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chat reaction here. Let them react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each question the way you would say it in the chair. Then what the answer tells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pivot. Do not rush it and do not apologise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WAIT for the YES chat. Read names out loud. Do not move until the chat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names out loud. Slowly. This is the last emotional beat before the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8:58 PM. Say it out loud: in two minutes General Admission is out. Link in the chat. Nine dollars.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1328" y="566928"/>
            <a:ext cx="1567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6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 I C H   L A S H ®   U N I V E R S I T Y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81328" y="2788920"/>
            <a:ext cx="15672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600" kern="0" dirty="0">
                <a:solidFill>
                  <a:srgbClr val="F600A2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RETENTION ROOM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481328" y="3429000"/>
            <a:ext cx="156728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7400"/>
              </a:lnSpc>
              <a:buNone/>
            </a:pPr>
            <a:r>
              <a:rPr lang="en-US" sz="66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Why her lashes</a:t>
            </a:r>
            <a:pPr indent="0" marL="0">
              <a:lnSpc>
                <a:spcPts val="7400"/>
              </a:lnSpc>
              <a:buNone/>
            </a:pPr>
            <a:r>
              <a:rPr lang="en-US" sz="6600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
</a:t>
            </a:r>
            <a:pPr indent="0" marL="0">
              <a:lnSpc>
                <a:spcPts val="7400"/>
              </a:lnSpc>
              <a:buNone/>
            </a:pPr>
            <a:r>
              <a:rPr lang="en-US" sz="6600" i="1" dirty="0">
                <a:solidFill>
                  <a:srgbClr val="F600A2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fall off in nine days.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>
            <a:off x="1481328" y="6446520"/>
            <a:ext cx="15672816" cy="10973"/>
          </a:xfrm>
          <a:prstGeom prst="rect">
            <a:avLst/>
          </a:prstGeom>
          <a:solidFill>
            <a:srgbClr val="2620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81328" y="6720840"/>
            <a:ext cx="15672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Tuesday, September 1  ·  8 to 9 PM ET  ·  One live hour</a:t>
            </a:r>
            <a:endParaRPr lang="en-US" sz="195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9052560"/>
            <a:ext cx="15672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5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DESTYNI TRIPLETT, REGISTERED NURSE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1328" y="566928"/>
            <a:ext cx="1567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WELCOME IN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81328" y="1188720"/>
            <a:ext cx="156728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31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One hour. </a:t>
            </a:r>
            <a:pPr indent="0" marL="0">
              <a:lnSpc>
                <a:spcPts val="5310"/>
              </a:lnSpc>
              <a:buNone/>
            </a:pPr>
            <a:r>
              <a:rPr lang="en-US" sz="4500" i="1" dirty="0">
                <a:solidFill>
                  <a:srgbClr val="F600A2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Three acts.</a:t>
            </a:r>
            <a:endParaRPr lang="en-US" sz="4500" dirty="0"/>
          </a:p>
        </p:txBody>
      </p:sp>
      <p:sp>
        <p:nvSpPr>
          <p:cNvPr id="4" name="Text 2"/>
          <p:cNvSpPr txBox="1"/>
          <p:nvPr/>
        </p:nvSpPr>
        <p:spPr>
          <a:xfrm>
            <a:off x="1481328" y="39776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395728" y="3977640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Chemistry</a:t>
            </a:r>
            <a:endParaRPr lang="en-US" sz="1950" dirty="0"/>
          </a:p>
        </p:txBody>
      </p:sp>
      <p:sp>
        <p:nvSpPr>
          <p:cNvPr id="6" name="Text 4"/>
          <p:cNvSpPr txBox="1"/>
          <p:nvPr/>
        </p:nvSpPr>
        <p:spPr>
          <a:xfrm>
            <a:off x="2395728" y="4453128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does not last, and what your room has to do with it</a:t>
            </a:r>
            <a:endParaRPr lang="en-US" sz="1725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51663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395728" y="5166360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Consultation</a:t>
            </a:r>
            <a:endParaRPr lang="en-US" sz="1950" dirty="0"/>
          </a:p>
        </p:txBody>
      </p:sp>
      <p:sp>
        <p:nvSpPr>
          <p:cNvPr id="9" name="Text 7"/>
          <p:cNvSpPr txBox="1"/>
          <p:nvPr/>
        </p:nvSpPr>
        <p:spPr>
          <a:xfrm>
            <a:off x="2395728" y="5641848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is decided before you pick up a tweezer</a:t>
            </a:r>
            <a:endParaRPr lang="en-US" sz="1725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6355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395728" y="6355080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Rebooking</a:t>
            </a:r>
            <a:endParaRPr lang="en-US" sz="1950" dirty="0"/>
          </a:p>
        </p:txBody>
      </p:sp>
      <p:sp>
        <p:nvSpPr>
          <p:cNvPr id="12" name="Text 10"/>
          <p:cNvSpPr txBox="1"/>
          <p:nvPr/>
        </p:nvSpPr>
        <p:spPr>
          <a:xfrm>
            <a:off x="2395728" y="6830568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set that lasts is a client who comes back</a:t>
            </a:r>
            <a:endParaRPr lang="en-US" sz="1725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8887968"/>
            <a:ext cx="15672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i="1" dirty="0">
                <a:solidFill>
                  <a:srgbClr val="B9B3BB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Type your city in the chat so I know who is in the room.</a:t>
            </a:r>
            <a:endParaRPr lang="en-US" sz="17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1328" y="566928"/>
            <a:ext cx="1567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BEFORE WE START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81328" y="1188720"/>
            <a:ext cx="156728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31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 am a nurse who lashes.
</a:t>
            </a:r>
            <a:pPr indent="0" marL="0">
              <a:lnSpc>
                <a:spcPts val="5310"/>
              </a:lnSpc>
              <a:buNone/>
            </a:pPr>
            <a:r>
              <a:rPr lang="en-US" sz="4500" i="1" dirty="0">
                <a:solidFill>
                  <a:srgbClr val="D4AF37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That is the whole difference.</a:t>
            </a:r>
            <a:endParaRPr lang="en-US" sz="4500" dirty="0"/>
          </a:p>
        </p:txBody>
      </p:sp>
      <p:sp>
        <p:nvSpPr>
          <p:cNvPr id="4" name="Text 2"/>
          <p:cNvSpPr txBox="1"/>
          <p:nvPr/>
        </p:nvSpPr>
        <p:spPr>
          <a:xfrm>
            <a:off x="1481328" y="4160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395728" y="4160520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Lashing since 2017</a:t>
            </a:r>
            <a:endParaRPr lang="en-US" sz="1950" dirty="0"/>
          </a:p>
        </p:txBody>
      </p:sp>
      <p:sp>
        <p:nvSpPr>
          <p:cNvPr id="6" name="Text 4"/>
          <p:cNvSpPr txBox="1"/>
          <p:nvPr/>
        </p:nvSpPr>
        <p:spPr>
          <a:xfrm>
            <a:off x="2395728" y="4636008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Nine years, over a thousand clients</a:t>
            </a:r>
            <a:endParaRPr lang="en-US" sz="1725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5349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395728" y="5349240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Teaching since 2019</a:t>
            </a:r>
            <a:endParaRPr lang="en-US" sz="1950" dirty="0"/>
          </a:p>
        </p:txBody>
      </p:sp>
      <p:sp>
        <p:nvSpPr>
          <p:cNvPr id="9" name="Text 7"/>
          <p:cNvSpPr txBox="1"/>
          <p:nvPr/>
        </p:nvSpPr>
        <p:spPr>
          <a:xfrm>
            <a:off x="2395728" y="5824728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250+ women trained</a:t>
            </a:r>
            <a:endParaRPr lang="en-US" sz="1725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65379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395728" y="6537960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RN since 2020</a:t>
            </a:r>
            <a:endParaRPr lang="en-US" sz="1950" dirty="0"/>
          </a:p>
        </p:txBody>
      </p:sp>
      <p:sp>
        <p:nvSpPr>
          <p:cNvPr id="12" name="Text 10"/>
          <p:cNvSpPr txBox="1"/>
          <p:nvPr/>
        </p:nvSpPr>
        <p:spPr>
          <a:xfrm>
            <a:off x="2395728" y="7013448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Chemistry and safety, not guesswork</a:t>
            </a:r>
            <a:endParaRPr lang="en-US" sz="1725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8887968"/>
            <a:ext cx="15672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i="1" dirty="0">
                <a:solidFill>
                  <a:srgbClr val="B9B3BB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Everything tonight comes out of a curriculum I wrote as a nurse, not as a hobbyist.</a:t>
            </a:r>
            <a:endParaRPr lang="en-US" sz="17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1328" y="566928"/>
            <a:ext cx="1567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LET ME TELL YOU WHAT HAPPENS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81328" y="2377440"/>
            <a:ext cx="156728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08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Here is what happens
</a:t>
            </a:r>
            <a:pPr indent="0" marL="0">
              <a:lnSpc>
                <a:spcPts val="7080"/>
              </a:lnSpc>
              <a:buNone/>
            </a:pPr>
            <a:r>
              <a:rPr lang="en-US" sz="6000" i="1" dirty="0">
                <a:solidFill>
                  <a:srgbClr val="F600A2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on day nine.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1481328" y="5669280"/>
            <a:ext cx="122247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She sends the photo. Half the set, and a message that starts with “hey, so...”</a:t>
            </a:r>
            <a:endParaRPr lang="en-US" sz="2100" dirty="0"/>
          </a:p>
          <a:p>
            <a:pPr indent="0" marL="0">
              <a:lnSpc>
                <a:spcPts val="3400"/>
              </a:lnSpc>
              <a:buNone/>
            </a:pPr>
            <a:endParaRPr lang="en-US" sz="21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already know what it says before you open it.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1328" y="566928"/>
            <a:ext cx="1567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AND THEN WHAT HAPPENS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81328" y="1234440"/>
            <a:ext cx="156728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9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You quietly
</a:t>
            </a:r>
            <a:pPr indent="0" marL="0">
              <a:lnSpc>
                <a:spcPts val="5900"/>
              </a:lnSpc>
              <a:buNone/>
            </a:pPr>
            <a:r>
              <a:rPr lang="en-US" sz="5000" i="1" dirty="0">
                <a:solidFill>
                  <a:srgbClr val="F600A2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stop posting your work.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1481328" y="4160520"/>
            <a:ext cx="12851709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195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apologise. You offer to fix it for nothing. You spend two hours and your product on a set you already got paid for once, and you tell her it is no trouble.</a:t>
            </a:r>
            <a:endParaRPr lang="en-US" sz="1950" dirty="0"/>
          </a:p>
          <a:p>
            <a:pPr indent="0" marL="0">
              <a:lnSpc>
                <a:spcPts val="3300"/>
              </a:lnSpc>
              <a:buNone/>
            </a:pPr>
            <a:endParaRPr lang="en-US" sz="1950" dirty="0"/>
          </a:p>
          <a:p>
            <a:pPr indent="0" marL="0">
              <a:lnSpc>
                <a:spcPts val="3300"/>
              </a:lnSpc>
              <a:buNone/>
            </a:pPr>
            <a:r>
              <a:rPr lang="en-US" sz="195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because you decided to stop posting. Because you are not sure it will last, and you cannot bear that conversation again.</a:t>
            </a:r>
            <a:endParaRPr lang="en-US" sz="1950" dirty="0"/>
          </a:p>
          <a:p>
            <a:pPr indent="0" marL="0">
              <a:lnSpc>
                <a:spcPts val="3300"/>
              </a:lnSpc>
              <a:buNone/>
            </a:pPr>
            <a:endParaRPr lang="en-US" sz="1950" dirty="0"/>
          </a:p>
          <a:p>
            <a:pPr indent="0" marL="0">
              <a:lnSpc>
                <a:spcPts val="3300"/>
              </a:lnSpc>
              <a:buNone/>
            </a:pPr>
            <a:r>
              <a:rPr lang="en-US" sz="195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you do not raise your price. You do not ask for the referral.</a:t>
            </a:r>
            <a:endParaRPr lang="en-US" sz="1950" dirty="0"/>
          </a:p>
        </p:txBody>
      </p:sp>
      <p:sp>
        <p:nvSpPr>
          <p:cNvPr id="5" name="Text 3"/>
          <p:cNvSpPr txBox="1"/>
          <p:nvPr/>
        </p:nvSpPr>
        <p:spPr>
          <a:xfrm>
            <a:off x="1481328" y="8887968"/>
            <a:ext cx="15672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i="1" dirty="0">
                <a:solidFill>
                  <a:srgbClr val="B9B3BB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You get smaller, one apology at a time.</a:t>
            </a:r>
            <a:endParaRPr lang="en-US" sz="17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1328" y="566928"/>
            <a:ext cx="1567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SO LET ME SAY THIS PLAIN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81328" y="2148840"/>
            <a:ext cx="1567281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4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Bad retention is not
a talent problem.
</a:t>
            </a:r>
            <a:pPr indent="0" marL="0">
              <a:lnSpc>
                <a:spcPts val="6400"/>
              </a:lnSpc>
              <a:buNone/>
            </a:pPr>
            <a:r>
              <a:rPr lang="en-US" sz="5200" i="1" dirty="0">
                <a:solidFill>
                  <a:srgbClr val="F600A2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It is a chemistry problem.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1481328" y="7452360"/>
            <a:ext cx="15672816" cy="10973"/>
          </a:xfrm>
          <a:prstGeom prst="rect">
            <a:avLst/>
          </a:prstGeom>
          <a:solidFill>
            <a:srgbClr val="26202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81328" y="7772400"/>
            <a:ext cx="15672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D4AF37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And you cannot troubleshoot chemistry from memory.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1328" y="3566160"/>
            <a:ext cx="15672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800" kern="0" dirty="0">
                <a:solidFill>
                  <a:srgbClr val="F600A2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ACT ONE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81328" y="4251960"/>
            <a:ext cx="156728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</a:t>
            </a:r>
            <a:pPr indent="0" marL="0">
              <a:buNone/>
            </a:pPr>
            <a:r>
              <a:rPr lang="en-US" sz="7600" i="1" dirty="0">
                <a:solidFill>
                  <a:srgbClr val="D4AF37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Chemistry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1481328" y="6172200"/>
            <a:ext cx="15672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does not last.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1328" y="566928"/>
            <a:ext cx="1567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ACT ONE  ·  THE THING NOBODY TOLD YOU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81328" y="1965960"/>
            <a:ext cx="156728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372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Your adhesive is not drying.
</a:t>
            </a:r>
            <a:pPr indent="0" marL="0">
              <a:lnSpc>
                <a:spcPts val="6372"/>
              </a:lnSpc>
              <a:buNone/>
            </a:pPr>
            <a:r>
              <a:rPr lang="en-US" sz="5400" i="1" dirty="0">
                <a:solidFill>
                  <a:srgbClr val="F600A2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It is curing.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1481328" y="5623560"/>
            <a:ext cx="12538253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10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Cyanoacrylate does not dry like paint. It is a chemical reaction that sets using moisture in the air.</a:t>
            </a:r>
            <a:endParaRPr lang="en-US" sz="2100" dirty="0"/>
          </a:p>
          <a:p>
            <a:pPr indent="0" marL="0">
              <a:lnSpc>
                <a:spcPts val="3500"/>
              </a:lnSpc>
              <a:buNone/>
            </a:pPr>
            <a:endParaRPr lang="en-US" sz="21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10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 means your room is part of your kit.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1328" y="566928"/>
            <a:ext cx="1567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DO THIS WITH ME RIGHT NOW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81328" y="2834640"/>
            <a:ext cx="156728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372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Pick up your adhesive.
</a:t>
            </a:r>
            <a:pPr indent="0" marL="0">
              <a:lnSpc>
                <a:spcPts val="6372"/>
              </a:lnSpc>
              <a:buNone/>
            </a:pPr>
            <a:r>
              <a:rPr lang="en-US" sz="5400" i="1" dirty="0">
                <a:solidFill>
                  <a:srgbClr val="D4AF37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Type the name in the chat.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1481328" y="6172200"/>
            <a:ext cx="12538253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10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Brand and name. It is on the bottle.</a:t>
            </a:r>
            <a:endParaRPr lang="en-US" sz="2100" dirty="0"/>
          </a:p>
          <a:p>
            <a:pPr indent="0" marL="0">
              <a:lnSpc>
                <a:spcPts val="3500"/>
              </a:lnSpc>
              <a:buNone/>
            </a:pPr>
            <a:endParaRPr lang="en-US" sz="21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10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adhesive yet? Type NONE. You are in the right room either way.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1328" y="566928"/>
            <a:ext cx="1567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ACT ONE  ·  THE CURE CHECK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81328" y="1188720"/>
            <a:ext cx="156728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31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Three states. Your room picks one.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481328" y="3794760"/>
            <a:ext cx="4840224" cy="3246120"/>
          </a:xfrm>
          <a:prstGeom prst="roundRect">
            <a:avLst>
              <a:gd name="adj" fmla="val 3380"/>
            </a:avLst>
          </a:prstGeom>
          <a:solidFill>
            <a:srgbClr val="121013"/>
          </a:solidFill>
          <a:ln w="12700">
            <a:solidFill>
              <a:srgbClr val="2620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38528" y="4224528"/>
            <a:ext cx="3944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500" kern="0" dirty="0">
                <a:solidFill>
                  <a:srgbClr val="F600A2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TOO DRY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938528" y="4956048"/>
            <a:ext cx="39441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Under-cures. Stays tacky.</a:t>
            </a:r>
            <a:endParaRPr lang="en-US" sz="1875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Slides off in a few days.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6705600" y="3794760"/>
            <a:ext cx="4840224" cy="3246120"/>
          </a:xfrm>
          <a:prstGeom prst="roundRect">
            <a:avLst>
              <a:gd name="adj" fmla="val 3380"/>
            </a:avLst>
          </a:prstGeom>
          <a:solidFill>
            <a:srgbClr val="121013"/>
          </a:solidFill>
          <a:ln w="12700">
            <a:solidFill>
              <a:srgbClr val="2620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62800" y="4224528"/>
            <a:ext cx="3944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500" kern="0" dirty="0">
                <a:solidFill>
                  <a:srgbClr val="4EBB1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 RANGE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162800" y="4956048"/>
            <a:ext cx="39441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strong, flexible bond.</a:t>
            </a:r>
            <a:endParaRPr lang="en-US" sz="1875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is the whole goal.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1929872" y="3794760"/>
            <a:ext cx="4840224" cy="3246120"/>
          </a:xfrm>
          <a:prstGeom prst="roundRect">
            <a:avLst>
              <a:gd name="adj" fmla="val 3380"/>
            </a:avLst>
          </a:prstGeom>
          <a:solidFill>
            <a:srgbClr val="121013"/>
          </a:solidFill>
          <a:ln w="12700">
            <a:solidFill>
              <a:srgbClr val="2620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387072" y="4224528"/>
            <a:ext cx="3944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500" kern="0" dirty="0">
                <a:solidFill>
                  <a:srgbClr val="F600A2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TOO HUMID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87072" y="4956048"/>
            <a:ext cx="39441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Shock-cures. Blooms.</a:t>
            </a:r>
            <a:endParaRPr lang="en-US" sz="1875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Goes brittle and lets go early.</a:t>
            </a:r>
            <a:endParaRPr lang="en-US" sz="1875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8887968"/>
            <a:ext cx="15672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i="1" dirty="0">
                <a:solidFill>
                  <a:srgbClr val="B9B3BB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Two artists. Same glue. Different rooms. Completely different retention.</a:t>
            </a:r>
            <a:endParaRPr lang="en-US" sz="17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1328" y="566928"/>
            <a:ext cx="1567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AND THIS IS WHERE I LOSE FRIENDS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81328" y="2148840"/>
            <a:ext cx="156728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608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There is no universal
</a:t>
            </a:r>
            <a:pPr indent="0" marL="0">
              <a:lnSpc>
                <a:spcPts val="6608"/>
              </a:lnSpc>
              <a:buNone/>
            </a:pPr>
            <a:r>
              <a:rPr lang="en-US" sz="5600" i="1" dirty="0">
                <a:solidFill>
                  <a:srgbClr val="F600A2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humidity rule.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1481328" y="5760720"/>
            <a:ext cx="12851709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10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 to 70 percent. 70 to 72 degrees. Whoever taught you that taught you somebody else's adhesive.</a:t>
            </a:r>
            <a:endParaRPr lang="en-US" sz="2100" dirty="0"/>
          </a:p>
          <a:p>
            <a:pPr indent="0" marL="0">
              <a:lnSpc>
                <a:spcPts val="3500"/>
              </a:lnSpc>
              <a:buNone/>
            </a:pPr>
            <a:endParaRPr lang="en-US" sz="21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10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Those numbers are product-dependent. Get a hygrometer, learn your adhesive's range, and read your own air.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1328" y="566928"/>
            <a:ext cx="1567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ACT ONE  ·  THE PART THAT IS NOT YOUR FAULT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81328" y="1874520"/>
            <a:ext cx="156728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64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She swore she wasn't using oil.
</a:t>
            </a:r>
            <a:pPr indent="0" marL="0">
              <a:lnSpc>
                <a:spcPts val="5664"/>
              </a:lnSpc>
              <a:buNone/>
            </a:pPr>
            <a:r>
              <a:rPr lang="en-US" sz="4800" i="1" dirty="0">
                <a:solidFill>
                  <a:srgbClr val="F600A2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She was telling the truth.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1481328" y="5532120"/>
            <a:ext cx="1285170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10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glands along her lid margin keep her lash line moist. That same oil is dissolving your bond, a little every day, whether she touches a product or not.</a:t>
            </a:r>
            <a:endParaRPr lang="en-US" sz="2100" dirty="0"/>
          </a:p>
          <a:p>
            <a:pPr indent="0" marL="0">
              <a:lnSpc>
                <a:spcPts val="3500"/>
              </a:lnSpc>
              <a:buNone/>
            </a:pPr>
            <a:endParaRPr lang="en-US" sz="21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10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 oily client sheds faster no matter how clean your application was.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1481328" y="8887968"/>
            <a:ext cx="15672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i="1" dirty="0">
                <a:solidFill>
                  <a:srgbClr val="B9B3BB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That is not you failing. That is her chemistry, and now you can explain it.</a:t>
            </a:r>
            <a:endParaRPr lang="en-US" sz="17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1328" y="566928"/>
            <a:ext cx="1567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WHEN RETENTION DROPS, CHECK IN THIS ORDER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81328" y="1188720"/>
            <a:ext cx="156728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31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Do not start with your hands.</a:t>
            </a:r>
            <a:endParaRPr lang="en-US" sz="4500" dirty="0"/>
          </a:p>
        </p:txBody>
      </p:sp>
      <p:sp>
        <p:nvSpPr>
          <p:cNvPr id="4" name="Text 2"/>
          <p:cNvSpPr txBox="1"/>
          <p:nvPr/>
        </p:nvSpPr>
        <p:spPr>
          <a:xfrm>
            <a:off x="1481328" y="379476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395728" y="3794760"/>
            <a:ext cx="1475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Your environment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472744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395728" y="4727448"/>
            <a:ext cx="1475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Adhesive age and drop age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566013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395728" y="5660136"/>
            <a:ext cx="1475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Her aftercare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6592824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B9B3B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395728" y="6592824"/>
            <a:ext cx="1475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Your isolation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752551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B9B3B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395728" y="7525512"/>
            <a:ext cx="1475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Your attachment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8887968"/>
            <a:ext cx="15672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i="1" dirty="0">
                <a:solidFill>
                  <a:srgbClr val="B9B3BB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Most of you start at number five. That is why you have been blaming yourself.</a:t>
            </a:r>
            <a:endParaRPr lang="en-US" sz="17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703320"/>
            <a:ext cx="1828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600" kern="0" dirty="0">
                <a:solidFill>
                  <a:srgbClr val="B9B3B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YOU LEAVE WITH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0" y="4434840"/>
            <a:ext cx="1828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Cure </a:t>
            </a:r>
            <a:pPr algn="ctr" indent="0" marL="0">
              <a:buNone/>
            </a:pPr>
            <a:r>
              <a:rPr lang="en-US" sz="7200" i="1" dirty="0">
                <a:solidFill>
                  <a:srgbClr val="D4AF37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Check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626364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three conditions in your room that decide how long her set lasts.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1328" y="3566160"/>
            <a:ext cx="15672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800" kern="0" dirty="0">
                <a:solidFill>
                  <a:srgbClr val="F600A2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ACT TWO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81328" y="4251960"/>
            <a:ext cx="156728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</a:t>
            </a:r>
            <a:pPr indent="0" marL="0">
              <a:buNone/>
            </a:pPr>
            <a:r>
              <a:rPr lang="en-US" sz="7600" i="1" dirty="0">
                <a:solidFill>
                  <a:srgbClr val="D4AF37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Consultation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1481328" y="6172200"/>
            <a:ext cx="15672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is decided before you pick up a tweezer.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1328" y="566928"/>
            <a:ext cx="1567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ACT TWO  ·  THE FOUR QUESTIONS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81328" y="1188720"/>
            <a:ext cx="156728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31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Ask these at intake. Every time.</a:t>
            </a:r>
            <a:endParaRPr lang="en-US" sz="4500" dirty="0"/>
          </a:p>
        </p:txBody>
      </p:sp>
      <p:sp>
        <p:nvSpPr>
          <p:cNvPr id="4" name="Text 2"/>
          <p:cNvSpPr txBox="1"/>
          <p:nvPr/>
        </p:nvSpPr>
        <p:spPr>
          <a:xfrm>
            <a:off x="1481328" y="38404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395728" y="3840480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What are you putting on your face at night?</a:t>
            </a:r>
            <a:endParaRPr lang="en-US" sz="1950" dirty="0"/>
          </a:p>
        </p:txBody>
      </p:sp>
      <p:sp>
        <p:nvSpPr>
          <p:cNvPr id="6" name="Text 4"/>
          <p:cNvSpPr txBox="1"/>
          <p:nvPr/>
        </p:nvSpPr>
        <p:spPr>
          <a:xfrm>
            <a:off x="2395728" y="4315968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Skincare is the number one silent bond-killer</a:t>
            </a:r>
            <a:endParaRPr lang="en-US" sz="1725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5029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395728" y="5029200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How does the water hit your face in the shower?</a:t>
            </a:r>
            <a:endParaRPr lang="en-US" sz="1950" dirty="0"/>
          </a:p>
        </p:txBody>
      </p:sp>
      <p:sp>
        <p:nvSpPr>
          <p:cNvPr id="9" name="Text 7"/>
          <p:cNvSpPr txBox="1"/>
          <p:nvPr/>
        </p:nvSpPr>
        <p:spPr>
          <a:xfrm>
            <a:off x="2395728" y="5504688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 hot water, every day, is a different set</a:t>
            </a:r>
            <a:endParaRPr lang="en-US" sz="1725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62179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395728" y="6217920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Are you wearing mascara on these?</a:t>
            </a:r>
            <a:endParaRPr lang="en-US" sz="1950" dirty="0"/>
          </a:p>
        </p:txBody>
      </p:sp>
      <p:sp>
        <p:nvSpPr>
          <p:cNvPr id="12" name="Text 10"/>
          <p:cNvSpPr txBox="1"/>
          <p:nvPr/>
        </p:nvSpPr>
        <p:spPr>
          <a:xfrm>
            <a:off x="2395728" y="6693408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answer changes what you can safely build</a:t>
            </a:r>
            <a:endParaRPr lang="en-US" sz="1725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74066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395728" y="7406640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When was your last full set?</a:t>
            </a:r>
            <a:endParaRPr lang="en-US" sz="1950" dirty="0"/>
          </a:p>
        </p:txBody>
      </p:sp>
      <p:sp>
        <p:nvSpPr>
          <p:cNvPr id="15" name="Text 13"/>
          <p:cNvSpPr txBox="1"/>
          <p:nvPr/>
        </p:nvSpPr>
        <p:spPr>
          <a:xfrm>
            <a:off x="2395728" y="7882128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Tells you where she is in her own lash cycle</a:t>
            </a:r>
            <a:endParaRPr lang="en-US" sz="1725" dirty="0"/>
          </a:p>
        </p:txBody>
      </p:sp>
      <p:sp>
        <p:nvSpPr>
          <p:cNvPr id="16" name="Text 14"/>
          <p:cNvSpPr txBox="1"/>
          <p:nvPr/>
        </p:nvSpPr>
        <p:spPr>
          <a:xfrm>
            <a:off x="1481328" y="8887968"/>
            <a:ext cx="15672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i="1" dirty="0">
                <a:solidFill>
                  <a:srgbClr val="B9B3BB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Her answer tells you what her set is going to do, before you touch her.</a:t>
            </a:r>
            <a:endParaRPr lang="en-US" sz="17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1328" y="566928"/>
            <a:ext cx="1567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AND THIS IS THE PART THAT SAVES YOU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81328" y="2606040"/>
            <a:ext cx="156728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192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Say it out loud at intake
</a:t>
            </a:r>
            <a:pPr indent="0" marL="0">
              <a:lnSpc>
                <a:spcPts val="5192"/>
              </a:lnSpc>
              <a:buNone/>
            </a:pPr>
            <a:r>
              <a:rPr lang="en-US" sz="4400" i="1" dirty="0">
                <a:solidFill>
                  <a:srgbClr val="F600A2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instead of her finding out on day nine.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1481328" y="5806440"/>
            <a:ext cx="1316516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300" i="1" dirty="0">
                <a:solidFill>
                  <a:srgbClr val="FFFFFF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“Based on what you just told me, your set is going to want a fill around week two instead of week three. That is your oil, not my work. Here is what we do about it.”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>
            <a:off x="1481328" y="8887968"/>
            <a:ext cx="15672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i="1" dirty="0">
                <a:solidFill>
                  <a:srgbClr val="B9B3BB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You just turned a future complaint into proof that you knew what you were doing.</a:t>
            </a:r>
            <a:endParaRPr lang="en-US" sz="17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703320"/>
            <a:ext cx="1828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600" kern="0" dirty="0">
                <a:solidFill>
                  <a:srgbClr val="B9B3B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YOU LEAVE WITH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0" y="4434840"/>
            <a:ext cx="1828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Four </a:t>
            </a:r>
            <a:pPr algn="ctr" indent="0" marL="0">
              <a:buNone/>
            </a:pPr>
            <a:r>
              <a:rPr lang="en-US" sz="7200" i="1" dirty="0">
                <a:solidFill>
                  <a:srgbClr val="D4AF37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Questions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626364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Ask them at your next appointment. Watch what changes.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1328" y="3566160"/>
            <a:ext cx="15672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800" kern="0" dirty="0">
                <a:solidFill>
                  <a:srgbClr val="F600A2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ACT THREE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81328" y="4251960"/>
            <a:ext cx="156728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</a:t>
            </a:r>
            <a:pPr indent="0" marL="0">
              <a:buNone/>
            </a:pPr>
            <a:r>
              <a:rPr lang="en-US" sz="7600" i="1" dirty="0">
                <a:solidFill>
                  <a:srgbClr val="D4AF37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Rebooking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1481328" y="6172200"/>
            <a:ext cx="15672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set that lasts is a client who comes back.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1328" y="566928"/>
            <a:ext cx="1567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ACT THREE  ·  WHY THIS IS THE MONEY PART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81328" y="1965960"/>
            <a:ext cx="156728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192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Retention stops being about lashes
</a:t>
            </a:r>
            <a:pPr indent="0" marL="0">
              <a:lnSpc>
                <a:spcPts val="5192"/>
              </a:lnSpc>
              <a:buNone/>
            </a:pPr>
            <a:r>
              <a:rPr lang="en-US" sz="4400" i="1" dirty="0">
                <a:solidFill>
                  <a:srgbClr val="F600A2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and starts being about your money.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1481328" y="5532120"/>
            <a:ext cx="12851709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10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her set lasts, she trusts you. She comes back. She rebooks before she ever leaves the chair.</a:t>
            </a:r>
            <a:endParaRPr lang="en-US" sz="2100" dirty="0"/>
          </a:p>
          <a:p>
            <a:pPr indent="0" marL="0">
              <a:lnSpc>
                <a:spcPts val="3500"/>
              </a:lnSpc>
              <a:buNone/>
            </a:pPr>
            <a:endParaRPr lang="en-US" sz="21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10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stop chasing. You stop discounting. You stop redoing sets for nothing.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1328" y="566928"/>
            <a:ext cx="1567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ACT THREE  ·  AFTERCARE SHE WILL ACTUALLY FOLLOW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81328" y="1188720"/>
            <a:ext cx="156728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31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Four things, in this order.</a:t>
            </a:r>
            <a:endParaRPr lang="en-US" sz="4500" dirty="0"/>
          </a:p>
        </p:txBody>
      </p:sp>
      <p:sp>
        <p:nvSpPr>
          <p:cNvPr id="4" name="Text 2"/>
          <p:cNvSpPr txBox="1"/>
          <p:nvPr/>
        </p:nvSpPr>
        <p:spPr>
          <a:xfrm>
            <a:off x="1481328" y="38404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395728" y="3840480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Keep the lash line clean</a:t>
            </a:r>
            <a:endParaRPr lang="en-US" sz="1950" dirty="0"/>
          </a:p>
        </p:txBody>
      </p:sp>
      <p:sp>
        <p:nvSpPr>
          <p:cNvPr id="6" name="Text 4"/>
          <p:cNvSpPr txBox="1"/>
          <p:nvPr/>
        </p:nvSpPr>
        <p:spPr>
          <a:xfrm>
            <a:off x="2395728" y="4315968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Brush it. Foam cleanse it. Buildup wrecks retention and eye health</a:t>
            </a:r>
            <a:endParaRPr lang="en-US" sz="1725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5029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395728" y="5029200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No oil-based products near the eyes</a:t>
            </a:r>
            <a:endParaRPr lang="en-US" sz="1950" dirty="0"/>
          </a:p>
        </p:txBody>
      </p:sp>
      <p:sp>
        <p:nvSpPr>
          <p:cNvPr id="9" name="Text 7"/>
          <p:cNvSpPr txBox="1"/>
          <p:nvPr/>
        </p:nvSpPr>
        <p:spPr>
          <a:xfrm>
            <a:off x="2395728" y="5504688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Oil is the enemy of a cured bond</a:t>
            </a:r>
            <a:endParaRPr lang="en-US" sz="1725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62179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395728" y="6217920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Do not rub, tug or pull. No mascara</a:t>
            </a:r>
            <a:endParaRPr lang="en-US" sz="1950" dirty="0"/>
          </a:p>
        </p:txBody>
      </p:sp>
      <p:sp>
        <p:nvSpPr>
          <p:cNvPr id="12" name="Text 10"/>
          <p:cNvSpPr txBox="1"/>
          <p:nvPr/>
        </p:nvSpPr>
        <p:spPr>
          <a:xfrm>
            <a:off x="2395728" y="6693408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Pulling extensions damages her natural lash</a:t>
            </a:r>
            <a:endParaRPr lang="en-US" sz="1725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74066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395728" y="7406640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Water timing per your adhesive</a:t>
            </a:r>
            <a:endParaRPr lang="en-US" sz="1950" dirty="0"/>
          </a:p>
        </p:txBody>
      </p:sp>
      <p:sp>
        <p:nvSpPr>
          <p:cNvPr id="15" name="Text 13"/>
          <p:cNvSpPr txBox="1"/>
          <p:nvPr/>
        </p:nvSpPr>
        <p:spPr>
          <a:xfrm>
            <a:off x="2395728" y="7882128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a blanket rule you heard somewhere</a:t>
            </a:r>
            <a:endParaRPr lang="en-US" sz="17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1328" y="566928"/>
            <a:ext cx="1567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ONE MORE THING YOU WERE TAUGHT WRONG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81328" y="2514600"/>
            <a:ext cx="156728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9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“No water for 24 hours”
</a:t>
            </a:r>
            <a:pPr indent="0" marL="0">
              <a:lnSpc>
                <a:spcPts val="5900"/>
              </a:lnSpc>
              <a:buNone/>
            </a:pPr>
            <a:r>
              <a:rPr lang="en-US" sz="5000" i="1" dirty="0">
                <a:solidFill>
                  <a:srgbClr val="F600A2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is not a rule. It is a rumor.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1481328" y="5989320"/>
            <a:ext cx="12851709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10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is product-dependent. Give her the timing your manufacturer specifies.</a:t>
            </a:r>
            <a:endParaRPr lang="en-US" sz="2100" dirty="0"/>
          </a:p>
          <a:p>
            <a:pPr indent="0" marL="0">
              <a:lnSpc>
                <a:spcPts val="3500"/>
              </a:lnSpc>
              <a:buNone/>
            </a:pPr>
            <a:endParaRPr lang="en-US" sz="21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10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Anything else is you repeating what somebody told you.</a:t>
            </a:r>
            <a:endParaRPr lang="en-US"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1328" y="566928"/>
            <a:ext cx="1567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PART MOST ARTISTS SKIP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81328" y="2148840"/>
            <a:ext cx="156728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88"/>
              </a:lnSpc>
              <a:buNone/>
            </a:pPr>
            <a:r>
              <a:rPr lang="en-US" sz="66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Tell her </a:t>
            </a:r>
            <a:pPr indent="0" marL="0">
              <a:lnSpc>
                <a:spcPts val="7788"/>
              </a:lnSpc>
              <a:buNone/>
            </a:pPr>
            <a:r>
              <a:rPr lang="en-US" sz="6600" i="1" dirty="0">
                <a:solidFill>
                  <a:srgbClr val="F600A2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why.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1481328" y="4617720"/>
            <a:ext cx="1316516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2500" i="1" dirty="0">
                <a:solidFill>
                  <a:srgbClr val="FFFFFF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“I am cleansing first so the adhesive bonds to a clean lash. That is half your retention right there.”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481328" y="6537960"/>
            <a:ext cx="12851709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00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client who understands the why protects it at home, comes back on schedule, and tells her friends what made you different.</a:t>
            </a:r>
            <a:endParaRPr lang="en-US" sz="2000" dirty="0"/>
          </a:p>
          <a:p>
            <a:pPr indent="0" marL="0">
              <a:lnSpc>
                <a:spcPts val="3300"/>
              </a:lnSpc>
              <a:buNone/>
            </a:pPr>
            <a:endParaRPr lang="en-US" sz="2000" dirty="0"/>
          </a:p>
          <a:p>
            <a:pPr indent="0" marL="0">
              <a:lnSpc>
                <a:spcPts val="3300"/>
              </a:lnSpc>
              <a:buNone/>
            </a:pPr>
            <a:r>
              <a:rPr lang="en-US" sz="200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client who got handed a list does not.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1328" y="566928"/>
            <a:ext cx="1567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ACT THREE  ·  THE DAY-THREE MESSAGE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81328" y="1188720"/>
            <a:ext cx="156728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31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Send this on day three. Every client.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481328" y="3611880"/>
            <a:ext cx="12224796" cy="1965960"/>
          </a:xfrm>
          <a:prstGeom prst="roundRect">
            <a:avLst>
              <a:gd name="adj" fmla="val 6512"/>
            </a:avLst>
          </a:prstGeom>
          <a:solidFill>
            <a:srgbClr val="121013"/>
          </a:solidFill>
          <a:ln w="19050">
            <a:solidFill>
              <a:srgbClr val="F600A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29968" y="3931920"/>
            <a:ext cx="111275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500" i="1" dirty="0">
                <a:solidFill>
                  <a:srgbClr val="FFFFFF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“Wanted to make sure your lashes are feeling good. Text me if anything needs adjusting.”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6080760"/>
            <a:ext cx="12851709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10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 message is for her.</a:t>
            </a:r>
            <a:endParaRPr lang="en-US" sz="2100" dirty="0"/>
          </a:p>
          <a:p>
            <a:pPr indent="0" marL="0">
              <a:lnSpc>
                <a:spcPts val="3500"/>
              </a:lnSpc>
              <a:buNone/>
            </a:pPr>
            <a:endParaRPr lang="en-US" sz="21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10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“Spots are filling fast, book now” is for you. She can feel the difference instantly.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8887968"/>
            <a:ext cx="15672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i="1" dirty="0">
                <a:solidFill>
                  <a:srgbClr val="B9B3BB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You do not need fake urgency when your work is good.</a:t>
            </a:r>
            <a:endParaRPr lang="en-US" sz="17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703320"/>
            <a:ext cx="1828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600" kern="0" dirty="0">
                <a:solidFill>
                  <a:srgbClr val="B9B3B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YOU LEAVE WITH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0" y="4434840"/>
            <a:ext cx="1828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</a:t>
            </a:r>
            <a:pPr algn="ctr" indent="0" marL="0">
              <a:buNone/>
            </a:pPr>
            <a:r>
              <a:rPr lang="en-US" sz="7200" i="1" dirty="0">
                <a:solidFill>
                  <a:srgbClr val="D4AF37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Protocol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2743200" y="6263640"/>
            <a:ext cx="1280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day-three message, what to look for in her answer, and how it saves the clients you would have lost.</a:t>
            </a:r>
            <a:endParaRPr lang="en-US" sz="2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1328" y="566928"/>
            <a:ext cx="1567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 ONE HOUR YOU GOT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81328" y="1188720"/>
            <a:ext cx="156728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31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Three things you can use tomorrow.</a:t>
            </a:r>
            <a:endParaRPr lang="en-US" sz="4500" dirty="0"/>
          </a:p>
        </p:txBody>
      </p:sp>
      <p:sp>
        <p:nvSpPr>
          <p:cNvPr id="4" name="Text 2"/>
          <p:cNvSpPr txBox="1"/>
          <p:nvPr/>
        </p:nvSpPr>
        <p:spPr>
          <a:xfrm>
            <a:off x="1481328" y="39776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395728" y="3977640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Cure Check</a:t>
            </a:r>
            <a:endParaRPr lang="en-US" sz="1950" dirty="0"/>
          </a:p>
        </p:txBody>
      </p:sp>
      <p:sp>
        <p:nvSpPr>
          <p:cNvPr id="6" name="Text 4"/>
          <p:cNvSpPr txBox="1"/>
          <p:nvPr/>
        </p:nvSpPr>
        <p:spPr>
          <a:xfrm>
            <a:off x="2395728" y="4453128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Your room, read properly, for the first time</a:t>
            </a:r>
            <a:endParaRPr lang="en-US" sz="1725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51663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395728" y="5166360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Four Questions</a:t>
            </a:r>
            <a:endParaRPr lang="en-US" sz="1950" dirty="0"/>
          </a:p>
        </p:txBody>
      </p:sp>
      <p:sp>
        <p:nvSpPr>
          <p:cNvPr id="9" name="Text 7"/>
          <p:cNvSpPr txBox="1"/>
          <p:nvPr/>
        </p:nvSpPr>
        <p:spPr>
          <a:xfrm>
            <a:off x="2395728" y="5641848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Asked at intake, before you touch her</a:t>
            </a:r>
            <a:endParaRPr lang="en-US" sz="1725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6355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395728" y="6355080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Protocol</a:t>
            </a:r>
            <a:endParaRPr lang="en-US" sz="1950" dirty="0"/>
          </a:p>
        </p:txBody>
      </p:sp>
      <p:sp>
        <p:nvSpPr>
          <p:cNvPr id="12" name="Text 10"/>
          <p:cNvSpPr txBox="1"/>
          <p:nvPr/>
        </p:nvSpPr>
        <p:spPr>
          <a:xfrm>
            <a:off x="2395728" y="6830568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Aftercare that sticks and a day-three message</a:t>
            </a:r>
            <a:endParaRPr lang="en-US" sz="1725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8887968"/>
            <a:ext cx="15672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i="1" dirty="0">
                <a:solidFill>
                  <a:srgbClr val="B9B3BB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That was the free hour, and I meant every word of it.</a:t>
            </a:r>
            <a:endParaRPr lang="en-US" sz="17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1328" y="566928"/>
            <a:ext cx="1567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NOW LET ME BE HONEST WITH YOU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81328" y="2148840"/>
            <a:ext cx="156728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9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Knowing why is not</a:t>
            </a:r>
            <a:endParaRPr lang="en-US" sz="5000" dirty="0"/>
          </a:p>
          <a:p>
            <a:pPr indent="0" marL="0">
              <a:lnSpc>
                <a:spcPts val="59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same as </a:t>
            </a:r>
            <a:endParaRPr lang="en-US" sz="5000" dirty="0"/>
          </a:p>
          <a:p>
            <a:pPr indent="0" marL="0">
              <a:lnSpc>
                <a:spcPts val="5900"/>
              </a:lnSpc>
              <a:buNone/>
            </a:pPr>
            <a:r>
              <a:rPr lang="en-US" sz="5000" i="1" dirty="0">
                <a:solidFill>
                  <a:srgbClr val="F600A2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being corrected.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1481328" y="5897880"/>
            <a:ext cx="12851709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10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can leave here knowing exactly what went wrong and still do it again next Tuesday, because nobody is watching your hands.</a:t>
            </a:r>
            <a:endParaRPr lang="en-US" sz="2100" dirty="0"/>
          </a:p>
          <a:p>
            <a:pPr indent="0" marL="0">
              <a:lnSpc>
                <a:spcPts val="3500"/>
              </a:lnSpc>
              <a:buNone/>
            </a:pPr>
            <a:endParaRPr lang="en-US" sz="21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10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 is the gap. It is not information. It is correction.</a:t>
            </a:r>
            <a:endParaRPr lang="en-US" sz="2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1328" y="566928"/>
            <a:ext cx="1567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INVITATION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81328" y="2514600"/>
            <a:ext cx="156728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28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 want to invite you into the
</a:t>
            </a:r>
            <a:pPr indent="0" marL="0">
              <a:lnSpc>
                <a:spcPts val="5428"/>
              </a:lnSpc>
              <a:buNone/>
            </a:pPr>
            <a:r>
              <a:rPr lang="en-US" sz="4600" i="1" dirty="0">
                <a:solidFill>
                  <a:srgbClr val="D4AF37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Lash Mastery CEO Certification™.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1481328" y="5806440"/>
            <a:ext cx="1316516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If this is what you want for your life, type YES in the chat.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81328" y="6903720"/>
            <a:ext cx="1285170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00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details are for the yeses only. If it is not for you, no hard feelings. The hour was yours either way.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1328" y="566928"/>
            <a:ext cx="1567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WHAT YOU JUST SAID YES TO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81328" y="1188720"/>
            <a:ext cx="156728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956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Lash Mastery CEO Certification™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1481328" y="3611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EBB1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✓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121408" y="3611880"/>
            <a:ext cx="15032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Six weeks live with an RN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2121408" y="4087368"/>
            <a:ext cx="1503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session recorded. You leave corrected, not guessing</a:t>
            </a:r>
            <a:endParaRPr lang="en-US" sz="1725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47091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EBB1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2121408" y="4709160"/>
            <a:ext cx="15032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Barbicide® + Master Eyelash Specialist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121408" y="5184648"/>
            <a:ext cx="1503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Credentials clients recognize</a:t>
            </a:r>
            <a:endParaRPr lang="en-US" sz="1725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5806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EBB1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121408" y="5806440"/>
            <a:ext cx="15032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Money Maker Lash Kit, shipped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121408" y="6281928"/>
            <a:ext cx="1503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Professional product for your first 30 paying clients</a:t>
            </a:r>
            <a:endParaRPr lang="en-US" sz="1725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6903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EBB1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2121408" y="6903720"/>
            <a:ext cx="15032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Lash CEO GPT Library™ + Vendor List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2121408" y="7379208"/>
            <a:ext cx="1503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Four AI tools answering the questions that stop women cold</a:t>
            </a:r>
            <a:endParaRPr lang="en-US" sz="1725" dirty="0"/>
          </a:p>
        </p:txBody>
      </p:sp>
      <p:sp>
        <p:nvSpPr>
          <p:cNvPr id="16" name="Text 14"/>
          <p:cNvSpPr txBox="1"/>
          <p:nvPr/>
        </p:nvSpPr>
        <p:spPr>
          <a:xfrm>
            <a:off x="1481328" y="80010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EBB1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✓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2121408" y="8001000"/>
            <a:ext cx="15032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Rich Lash® Performance Guarantee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2121408" y="8476488"/>
            <a:ext cx="1503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keep working with you until your first paying client</a:t>
            </a:r>
            <a:endParaRPr lang="en-US" sz="17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1328" y="566928"/>
            <a:ext cx="1567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TIER ONE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81328" y="1143000"/>
            <a:ext cx="156728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372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Certified </a:t>
            </a:r>
            <a:pPr indent="0" marL="0">
              <a:lnSpc>
                <a:spcPts val="6372"/>
              </a:lnSpc>
              <a:buNone/>
            </a:pPr>
            <a:r>
              <a:rPr lang="en-US" sz="5400" i="1" dirty="0">
                <a:solidFill>
                  <a:srgbClr val="D4AF37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CEO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1481328" y="3246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400" kern="0" dirty="0">
                <a:solidFill>
                  <a:srgbClr val="B9B3B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START TONIGHT WITH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481328" y="36576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dirty="0">
                <a:solidFill>
                  <a:srgbClr val="F600A2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$750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50749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7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 $2,997  ·  RLU Pay™ total $3,147, no credit check</a:t>
            </a:r>
            <a:endParaRPr lang="en-US" sz="1875" dirty="0"/>
          </a:p>
        </p:txBody>
      </p:sp>
      <p:sp>
        <p:nvSpPr>
          <p:cNvPr id="7" name="Text 5"/>
          <p:cNvSpPr txBox="1"/>
          <p:nvPr/>
        </p:nvSpPr>
        <p:spPr>
          <a:xfrm>
            <a:off x="10533888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EBB1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✓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1082528" y="3383280"/>
            <a:ext cx="6071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6-week live RN-led certification</a:t>
            </a:r>
            <a:endParaRPr lang="en-US" sz="1875" dirty="0"/>
          </a:p>
        </p:txBody>
      </p:sp>
      <p:sp>
        <p:nvSpPr>
          <p:cNvPr id="9" name="Text 7"/>
          <p:cNvSpPr txBox="1"/>
          <p:nvPr/>
        </p:nvSpPr>
        <p:spPr>
          <a:xfrm>
            <a:off x="10533888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EBB1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✓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1082528" y="4169664"/>
            <a:ext cx="6071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Barbicide® + Master Eyelash Specialist Certs</a:t>
            </a:r>
            <a:endParaRPr lang="en-US" sz="1875" dirty="0"/>
          </a:p>
        </p:txBody>
      </p:sp>
      <p:sp>
        <p:nvSpPr>
          <p:cNvPr id="11" name="Text 9"/>
          <p:cNvSpPr txBox="1"/>
          <p:nvPr/>
        </p:nvSpPr>
        <p:spPr>
          <a:xfrm>
            <a:off x="10533888" y="4956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EBB1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✓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1082528" y="4956048"/>
            <a:ext cx="6071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Money Maker Lash Kit for your first 30 clients</a:t>
            </a:r>
            <a:endParaRPr lang="en-US" sz="1875" dirty="0"/>
          </a:p>
        </p:txBody>
      </p:sp>
      <p:sp>
        <p:nvSpPr>
          <p:cNvPr id="13" name="Text 11"/>
          <p:cNvSpPr txBox="1"/>
          <p:nvPr/>
        </p:nvSpPr>
        <p:spPr>
          <a:xfrm>
            <a:off x="10533888" y="5742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EBB1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✓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1082528" y="5742432"/>
            <a:ext cx="6071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Lash CEO GPT Library™ + Vendor List</a:t>
            </a:r>
            <a:endParaRPr lang="en-US" sz="1875" dirty="0"/>
          </a:p>
        </p:txBody>
      </p:sp>
      <p:sp>
        <p:nvSpPr>
          <p:cNvPr id="15" name="Text 13"/>
          <p:cNvSpPr txBox="1"/>
          <p:nvPr/>
        </p:nvSpPr>
        <p:spPr>
          <a:xfrm>
            <a:off x="10533888" y="6528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EBB1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✓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1082528" y="6528816"/>
            <a:ext cx="6071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 Guarantee · 12 months campus access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481328" y="7818120"/>
            <a:ext cx="15672816" cy="10973"/>
          </a:xfrm>
          <a:prstGeom prst="rect">
            <a:avLst/>
          </a:prstGeom>
          <a:solidFill>
            <a:srgbClr val="26202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481328" y="8092440"/>
            <a:ext cx="15672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Enroll by Thursday September 3 and your kit reaches you before Week One.</a:t>
            </a:r>
            <a:endParaRPr lang="en-US" sz="1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1328" y="566928"/>
            <a:ext cx="1567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TIER TWO  ·  MOST CHOSEN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81328" y="1143000"/>
            <a:ext cx="156728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372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Equipped </a:t>
            </a:r>
            <a:pPr indent="0" marL="0">
              <a:lnSpc>
                <a:spcPts val="6372"/>
              </a:lnSpc>
              <a:buNone/>
            </a:pPr>
            <a:r>
              <a:rPr lang="en-US" sz="5400" i="1" dirty="0">
                <a:solidFill>
                  <a:srgbClr val="D4AF37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CEO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1481328" y="3246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400" kern="0" dirty="0">
                <a:solidFill>
                  <a:srgbClr val="B9B3B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START TONIGHT WITH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481328" y="365760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dirty="0">
                <a:solidFill>
                  <a:srgbClr val="F600A2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$1,200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50749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7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 $3,997  ·  RLU Pay™ total $4,147, no credit check</a:t>
            </a:r>
            <a:endParaRPr lang="en-US" sz="1875" dirty="0"/>
          </a:p>
        </p:txBody>
      </p:sp>
      <p:sp>
        <p:nvSpPr>
          <p:cNvPr id="7" name="Text 5"/>
          <p:cNvSpPr txBox="1"/>
          <p:nvPr/>
        </p:nvSpPr>
        <p:spPr>
          <a:xfrm>
            <a:off x="10533888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EBB1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✓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1082528" y="3246120"/>
            <a:ext cx="6071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Everything in Certified CEO, kit included</a:t>
            </a:r>
            <a:endParaRPr lang="en-US" sz="1875" dirty="0"/>
          </a:p>
        </p:txBody>
      </p:sp>
      <p:sp>
        <p:nvSpPr>
          <p:cNvPr id="9" name="Text 7"/>
          <p:cNvSpPr txBox="1"/>
          <p:nvPr/>
        </p:nvSpPr>
        <p:spPr>
          <a:xfrm>
            <a:off x="10533888" y="4014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EBB1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✓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1082528" y="4014216"/>
            <a:ext cx="6071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Complete Professional Studio, shipped to your door</a:t>
            </a:r>
            <a:endParaRPr lang="en-US" sz="1875" dirty="0"/>
          </a:p>
        </p:txBody>
      </p:sp>
      <p:sp>
        <p:nvSpPr>
          <p:cNvPr id="11" name="Text 9"/>
          <p:cNvSpPr txBox="1"/>
          <p:nvPr/>
        </p:nvSpPr>
        <p:spPr>
          <a:xfrm>
            <a:off x="10533888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EBB1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✓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1082528" y="4782312"/>
            <a:ext cx="6071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Shadow Labs · live correction on your real hands</a:t>
            </a:r>
            <a:endParaRPr lang="en-US" sz="1875" dirty="0"/>
          </a:p>
        </p:txBody>
      </p:sp>
      <p:sp>
        <p:nvSpPr>
          <p:cNvPr id="13" name="Text 11"/>
          <p:cNvSpPr txBox="1"/>
          <p:nvPr/>
        </p:nvSpPr>
        <p:spPr>
          <a:xfrm>
            <a:off x="10533888" y="5550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EBB1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✓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1082528" y="5550408"/>
            <a:ext cx="6071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Private 1:1 Strategy Sessions with Destyni</a:t>
            </a:r>
            <a:endParaRPr lang="en-US" sz="1875" dirty="0"/>
          </a:p>
        </p:txBody>
      </p:sp>
      <p:sp>
        <p:nvSpPr>
          <p:cNvPr id="15" name="Text 13"/>
          <p:cNvSpPr txBox="1"/>
          <p:nvPr/>
        </p:nvSpPr>
        <p:spPr>
          <a:xfrm>
            <a:off x="10533888" y="6318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EBB1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✓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1082528" y="6318504"/>
            <a:ext cx="6071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Lash Cash Q4 included · a $997 program</a:t>
            </a:r>
            <a:endParaRPr lang="en-US" sz="1875" dirty="0"/>
          </a:p>
        </p:txBody>
      </p:sp>
      <p:sp>
        <p:nvSpPr>
          <p:cNvPr id="17" name="Text 15"/>
          <p:cNvSpPr txBox="1"/>
          <p:nvPr/>
        </p:nvSpPr>
        <p:spPr>
          <a:xfrm>
            <a:off x="10533888" y="7086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EBB1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✓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1082528" y="7086600"/>
            <a:ext cx="6071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 months of campus and curriculum access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481328" y="7818120"/>
            <a:ext cx="15672816" cy="10973"/>
          </a:xfrm>
          <a:prstGeom prst="rect">
            <a:avLst/>
          </a:prstGeom>
          <a:solidFill>
            <a:srgbClr val="26202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481328" y="8092440"/>
            <a:ext cx="15672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D4AF37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You do not start experimenting. You start equipped.</a:t>
            </a:r>
            <a:endParaRPr lang="en-US" sz="2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1328" y="566928"/>
            <a:ext cx="1567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RLU PAY™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81328" y="1143000"/>
            <a:ext cx="156728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31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Pick your tier. Pick your pace.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481328" y="3520440"/>
            <a:ext cx="7379208" cy="3977640"/>
          </a:xfrm>
          <a:prstGeom prst="roundRect">
            <a:avLst>
              <a:gd name="adj" fmla="val 3218"/>
            </a:avLst>
          </a:prstGeom>
          <a:solidFill>
            <a:srgbClr val="121013"/>
          </a:solidFill>
          <a:ln w="12700">
            <a:solidFill>
              <a:srgbClr val="2620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29968" y="3840480"/>
            <a:ext cx="6281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4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CERTIFIED CEO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029968" y="4297680"/>
            <a:ext cx="6281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$750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2029968" y="5285232"/>
            <a:ext cx="6281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deposit tonight</a:t>
            </a:r>
            <a:endParaRPr lang="en-US" sz="1725" dirty="0"/>
          </a:p>
        </p:txBody>
      </p:sp>
      <p:sp>
        <p:nvSpPr>
          <p:cNvPr id="8" name="Text 6"/>
          <p:cNvSpPr txBox="1"/>
          <p:nvPr/>
        </p:nvSpPr>
        <p:spPr>
          <a:xfrm>
            <a:off x="2029968" y="5806440"/>
            <a:ext cx="6281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· $400 × 3, then $399 × 3</a:t>
            </a:r>
            <a:endParaRPr lang="en-US" sz="1875" dirty="0"/>
          </a:p>
        </p:txBody>
      </p:sp>
      <p:sp>
        <p:nvSpPr>
          <p:cNvPr id="9" name="Text 7"/>
          <p:cNvSpPr txBox="1"/>
          <p:nvPr/>
        </p:nvSpPr>
        <p:spPr>
          <a:xfrm>
            <a:off x="2029968" y="6318504"/>
            <a:ext cx="6281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Biweekly · 3 payments of $799</a:t>
            </a:r>
            <a:endParaRPr lang="en-US" sz="1875" dirty="0"/>
          </a:p>
        </p:txBody>
      </p:sp>
      <p:sp>
        <p:nvSpPr>
          <p:cNvPr id="10" name="Text 8"/>
          <p:cNvSpPr txBox="1"/>
          <p:nvPr/>
        </p:nvSpPr>
        <p:spPr>
          <a:xfrm>
            <a:off x="2029968" y="6830568"/>
            <a:ext cx="6281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 payments · $1,198.50 each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9409176" y="3520440"/>
            <a:ext cx="7379208" cy="3977640"/>
          </a:xfrm>
          <a:prstGeom prst="roundRect">
            <a:avLst>
              <a:gd name="adj" fmla="val 3218"/>
            </a:avLst>
          </a:prstGeom>
          <a:solidFill>
            <a:srgbClr val="121013"/>
          </a:solidFill>
          <a:ln w="19050">
            <a:solidFill>
              <a:srgbClr val="F600A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957816" y="3840480"/>
            <a:ext cx="6281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400" kern="0" dirty="0">
                <a:solidFill>
                  <a:srgbClr val="F600A2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EQUIPPED CEO · MOST CHOSEN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957816" y="4297680"/>
            <a:ext cx="6281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$1,200</a:t>
            </a:r>
            <a:endParaRPr lang="en-US" sz="5200" dirty="0"/>
          </a:p>
        </p:txBody>
      </p:sp>
      <p:sp>
        <p:nvSpPr>
          <p:cNvPr id="14" name="Text 12"/>
          <p:cNvSpPr txBox="1"/>
          <p:nvPr/>
        </p:nvSpPr>
        <p:spPr>
          <a:xfrm>
            <a:off x="9957816" y="5285232"/>
            <a:ext cx="6281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deposit tonight</a:t>
            </a:r>
            <a:endParaRPr lang="en-US" sz="1725" dirty="0"/>
          </a:p>
        </p:txBody>
      </p:sp>
      <p:sp>
        <p:nvSpPr>
          <p:cNvPr id="15" name="Text 13"/>
          <p:cNvSpPr txBox="1"/>
          <p:nvPr/>
        </p:nvSpPr>
        <p:spPr>
          <a:xfrm>
            <a:off x="9957816" y="5806440"/>
            <a:ext cx="6281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· $491 × 6</a:t>
            </a:r>
            <a:endParaRPr lang="en-US" sz="1875" dirty="0"/>
          </a:p>
        </p:txBody>
      </p:sp>
      <p:sp>
        <p:nvSpPr>
          <p:cNvPr id="16" name="Text 14"/>
          <p:cNvSpPr txBox="1"/>
          <p:nvPr/>
        </p:nvSpPr>
        <p:spPr>
          <a:xfrm>
            <a:off x="9957816" y="6318504"/>
            <a:ext cx="6281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Biweekly · 3 payments of $982.33</a:t>
            </a:r>
            <a:endParaRPr lang="en-US" sz="1875" dirty="0"/>
          </a:p>
        </p:txBody>
      </p:sp>
      <p:sp>
        <p:nvSpPr>
          <p:cNvPr id="17" name="Text 15"/>
          <p:cNvSpPr txBox="1"/>
          <p:nvPr/>
        </p:nvSpPr>
        <p:spPr>
          <a:xfrm>
            <a:off x="9957816" y="6830568"/>
            <a:ext cx="6281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 payments · $1,473.50 each</a:t>
            </a:r>
            <a:endParaRPr lang="en-US" sz="1875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8001000"/>
            <a:ext cx="15672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credit check  ·  No lender  ·  No interest.  Or pay in full with Shop Pay, Affirm or Sezzle.</a:t>
            </a:r>
            <a:endParaRPr lang="en-US" sz="1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1328" y="566928"/>
            <a:ext cx="1567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RICH LASH® PERFORMANCE GUARANTEE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81328" y="1691640"/>
            <a:ext cx="156728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28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real fear is betting on</a:t>
            </a:r>
            <a:endParaRPr lang="en-US" sz="4600" dirty="0"/>
          </a:p>
          <a:p>
            <a:pPr indent="0" marL="0">
              <a:lnSpc>
                <a:spcPts val="5428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yourself and </a:t>
            </a:r>
            <a:endParaRPr lang="en-US" sz="4600" dirty="0"/>
          </a:p>
          <a:p>
            <a:pPr indent="0" marL="0">
              <a:lnSpc>
                <a:spcPts val="5428"/>
              </a:lnSpc>
              <a:buNone/>
            </a:pPr>
            <a:r>
              <a:rPr lang="en-US" sz="4600" i="1" dirty="0">
                <a:solidFill>
                  <a:srgbClr val="F600A2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it not working.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1481328" y="4617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395728" y="4617720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Complete the curriculum</a:t>
            </a:r>
            <a:endParaRPr lang="en-US" sz="1950" dirty="0"/>
          </a:p>
        </p:txBody>
      </p:sp>
      <p:sp>
        <p:nvSpPr>
          <p:cNvPr id="6" name="Text 4"/>
          <p:cNvSpPr txBox="1"/>
          <p:nvPr/>
        </p:nvSpPr>
        <p:spPr>
          <a:xfrm>
            <a:off x="2395728" y="5093208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 the six weeks</a:t>
            </a:r>
            <a:endParaRPr lang="en-US" sz="1725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5806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395728" y="5806440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Show up to your live sessions</a:t>
            </a:r>
            <a:endParaRPr lang="en-US" sz="1950" dirty="0"/>
          </a:p>
        </p:txBody>
      </p:sp>
      <p:sp>
        <p:nvSpPr>
          <p:cNvPr id="9" name="Text 7"/>
          <p:cNvSpPr txBox="1"/>
          <p:nvPr/>
        </p:nvSpPr>
        <p:spPr>
          <a:xfrm>
            <a:off x="2395728" y="6281928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 in the room</a:t>
            </a:r>
            <a:endParaRPr lang="en-US" sz="1725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69951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395728" y="6995160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Run the client strategy we give you</a:t>
            </a:r>
            <a:endParaRPr lang="en-US" sz="1950" dirty="0"/>
          </a:p>
        </p:txBody>
      </p:sp>
      <p:sp>
        <p:nvSpPr>
          <p:cNvPr id="12" name="Text 10"/>
          <p:cNvSpPr txBox="1"/>
          <p:nvPr/>
        </p:nvSpPr>
        <p:spPr>
          <a:xfrm>
            <a:off x="2395728" y="7470648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 what we hand you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1481328" y="7909560"/>
            <a:ext cx="15672816" cy="10973"/>
          </a:xfrm>
          <a:prstGeom prst="rect">
            <a:avLst/>
          </a:prstGeom>
          <a:solidFill>
            <a:srgbClr val="26202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481328" y="8183880"/>
            <a:ext cx="15672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Still no first paying client after that? We keep working with you until you land her.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1328" y="566928"/>
            <a:ext cx="1567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REAL TALK  ·  I KNOW WHAT IS IN YOUR HEAD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81328" y="1143000"/>
            <a:ext cx="156728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956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Let me answer it before you close the tab.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1481328" y="3611880"/>
            <a:ext cx="15672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FFFFFF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“It is virtual. Will I really learn?”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>
            <a:off x="1481328" y="4178808"/>
            <a:ext cx="134786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7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More live coaching than any one-day class. Every session recorded. Your real work corrected by an RN, on camera.</a:t>
            </a:r>
            <a:endParaRPr lang="en-US" sz="1875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5367528"/>
            <a:ext cx="15672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FFFFFF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“It is still a real investment.”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5934456"/>
            <a:ext cx="134786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7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certification, six weeks of coaching, the kit, the AI library, and a guarantee. If full pay is a stretch, that is what the deposit is for.</a:t>
            </a:r>
            <a:endParaRPr lang="en-US" sz="1875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7123176"/>
            <a:ext cx="15672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FFFFFF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“I could find something cheaper.”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1481328" y="7690104"/>
            <a:ext cx="134786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7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could. Pre-recorded videos and nobody watching your hands. Cheap teaches you to lash. This builds you a business.</a:t>
            </a:r>
            <a:endParaRPr lang="en-US" sz="1875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8887968"/>
            <a:ext cx="15672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i="1" dirty="0">
                <a:solidFill>
                  <a:srgbClr val="B9B3BB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My best graduates had all three of those thoughts. They came anyway.</a:t>
            </a:r>
            <a:endParaRPr lang="en-US" sz="17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1328" y="566928"/>
            <a:ext cx="1567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THE WINDOW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81328" y="1143000"/>
            <a:ext cx="156728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31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Here is exactly what happens next.</a:t>
            </a:r>
            <a:endParaRPr lang="en-US" sz="4500" dirty="0"/>
          </a:p>
        </p:txBody>
      </p:sp>
      <p:sp>
        <p:nvSpPr>
          <p:cNvPr id="4" name="Text 2"/>
          <p:cNvSpPr txBox="1"/>
          <p:nvPr/>
        </p:nvSpPr>
        <p:spPr>
          <a:xfrm>
            <a:off x="1481328" y="3657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395728" y="3657600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You are in</a:t>
            </a:r>
            <a:endParaRPr lang="en-US" sz="1950" dirty="0"/>
          </a:p>
        </p:txBody>
      </p:sp>
      <p:sp>
        <p:nvSpPr>
          <p:cNvPr id="6" name="Text 4"/>
          <p:cNvSpPr txBox="1"/>
          <p:nvPr/>
        </p:nvSpPr>
        <p:spPr>
          <a:xfrm>
            <a:off x="2395728" y="4133088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Your seat locks tonight. An acceptance letter, not silence.</a:t>
            </a:r>
            <a:endParaRPr lang="en-US" sz="1725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4846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395728" y="4846320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You get set up</a:t>
            </a:r>
            <a:endParaRPr lang="en-US" sz="1950" dirty="0"/>
          </a:p>
        </p:txBody>
      </p:sp>
      <p:sp>
        <p:nvSpPr>
          <p:cNvPr id="9" name="Text 7"/>
          <p:cNvSpPr txBox="1"/>
          <p:nvPr/>
        </p:nvSpPr>
        <p:spPr>
          <a:xfrm>
            <a:off x="2395728" y="5321808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Campus opens. Kit ships. Equipped CEOs, the studio ships too.</a:t>
            </a:r>
            <a:endParaRPr lang="en-US" sz="1725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6035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395728" y="6035040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We begin Monday September 7</a:t>
            </a:r>
            <a:endParaRPr lang="en-US" sz="1950" dirty="0"/>
          </a:p>
        </p:txBody>
      </p:sp>
      <p:sp>
        <p:nvSpPr>
          <p:cNvPr id="12" name="Text 10"/>
          <p:cNvSpPr txBox="1"/>
          <p:nvPr/>
        </p:nvSpPr>
        <p:spPr>
          <a:xfrm>
            <a:off x="2395728" y="6510528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Six weeks of live coaching with an RN correcting your work.</a:t>
            </a:r>
            <a:endParaRPr lang="en-US" sz="1725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72237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04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395728" y="7223760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You launch</a:t>
            </a:r>
            <a:endParaRPr lang="en-US" sz="1950" dirty="0"/>
          </a:p>
        </p:txBody>
      </p:sp>
      <p:sp>
        <p:nvSpPr>
          <p:cNvPr id="15" name="Text 13"/>
          <p:cNvSpPr txBox="1"/>
          <p:nvPr/>
        </p:nvSpPr>
        <p:spPr>
          <a:xfrm>
            <a:off x="2395728" y="7699248"/>
            <a:ext cx="1475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Certified, equipped, first clients, guarantee behind you.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481328" y="8321040"/>
            <a:ext cx="15672816" cy="10973"/>
          </a:xfrm>
          <a:prstGeom prst="rect">
            <a:avLst/>
          </a:prstGeom>
          <a:solidFill>
            <a:srgbClr val="26202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481328" y="8595360"/>
            <a:ext cx="15672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600A2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Kit cutoff Thursday September 3  ·  Doors close Sunday September 6  ·  4 seats left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1328" y="566928"/>
            <a:ext cx="1567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ONE MORE TIME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81328" y="2926080"/>
            <a:ext cx="156728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136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Who are you doing this for?
</a:t>
            </a:r>
            <a:pPr indent="0" marL="0">
              <a:lnSpc>
                <a:spcPts val="6136"/>
              </a:lnSpc>
              <a:buNone/>
            </a:pPr>
            <a:r>
              <a:rPr lang="en-US" sz="5200" i="1" dirty="0">
                <a:solidFill>
                  <a:srgbClr val="F600A2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Type the name in the chat.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1481328" y="6263640"/>
            <a:ext cx="1253825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10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Just the name.</a:t>
            </a:r>
            <a:endParaRPr lang="en-US" sz="2100" dirty="0"/>
          </a:p>
          <a:p>
            <a:pPr indent="0" marL="0">
              <a:lnSpc>
                <a:spcPts val="3500"/>
              </a:lnSpc>
              <a:buNone/>
            </a:pPr>
            <a:endParaRPr lang="en-US" sz="21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100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 name is not asking you to feel ready. That name is waiting on you to decide.</a:t>
            </a:r>
            <a:endParaRPr lang="en-US" sz="2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1328" y="566928"/>
            <a:ext cx="1567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NINE O’CLOCK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81328" y="1965960"/>
            <a:ext cx="156728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192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General Admission leaves with notes.
</a:t>
            </a:r>
            <a:pPr indent="0" marL="0">
              <a:lnSpc>
                <a:spcPts val="5192"/>
              </a:lnSpc>
              <a:buNone/>
            </a:pPr>
            <a:r>
              <a:rPr lang="en-US" sz="4400" i="1" dirty="0">
                <a:solidFill>
                  <a:srgbClr val="D4AF37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The Campus stays in the room.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1481328" y="4892040"/>
            <a:ext cx="12538253" cy="2514600"/>
          </a:xfrm>
          <a:prstGeom prst="roundRect">
            <a:avLst>
              <a:gd name="adj" fmla="val 5091"/>
            </a:avLst>
          </a:prstGeom>
          <a:solidFill>
            <a:srgbClr val="0D160B"/>
          </a:solidFill>
          <a:ln w="19050">
            <a:solidFill>
              <a:srgbClr val="39841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21408" y="5212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400" kern="0" dirty="0">
                <a:solidFill>
                  <a:srgbClr val="7FD31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STAY UNTIL 9:45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121408" y="5715000"/>
            <a:ext cx="1125809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Pull up a set that did not last and we work out what happened to yours, on the screen, together.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7818120"/>
            <a:ext cx="15672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600A2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Nine dollars.  Less than the adhesive you are going to throw out this month.</a:t>
            </a:r>
            <a:endParaRPr lang="en-US" sz="2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965960"/>
            <a:ext cx="1828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6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 I C H   L A S H ®   U N I V E R S I T Y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0" y="2926080"/>
            <a:ext cx="1828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Your seat is open.
</a:t>
            </a:r>
            <a:pPr algn="ctr" indent="0" marL="0">
              <a:lnSpc>
                <a:spcPts val="7000"/>
              </a:lnSpc>
              <a:buNone/>
            </a:pPr>
            <a:r>
              <a:rPr lang="en-US" sz="6000" i="1" dirty="0">
                <a:solidFill>
                  <a:srgbClr val="F600A2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The next move is yours.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0" y="5440680"/>
            <a:ext cx="1828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richlash.university/pages/enroll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0" y="6355080"/>
            <a:ext cx="1828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Certified CEO $2,997 or $750 down   ·   Equipped CEO $3,997 or $1,200 down</a:t>
            </a:r>
            <a:endParaRPr lang="en-US" sz="1950" dirty="0"/>
          </a:p>
        </p:txBody>
      </p:sp>
      <p:sp>
        <p:nvSpPr>
          <p:cNvPr id="6" name="Text 4"/>
          <p:cNvSpPr txBox="1"/>
          <p:nvPr/>
        </p:nvSpPr>
        <p:spPr>
          <a:xfrm>
            <a:off x="0" y="6949440"/>
            <a:ext cx="1828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5" dirty="0">
                <a:solidFill>
                  <a:srgbClr val="B9B3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Cohort begins Monday September 7  ·  Kit cutoff Thursday the 3rd  ·  Doors close Sunday the 6th</a:t>
            </a:r>
            <a:endParaRPr lang="en-US" sz="1875" dirty="0"/>
          </a:p>
        </p:txBody>
      </p:sp>
      <p:sp>
        <p:nvSpPr>
          <p:cNvPr id="7" name="Text 5"/>
          <p:cNvSpPr txBox="1"/>
          <p:nvPr/>
        </p:nvSpPr>
        <p:spPr>
          <a:xfrm>
            <a:off x="0" y="7635240"/>
            <a:ext cx="1828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i="1" dirty="0">
                <a:solidFill>
                  <a:srgbClr val="4EBB19"/>
                </a:solidFill>
                <a:latin typeface="Poppins Italics" pitchFamily="34" charset="0"/>
                <a:ea typeface="Poppins Italics" pitchFamily="34" charset="-122"/>
                <a:cs typeface="Poppins Italics" pitchFamily="34" charset="-120"/>
              </a:rPr>
              <a:t>Campus: stay on at nine. We look at your sets together.</a:t>
            </a:r>
            <a:endParaRPr lang="en-US" sz="1950" dirty="0"/>
          </a:p>
        </p:txBody>
      </p:sp>
      <p:sp>
        <p:nvSpPr>
          <p:cNvPr id="8" name="Text 6"/>
          <p:cNvSpPr txBox="1"/>
          <p:nvPr/>
        </p:nvSpPr>
        <p:spPr>
          <a:xfrm>
            <a:off x="0" y="8732520"/>
            <a:ext cx="1828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spc="300" kern="0" dirty="0">
                <a:solidFill>
                  <a:srgbClr val="D4AF37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Faith first. Work daily. Watch it come.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Retention Room</dc:title>
  <dc:subject>PptxGenJS Presentation</dc:subject>
  <dc:creator>Destyni Triplett, RN</dc:creator>
  <cp:lastModifiedBy>Destyni Triplett, RN</cp:lastModifiedBy>
  <cp:revision>1</cp:revision>
  <dcterms:created xsi:type="dcterms:W3CDTF">2026-09-01T22:44:26Z</dcterms:created>
  <dcterms:modified xsi:type="dcterms:W3CDTF">2026-09-01T22:44:26Z</dcterms:modified>
</cp:coreProperties>
</file>