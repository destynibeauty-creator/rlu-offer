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THE OPEN  |  THE RETENTION ROOM
[8:00 to 8:03. Camera on. Music down. Do NOT teach yet. Smile and let the room fill. Watch the attendee count climb. Greet people by name as they come in and keep greeting until you see the number stop moving. This is the warm-up, nothing else.]
SAY: "Hey y'all. Hey. Give me one second, let everybody get in the room. Hey Tierra. Hey Andrea, I see you. [Keep reading names as they land.] Y'all come on in, get comfortable, get your notebook. If you got your adhesive near you, go grab it right now, because you are going to need it in about ten minutes. Grab it now so you are not running through the house later. [Wait. Watch the count.] Alright. If you can hear me and see me, drop a heart in the chat so I know my audio is good. [Wait for hearts.] Perfect. Let's get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THE OPEN  |  ONE HOUR. THREE ACTS.
[8:03. Set the frame fast, then get them typing inside the first ninety seconds. A room that types early stays. Read at least five cities out loud by name.]
SAY: "Here is what the next hour looks like. Three acts. Act one is the chemistry, which is why your sets are not lasting. Act two is the consultation, and I am going to prove to you that retention is decided before you ever pick up a tweezer. Act three is the rebooking, because a set that lasts is a client who comes back, and that is where the money actually is. [Beat.] Now before I go one sentence further, I want to know who is in this room with me. Type your city in the chat. Just your city. [STOP. Wait. Read five or six out loud by name.] Atlanta. Houston. Detroit. Y'all everywhere tonight. Okay, I love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MY STORY  |  WHO YOU ARE LEARNING FROM
[Slow all the way down. This is the trust slide. Do not perform it, tell it. Look straight into the camera. This whole story block is four slides and it should take you five minutes, no more. Quick, but real.]
SAY: "Before I teach you one thing tonight, you should know who is teaching you. My name is Destyni Triplett. I am a Registered Nurse. I have been lashing since 2017, so that is nine years, and I have been teaching women how to do this since 2019. Over a thousand clients in my chair. More than 250 women trained. [Beat.] I am telling you that not to impress you. I am telling you so that when I say something tonight that goes against what somebody else taught you, you know where it is coming from. It is not coming from a caption I read. It is coming from nine years and a nursing license."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MY STORY  |  THE NURSE PART
[Say this one plainly, no hype in your voice. This is the credential slide and the credential does the work by itself. Do not oversell it.]
SAY: "Now here is the part that actually matters to you tonight. I did not learn chemistry from a lash class. I learned it in nursing school. [Beat.] Most educators will teach you a routine. Do this, then this, then this, and they hope it works in your room. But nobody explains the reaction to you. Nobody tells you what is actually happening between that adhesive and that lash, so the second something goes wrong you have no idea where to look. You just start blaming your hands. [Beat.] I can teach you the reaction. That is the whole difference in this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MY STORY  |  WHERE IT STARTED
[Point at the screen as you go left to right. Keep it moving, about sixty seconds total. The point of this slide is not the rooms, it is that she can start where she is.]
SAY: "And I want you to see something, because I know some of y'all are watching me right now thinking she must have had something I do not have. [Point at the first photo.] That is where I started. A spare room, a folding table, a rug I bought to make it look like something. That was it. [Next.] That one was at twenty-one. [Next.] That one came after. [Last one.] And that is the Luxe Lash Room. [Beat.] Nine years between the first picture and the last one. Same hands. The room only changed because the work got better. So if you are sitting in a spare bedroom tonight feeling embarrassed about it, do not. I have been you. That is not the thing that is stopping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MY STORY  |  MY OWN WORK
[Short. Twenty seconds. Do not linger on your own work, this is proof, not a portfolio review. Then move straight into the pain.]
SAY: "And everything I am about to teach you tonight is something I do on a real face, in a real chair, on a real client who is paying me. My sets last three weeks. Some of my clients tell me a month. [Beat.] That is not a flex. That is the standard I want for you, and it is completely reachable, because retention is not talent. I am about to prove that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MY STORY  |  WHAT THEY SAY
[Read one line of one review out loud, the part about coming back every two weeks. Do not read both. Then turn hard into the pain slide. The tone change from here should be noticeable.]
SAY: "Read what this one says. I am a regular customer who comes every two weeks. Every time I come my lash extensions are always done with exceptional customer service. [Beat.] Every two weeks. For a year. That is what retention looks like when it is working, and I want you to notice it is not a compliment about how pretty the set was. It is a woman who kept coming back. [Beat. Change your tone here.] Okay. So let me tell you why I really pulled y'all in here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ACT ONE · THE PAIN  |  DAY NINE
[This is the emotional hook of the whole night. Slow way down. Long pauses. Do not rush to the fix. After you say it, ASK them and then STOP and wait for the chat to fill.]
SAY: "It is day nine. You are doing something else, you are with a client, you are at your regular job, you are cooking. And your phone goes off. [Beat.] And it is her. And it is a picture. And you already know what the picture is before you even open it. [Beat.] Half the set is gone. And the message underneath it starts with hey, so. [Long pause.] And your whole stomach drops. Because you were proud of that set. You posted that set. [Beat.] Tell me right now in the chat if that has happened to you. Just type yes. [STOP. Wait. Let the yeses stack up. Read six or seven names out loud.] Yeah. Okay. So it is not just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ACT ONE · THE COST  |  WHAT IT ACTUALLY COSTS YOU
[Quiet voice. Almost gentle. This is the slide where women feel seen, so do not sell here, just describe. End on the kicker line and let it sit for a full three seconds before you click.]
SAY: "And here is the part nobody talks about. You apologise. You tell her come back, I will fix it, no charge. And you spend two more hours and your own product on a set you already got paid for one time. And you tell her it is no trouble. [Beat.] And then you stop posting your work. Not on purpose. You do not sit down and decide to stop posting. You just stop, because you are not sure it is going to last and you cannot go through that conversation one more time. [Beat.] So you do not raise your price. You do not ask her for the referral. You take the client who books cheap because at least she will not complain. [Long pause.] You get smaller, one apology at a time. And I hate that for you, because I do not think you are bad at lashing. I think nobody ever explained the chemistry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ACT ONE · THE THESIS  |  BAD RETENTION IS NOT A TALENT PROBLEM
[This is the thesis of the entire night. Say it twice, word for word, and let the second one land in silence. If they only remember one sentence from tonight, it needs to be this one.]
SAY: "So let me say this as plain as I know how to say it. Bad retention is not a talent problem. It is a chemistry problem. [Long pause.] Say it with me. Bad retention is not a talent problem. It is a chemistry problem. [Beat.] And you cannot troubleshoot chemistry from memory. You cannot guess your way through a chemical reaction. Which is exactly what most of y'all have been doing, because that is what you were taught."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ACT ONE  |  THE CHEMISTRY
[Transition card. Two seconds. Say the act name and click straight through. Do not linger on section cards, they kill momentum.]
SAY: "Act one. The chemistry."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ACT ONE · THE MECHANISM  |  IT IS NOT DRYING. IT IS CURING.
[Teaching voice now, not story voice. Sit up. This is the single most useful fact of the night and most of the room has never heard it said correctly. Say the word cyanoacrylate slowly and let them write it down.]
SAY: "Okay. Here is the thing nobody told you. Your adhesive is not drying. It is curing. [Beat.] Those are two completely different things. Drying is when water evaporates out of something, like paint. Curing is a chemical reaction. Your adhesive is cyanoacrylate, and cyanoacrylate cures by pulling moisture out of the air. Out of the air. [Beat.] So read that back to me. If the reaction needs moisture from the air, and the air in your room changes every single day, then what happens to your bond? [Beat. Let them get there.] Right. It changes too. Which means your room is part of your kit. Your room is a tool, same as your tweezers, and most of y'all have never once measured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ACT ONE · PARTICIPATION  |  PICK UP YOUR BOTTLE
[STOP TEACHING. This is the participation beat and it is the most important sixty seconds of engagement in the whole hour. Wait for the chat. Read at least five brands out loud by name. When somebody types NONE, say her name warmly and say the line about being in the right room. Do not skip this slide to save time.]
SAY: "Alright, I want you to do something with me right now. Reach over and pick up your adhesive. Physically pick it up. [Beat.] Now type the brand and the name in the chat. It is written on the bottle. [STOP. Wait. Do not fill the silence. Let the chat move.] Okay, I see Lash Bomb. I see Sky S plus. Nicole, I see you. Somebody said Glue Magnet. [Keep reading names.] And listen, if you do not have adhesive yet, if you have not bought anything yet, type NONE and do not feel one way about it. [Warmly, by name.] I see you. You are in the right room. You are actually in the best position, because you are about to buy your first bottle already knowing what most people never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ACT ONE · THE CURE CHECK  |  THREE STATES
[This is takeaway number one, so slow down and make them write. Say WRITE THIS DOWN out loud. Walk the three cards left to right and give a real symptom for each so she can self-diagnose while you are still talking.]
SAY: "Write this down, because this is the first thing you are leaving with tonight. I call it the Cure Check. Your room is always in one of three states. [Point.] Too dry. The reaction does not have enough moisture to finish, so it under-cures. It stays a little tacky, it feels fine when she walks out, and it sheds within a few days. That is the one that gets blamed on your hands the most. [Point.] In range. Strong bond, still flexible. That is the whole goal. [Point.] Too humid. Now it is the opposite problem. It shock-cures, it goes off too fast, you get blooming, that white cast, and the bond turns brittle and falls out early. [Beat.] Same glue. Same artist. Two different rooms. Completely different retention. So if you took a class with somebody in Arizona and you are lashing in Georgia in August, that is not the same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ACT ONE · MYTH ONE  |  THERE IS NO UNIVERSAL HUMIDITY RULE
[Expect the chat to blow up here. Pause and LET them react before you move. Ask who was taught the 40 to 70 rule and wait. This is the slide that makes people trust you, because you just contradicted their last educator and told them why.]
SAY: "Now this is where I lose friends. [Beat.] There is no universal humidity rule. Forty to seventy percent. Seventy to seventy-two degrees. Whoever handed you those numbers handed you somebody else's adhesive. [Beat.] Type in the chat if you were taught forty to seventy. [STOP. Wait for it. Read the names.] Yeah. Everybody. Because it gets repeated in every class, and nobody ever says where it came from. [Beat.] Those numbers are product-dependent. Your manufacturer publishes a range for your specific bottle, and that is the only range that matters to you. So here is what you do. Get a hygrometer. They are about twelve dollars. Find your adhesive's actual range. And then read your own air, in your own room, on the day you are working. That is it. That is the whole fix, and it costs twelve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ACT ONE · THE OIL  |  SHE WAS TELLING THE TRUTH
[This is the relief slide. Watch the chat go quiet and then go crazy. Deliver the meibomian gland fact simply, no medical showing off, then land hard on the last line because that is the one that takes the guilt off her.]
SAY: "Okay. Now I want to take something off of you. [Beat.] You have had the client who swore up and down she was not using oil. And you thought she was lying. [Beat.] She was telling you the truth. There are glands that run right along the edge of her eyelid, right at the lash line, and their whole job is to release oil to keep her eye from drying out. That is her body working correctly. And that same oil is sitting on your bond, dissolving it a little bit every single day, whether she ever touches a product or not. [Beat.] So an oily client is going to shed faster than a dry client. Every time. No matter how clean your application was. [Long pause.] That is not you falling short. That is her chemistry. And starting tonight, you can explain it to her instead of apologising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ACT ONE · THE ORDER  |  DO NOT START WITH YOUR HANDS
[Count them off on your fingers on camera. Then stop on the kicker and ask them to type which number they normally start at. Most will say five. Read a few out loud and say the line back to them.]
SAY: "So when your retention drops, here is the order you check things in. One, your environment. Two, how old your adhesive is and how old that drop on your tile is. Three, her aftercare. Four, your isolation. Five, your attachment. [Beat.] Now look at that list again. Your hands are number four and number five. They are last. [Beat.] Type in the chat, which number do you normally start at when a set does not last? [STOP. Wait.] Five. Five. Five. Everybody is saying five. [Beat.] Exactly. Every one of you starts at the bottom of the list, which is why you have spent years thinking you were bad at this. You have been troubleshooting backwards."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ACT ONE · TAKEAWAY  |  THE CURE CHECK
[Fast. Fifteen seconds. Name the takeaway, tell them to circle it in their notes, click on. Momentum.]
SAY: "That is takeaway number one, and I want you to circle it. The Cure Check. The three conditions in your room that decide how long her set lasts. You already know how to lash. Now you know what your room is doing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ACT TWO  |  THE CONSULTATION
[Transition card. Two seconds. Check the clock here. You should be at roughly 8:28. If you are past 8:33, tighten act two.]
SAY: "Act two. The consultation. And this is the one I think is going to surprise y'all the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ACT TWO · TAKEAWAY  |  THE FOUR QUESTIONS
[This is takeaway number two. Say each question the way you would actually say it in the chair, in your normal client voice, then flip and tell them what the answer means. Tell them to write all four down word for word.]
SAY: "Four questions. Write these down word for word, because you are going to use them on your next client. [One.] What are you putting on your face at night? Because retinol, night oils, heavy moisturiser, all of it migrates up to that lash line while she is sleeping. Skincare is the number one silent bond-killer and nobody asks about it. [Two.] How does the water hit your face in the shower? Because a woman who stands under hot water face-first every morning has a completely different set than a woman who washes her face at the sink. [Three.] Are you wearing mascara on these? Because her answer changes what you can safely build for her and what you tell her about removal. [Four.] When was your last full set? Because that tells you where she is in her own lash cycle, and if she is about to go through a natural shed, you need to say that out loud today instead of getting the text on day nine. [Beat.] Four questions. Two minutes. Her answers tell you what her set is going to do before you ever touch her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  ACT TWO · THE SCRIPT  |  SAY IT OUT LOUD
[Perform the quote. Actually say it the way you would say it to a real client sitting in your chair, with your client voice, not your teaching voice. Then drop back to your teaching voice for the last line so they feel the difference.]
SAY: "Now here is the part that saves you. You do not just collect those answers and keep them to yourself. You say it out loud. [Switch to your client voice.] Okay, so based on what you just told me, your set is probably going to want a fill around week two instead of week three. That is your oil, that is not my work, and here is exactly what we are going to do about it. [Beat. Back to teaching voice.] You hear what just happened there? [Beat.] On day nine, when she loses a few, she does not think you did a bad set. She thinks, oh, she told me that. She called it. [Beat.] You just took a complaint that was coming and turned it into proof that you knew what you were doing. That is the whole game, and it costs you thirty seconds at intake."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  ACT TWO · TAKEAWAY  |  THE FOUR QUESTIONS
[Fifteen seconds. Then ask for a commitment: who is asking these at their next appointment. Wait for the chat, read three names, move.]
SAY: "Takeaway number two. The Four Questions. [Beat.] Who is going to use these on their very next client? Type I AM. [STOP. Wait. Read three names out loud.] Okay. Ashleigh. Miesha. Courtney. I am holding y'all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  ACT THREE  |  THE REBOOKING
[Transition card. Two seconds. Clock check: you want to be around 8:38 here. Act three is the shortest act.]
SAY: "Act three. The rebooking."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  ACT THREE · THE STAKES  |  THIS IS THE MONEY PART
[Do not put numbers on this. No income talk, no what you could make. Keep it about the behaviour: she comes back, you stop chasing. Say it with certainty and move.]
SAY: "And here is where retention stops being about lashes and starts being about your money. [Beat.] When her set lasts, she trusts you. When she trusts you, she comes back. And when she comes back on schedule, she rebooks before she gets out of the chair, because she does not want to lose her spot with you. [Beat.] You stop chasing people. You stop discounting to fill your week. You stop redoing sets for nothing on your own product. [Beat.] Every single one of those things is a retention problem wearing a marketing costume."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  ACT THREE · AFTERCARE  |  FOUR THINGS, IN THIS ORDER
[Keep this one moving, about ninety seconds. The order matters and that is the teaching point. Number one surprises people because most artists lead with no water.]
SAY: "Aftercare. Four things, and the order matters. [One.] Keep the lash line clean. Brush them, foam cleanse them. And I know somebody was taught not to get them wet at all, we are about to talk about that. Buildup at the lash line wrecks retention and it is an eye health issue, so this one is number one for a reason. [Two.] No oil-based products anywhere near the eyes. Oil is the enemy of a cured bond, we already covered why. [Three.] Do not rub, do not tug, do not pull. No mascara on extensions, because when she pulls that off she is pulling her natural lash out with it, and then she comes back to you with gaps and thinks you did it. [Four.] Water timing based on your specific adhesive. Not a blanket rule you heard somewhere."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  ACT THREE · MYTH TWO  |  NO WATER FOR 24 HOURS IS A RUMOR
[Second myth-buster of the night. Expect pushback in the chat and welcome it. Say the manufacturer line twice. This is another slide where you visibly outrank whoever taught them.]
SAY: "Second thing you were taught wrong. No water for twenty-four hours. [Beat.] That is not a rule. That is a rumor. It got repeated so many times that everybody thinks it came from somewhere. [Beat.] It is product-dependent. Some adhesives are fully cured in a couple of hours. Some want longer. Your manufacturer publishes it. So you give her the timing your manufacturer specifies, and anything else is you repeating something somebody told you in a class one time. [Beat.] And I say that with love, because I did it too for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  ACT THREE · THE WHY  |  TELL HER WHY
[Perform the quote in your client voice again. This is a small slide that changes how women work forever, so give it a real beat at the end.]
SAY: "And here is the part almost every artist skips. Tell her why. [Client voice.] So I am cleansing your lashes first, and I know it feels like an extra step, but that is so the adhesive is bonding to a clean lash instead of to your makeup from yesterday. That right there is half your retention. [Teaching voice.] Say it while your hands are working. It costs you nothing. [Beat.] Because a client who understands the why protects it at home. She comes back on schedule. And when her friend asks her where she got her lashes done, she does not just say the name of your shop. She tells her what you explained to her, and that is what makes you different from the girl charging forty dollars. [Beat.] A client who got handed a printed list does none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  |  ACT THREE · TAKEAWAY  |  THE DAY-THREE MESSAGE
[Takeaway three. Tell them to screenshot this slide. Actually say the words screenshot this. Then contrast the two messages out loud so the difference is obvious.]
SAY: "Takeaway number three. Screenshot this slide right now. [Beat.] Day three, every client, you send this. Wanted to make sure your lashes are feeling good. Text me if anything needs adjusting. [Beat.] That is it. That is the whole message. And what it does is it catches a problem on day three, when it is a fifteen minute fix, instead of day nine, when it is a full redo and a bad review. [Beat.] Now compare that to what most people send. Spots are filling fast, book now. [Beat.] One of those messages is for her. One of those messages is for you. And she can feel which one is which instantly. [Beat.] You do not need fake urgency when your work is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29  |  ACT THREE · TAKEAWAY  |  THE PROTOCOL
[Fifteen seconds. Clock check: you should be right around 8:45 here. If you are past 8:48, cut straight to the recap.]
SAY: "Takeaway three. The Protocol. The day-three message, what to listen for in her answer, and how it saves you the clients you were about to lose without ever knowing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30  |  THE RECAP  |  THREE THINGS YOU CAN USE TOMORROW
[Deliver this warmly and completely. Do not rush into the pivot. She has to genuinely feel she got everything she was promised BEFORE you turn, or the turn feels like a bait and switch. Take a full breath at the end.]
SAY: "Alright. In one hour you got three things. The Cure Check, which is your room read properly for the first time. The Four Questions, asked at intake before you ever touch her. And the Protocol, aftercare that actually sticks plus your day-three message. [Beat.] You can use all three of those tomorrow. On your next client. Without buying one thing from me. [Beat.] I told y'all I was not going to gatekeep, and I meant it. That was the hour I promised you. [Long pause.] Now let me be honest with you about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31  |  THE TURN  |  KNOWING WHY IS NOT BEING CORRECTED
[THE PIVOT OF THE ENTIRE NIGHT. Do not rush it and do not apologise for it. No prices exist yet, no offer yet. You are naming the gap, that is all. Slow, steady, look right at the camera.]
SAY: "Everything I gave you tonight was information. And information is real, it will help you. [Beat.] But knowing why is not the same thing as being corrected. [Long pause.] You can walk out of this room tonight knowing exactly what went wrong with your last three sets, and then do the exact same thing next Tuesday, because nobody is standing behind you watching your hands. [Beat.] Nobody is watching your isolation. Nobody is watching your attachment point. Nobody is telling you, right there, that is the thing, do it again. [Beat.] That is the gap. And I want to be really clear with y'all. It is not an information gap. You have all the information now. It is a correction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32  |  THE INVITATION  |  GET THE YES
[THE MOST IMPORTANT WAIT OF THE NIGHT. No prices exist yet. You are not selling, you are INVITING. Say the invitation, ask for the YES, then STOP TALKING. Read every single YES out loud by name. Let it stack. Do not move on early, even when the silence feels long. The room needs to see other women saying yes.]
SAY: "So I want to invite you into something. It is called the Lash Mastery CEO Certification, and it is six weeks, live, with me, an RN, watching your actual hands and correcting your actual work. [Beat.] I am not going to give you any details yet. Because first I want to know who actually wants this for their life. [Beat.] If that is you, if you are sitting there thinking I am tired of guessing and I want somebody to just tell me what I am doing wrong, type YES in the chat. Right now. Just YES. [STOP. Wait. Do not fill the silence. Read every YES out loud by name.] Yes, Tierra. Yes, Andrea. Khadijah, I see you. LaDoris, yes ma'am. [Keep going. Let it stack.] Okay. [Beat.] Everything from here is for the yeses. And if it is not for you, no hard feelings at all, the hour was yours either way and you got everything I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33  |  THE OFFER  |  WHAT IS INCLUDED
[Point at the screen. The two photos do the work: the top one is a real correction session, the bottom one is the actual kit. Say six weeks LIVE and hit the word live. Do not read every line, hit lines one, three and five.]
SAY: "So here is what it is. Six weeks, live, with a Registered Nurse. Every session recorded so you never lose one. [Point at the top photo.] And that right there is what a session actually looks like. That is your work on the screen and me telling you exactly where your attachment is off. That is correction. That is not a video. [Beat.] You get your Barbicide certification and your Master Eyelash Specialist certification, credentials your clients actually recognise. [Point at the bottom photo.] You get the Money Maker Lash Kit shipped to your door, real professional product, enough for your first thirty paying clients. You get the Lash CEO GPT Library and my vendor list. [Beat.] And you get the Rich Lash Performance Guarantee, and I am going to tell you exactly what that means in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34  |  THE OFFER · PROOF  |  THE WOMEN WHO DID IT
[Say a name if you remember one. Real names land harder than a number. Keep it to forty seconds, this is proof, not a slideshow.]
SAY: "And I want you to see who has already done this, because I am not new at this. Since 2017, more than 250 women have come through my training. [Point across.] That is a real certificate. That is a real graduation day. These are women who came in exactly where you are right now, guessing, frustrated, embarrassed to post their work. [Beat.] And I am going to tell y'all the truth. Not every single one of them went and built the same thing, because everybody's life is different. But every one of them left knowing what she was doing with her hands. Every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35  |  THE OFFER · PROOF  |  IN THEIR WORDS
[Read Chelsea's line out loud, exactly as written. That specific sentence, extremely proud and cannot believe I did that, is the emotional target for every woman in the room tonight. Then stop and let it sit.]
SAY: "And this is not me talking. This is them, inside the campus, posting their own work. [Read it out loud.] I just wanted to share with y'all the set I did today. This is the very first set that I did that I am extremely proud of and cannot believe I did that. [Long pause.] Extremely proud. Cannot believe I did that. [Beat.] That is what I want for you. Not a certificate on your wall. That feeling right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36  |  THE OFFER · TIER ONE  |  CERTIFIED CEO
[First time a price appears tonight. Say the deposit number BEFORE the total, and say it calmly. Do not rush past the price, do not apologise for it, do not soften your voice. Then the kit cutoff line, because that is the only real deadline you have this week.]
SAY: "There are two ways in. This is the first one. Certified CEO. [Beat.] You start tonight with seven hundred and fifty dollars. The full investment is two thousand nine hundred ninety-seven. [Beat.] And that is your six weeks live with me, your Barbicide and your Master Eyelash Specialist certifications, the Money Maker Lash Kit shipped to your door for your first thirty clients, the GPT library, my vendor list, the Performance Guarantee, and twelve months in the campus. [Beat.] One thing on timing. If you want your kit in your hands before week one, you need to be enrolled by Thursday. That is not a sales deadline, that is a shipping deadline, that is just how long the box takes to get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37  |  THE OFFER · TIER TWO  |  EQUIPPED CEO
[This is the one most women pick, so say that out loud. The difference that actually sells it is the studio and the Shadow Labs, not the price. Land hard on the last line.]
SAY: "And this is the second way in, and I will tell y'all straight up, this is the one most women pick. Equipped CEO. [Beat.] You start tonight with twelve hundred. The full investment is three thousand nine hundred ninety-seven. [Beat.] You get everything in Certified CEO, kit included. But then you also get the complete professional studio shipped to your door. The bed, the setup, the whole thing. [Beat.] You get Shadow Labs, which is live correction on your real hands while I am watching. You get private one on one strategy sessions with me. You get Lash Cash Q4 included, which is a nine hundred ninety-seven dollar program by itself. And you get twenty-four months in the campus instead of twelve. [Long pause.] Here is why women pick this one. You do not start experimenting. You start equipped."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38  |  THE OFFER · PAYMENTS  |  RLU PAY
[Drop the link in the chat RIGHT HERE, while this slide is up. Say the three words that remove the fear: no credit check. Say them slowly. This slide removes the last practical objection, so do not hurry it.]
SAY: "And I built RLU Pay because I know exactly what stops women at this exact moment. [Beat.] No credit check. No lender. No interest. That is my own payment plan, it is not a third party, nobody is pulling your credit and telling you no. [Beat.] Certified CEO, you can do weekly, biweekly, or split it in two. Equipped CEO, same thing. Pick your pace. [Beat.] Or if you want to pay in full, Shop Pay, Affirm and Sezzle are all right there at checkout. [Beat.] I am dropping the link in the chat right now. Go grab your seat while I keep talking, because I have got a few more things to tell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39  |  THE OFFER · GUARANTEE  |  THE PERFORMANCE GUARANTEE
[Name the actual fear out loud before you give the guarantee. Do not promise an amount and do not promise a timeline. The promise is that you stay, nothing else. Say the three conditions plainly so it does not sound like fine print.]
SAY: "And let me name the real fear, because I do not think it is the money. [Beat.] The real fear is betting on yourself and it not working. Again. Because a lot of y'all have already spent money on a class before and you have nothing to show for it, and you are scared to feel that twice. [Beat.] So here is the Performance Guarantee. Complete the curriculum. Show up to your live sessions. Run the client strategy we hand you. [Beat.] Do those three things, and if you still have not landed your first paying client, we keep working with you until you do. [Beat.] I am not promising you an amount and I am not promising you a timeline, because I would be lying to you and you would know it. What I am promising is that I do not disappear on you at week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40  |  THE OFFER · OBJECTIONS  |  THE THREE THOUGHTS
[Say each objection in HER voice, like you are reading her mind, then answer it in yours. Do not get defensive on any of the three. The last line is the whole point of the slide, so slow down for it.]
SAY: "Now I know exactly what is in your head right now, so let me just say it for you. [Beat.] Thought one. It is virtual, am I really going to learn? [Beat.] You are going to get more live coaching hours than any one-day class in your city, every session is recorded, and your real work gets corrected by a nurse on camera. A one-day class hands you a certificate and sends you home. [Beat.] Thought two. It is still a real investment. [Beat.] Yes it is. I am not going to sit here and pretend it is not. It is a certification, six weeks of live coaching, the kit, the AI library, and a guarantee. And if paying it all at once is a stretch, that is exactly what the deposit is for. [Beat.] Thought three. I could find something cheaper. [Beat.] You absolutely could. Pre-recorded videos, a PDF, nobody watching your hands. Cheap teaches you to lash. This builds you a business. [Long pause.] And I will tell y'all something. My best graduates had all three of those thoughts sitting right where you are sitting. They came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41  |  THE OFFER · LOGISTICS  |  THE WINDOW
[Remove all the uncertainty about what happens after they pay. Say the acceptance letter line, women remember that one. The three dates at the bottom are real, so state them flatly and do not dress them up.]
SAY: "Here is exactly what happens after you enroll, so nothing is a mystery. [One.] You are in. Your seat locks tonight and you get an acceptance letter from me, not silence. Not a receipt and nothing else. [Two.] You get set up. The campus opens for you, your kit ships, and if you went Equipped, your studio ships too. [Three.] We begin Monday, September 7. Six weeks of live coaching with a nurse correcting your work. [Four.] You launch. Certified, equipped, first clients, guarantee behind you. [Beat.] Three real dates. Kit cutoff is Thursday the third. Doors close Sunday the sixth. And there are four seats left in this cohort. That is not a countdown timer, that is just how many chairs are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42  |  THE CLOSE  |  WHO ARE YOU DOING THIS FOR
[The last emotional beat of the night. Read the names out loud, SLOWLY, one at a time. Do not rush this and do not talk over the chat. Say your own answer too, so it is not a technique.]
SAY: "One more thing before I let General Admission go. [Beat.] Who are you doing this for? Type the name in the chat. Just the name, nothing else. [STOP. Wait. Read them out loud, slowly, one at a time.] Amari. Jayden. My mom. My daughter. [Keep reading.] My grandmother. Myself. [Beat, on that one.] Somebody said myself. Good. [Long pause.] I will tell you mine. I did it for my son. [Beat.] And here is what I want you to hear. That name you just typed is not asking you to feel ready. That name has never once asked you to feel ready. That name is waiting on you to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43  |  THE CLOSE · CAMPUS  |  EIGHT FIFTY-EIGHT
[8:58 PM exactly. Watch your clock on this one. Say out loud that in two minutes General Admission is out. Drop the nine dollar link in the chat while you are saying it, then say the number twice.]
SAY: "It is eight fifty-eight. In two minutes General Admission is out, and I mean that, the room closes. [Beat.] So here is the last thing. If you want to stay on with me until nine forty-five, pull up a set of yours that did not last, a real one, and we are going to work out what happened to yours, on the screen, together. Not theory. Your photo. [Beat.] That is the campus, and it is nine dollars. [Beat.] Nine dollars. That is less than the bottle of adhesive you are going to throw out this month because it went bad in your drawer. [Beat.] Link is in the chat right now. Grab it and stay with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44  |  THE CLOSE  |  YOUR SEAT IS OPEN
[Leave this slide up the entire time you are answering questions and for the whole campus session. Do not click off it. The link needs to stay on the screen. End on the sign-off, every time.]
SAY: "Your seat is open. The next move is yours. [Beat.] Link is on the screen and it is in the chat. Certified CEO, seven fifty down. Equipped CEO, twelve hundred down. We start Monday the seventh. [Beat.] And if you are staying with me for the campus, do not go anywhere, we are about to look at your real sets. [Beat.] Faith first. Work daily. Watch it come. [Beat.] I love y'all. Let's get into these lashes."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image" Target="../media/image-5-4.jpe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image" Target="../media/image-33-2.jpe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image" Target="../media/image-34-2.jpeg"/><Relationship Id="rId3" Type="http://schemas.openxmlformats.org/officeDocument/2006/relationships/image" Target="../media/image-34-3.jpeg"/><Relationship Id="rId4" Type="http://schemas.openxmlformats.org/officeDocument/2006/relationships/image" Target="../media/image-34-4.jpe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image" Target="../media/image-35-2.jpe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36576" y="-36576"/>
            <a:ext cx="18361152" cy="3136392"/>
          </a:xfrm>
          <a:prstGeom prst="rect">
            <a:avLst/>
          </a:prstGeom>
          <a:solidFill>
            <a:srgbClr val="262026"/>
          </a:solidFill>
          <a:ln/>
        </p:spPr>
      </p:sp>
      <p:pic>
        <p:nvPicPr>
          <p:cNvPr id="3" name="Image 0" descr="media/lash-close-3.jpeg">    </p:cNvPr>
          <p:cNvPicPr>
            <a:picLocks noChangeAspect="1"/>
          </p:cNvPicPr>
          <p:nvPr/>
        </p:nvPicPr>
        <p:blipFill>
          <a:blip r:embed="rId1"/>
          <a:srcRect l="0" r="0" t="0" b="0"/>
          <a:stretch/>
        </p:blipFill>
        <p:spPr>
          <a:xfrm>
            <a:off x="0" y="0"/>
            <a:ext cx="18288000" cy="3063240"/>
          </a:xfrm>
          <a:prstGeom prst="rect">
            <a:avLst/>
          </a:prstGeom>
        </p:spPr>
      </p:pic>
      <p:sp>
        <p:nvSpPr>
          <p:cNvPr id="4" name="Shape 1"/>
          <p:cNvSpPr/>
          <p:nvPr/>
        </p:nvSpPr>
        <p:spPr>
          <a:xfrm>
            <a:off x="0" y="0"/>
            <a:ext cx="18288000" cy="3063240"/>
          </a:xfrm>
          <a:prstGeom prst="rect">
            <a:avLst/>
          </a:prstGeom>
          <a:solidFill>
            <a:srgbClr val="0A0A0A">
              <a:alpha val="62000"/>
            </a:srgbClr>
          </a:solidFill>
          <a:ln/>
        </p:spPr>
      </p:sp>
      <p:sp>
        <p:nvSpPr>
          <p:cNvPr id="5" name="Text 2"/>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spc="600" kern="0" dirty="0">
                <a:solidFill>
                  <a:srgbClr val="D4AF37"/>
                </a:solidFill>
                <a:latin typeface="Poppins Bold" pitchFamily="34" charset="0"/>
                <a:ea typeface="Poppins Bold" pitchFamily="34" charset="-122"/>
                <a:cs typeface="Poppins Bold" pitchFamily="34" charset="-120"/>
              </a:rPr>
              <a:t>R I C H   L A S H ®   U N I V E R S I T Y</a:t>
            </a:r>
            <a:endParaRPr lang="en-US" sz="1500" dirty="0"/>
          </a:p>
        </p:txBody>
      </p:sp>
      <p:sp>
        <p:nvSpPr>
          <p:cNvPr id="6" name="Text 3"/>
          <p:cNvSpPr txBox="1"/>
          <p:nvPr/>
        </p:nvSpPr>
        <p:spPr>
          <a:xfrm>
            <a:off x="1481328" y="3383280"/>
            <a:ext cx="15672816" cy="457200"/>
          </a:xfrm>
          <a:prstGeom prst="rect">
            <a:avLst/>
          </a:prstGeom>
          <a:noFill/>
          <a:ln/>
        </p:spPr>
        <p:txBody>
          <a:bodyPr wrap="square" lIns="0" tIns="0" rIns="0" bIns="0" rtlCol="0" anchor="ctr"/>
          <a:lstStyle/>
          <a:p>
            <a:pPr indent="0" marL="0">
              <a:buNone/>
            </a:pPr>
            <a:r>
              <a:rPr lang="en-US" sz="1500" spc="600" kern="0" dirty="0">
                <a:solidFill>
                  <a:srgbClr val="F600A2"/>
                </a:solidFill>
                <a:latin typeface="Poppins Bold" pitchFamily="34" charset="0"/>
                <a:ea typeface="Poppins Bold" pitchFamily="34" charset="-122"/>
                <a:cs typeface="Poppins Bold" pitchFamily="34" charset="-120"/>
              </a:rPr>
              <a:t>THE RETENTION ROOM</a:t>
            </a:r>
            <a:endParaRPr lang="en-US" sz="1500" dirty="0"/>
          </a:p>
        </p:txBody>
      </p:sp>
      <p:sp>
        <p:nvSpPr>
          <p:cNvPr id="7" name="Text 4"/>
          <p:cNvSpPr txBox="1"/>
          <p:nvPr/>
        </p:nvSpPr>
        <p:spPr>
          <a:xfrm>
            <a:off x="1481328" y="4023360"/>
            <a:ext cx="15672816" cy="2651760"/>
          </a:xfrm>
          <a:prstGeom prst="rect">
            <a:avLst/>
          </a:prstGeom>
          <a:noFill/>
          <a:ln/>
        </p:spPr>
        <p:txBody>
          <a:bodyPr wrap="square" lIns="0" tIns="0" rIns="0" bIns="0" rtlCol="0" anchor="ctr"/>
          <a:lstStyle/>
          <a:p>
            <a:pPr indent="0" marL="0">
              <a:lnSpc>
                <a:spcPts val="7400"/>
              </a:lnSpc>
              <a:buNone/>
            </a:pPr>
            <a:r>
              <a:rPr lang="en-US" sz="6600" dirty="0">
                <a:solidFill>
                  <a:srgbClr val="FFFFFF"/>
                </a:solidFill>
                <a:latin typeface="Poppins Bold" pitchFamily="34" charset="0"/>
                <a:ea typeface="Poppins Bold" pitchFamily="34" charset="-122"/>
                <a:cs typeface="Poppins Bold" pitchFamily="34" charset="-120"/>
              </a:rPr>
              <a:t>Why her lashes</a:t>
            </a:r>
            <a:pPr indent="0" marL="0">
              <a:lnSpc>
                <a:spcPts val="7400"/>
              </a:lnSpc>
              <a:buNone/>
            </a:pPr>
            <a:r>
              <a:rPr lang="en-US" sz="6600" dirty="0">
                <a:solidFill>
                  <a:srgbClr val="000000"/>
                </a:solidFill>
                <a:latin typeface="Poppins Bold" pitchFamily="34" charset="0"/>
                <a:ea typeface="Poppins Bold" pitchFamily="34" charset="-122"/>
                <a:cs typeface="Poppins Bold" pitchFamily="34" charset="-120"/>
              </a:rPr>
              <a:t>
</a:t>
            </a:r>
            <a:pPr indent="0" marL="0">
              <a:lnSpc>
                <a:spcPts val="7400"/>
              </a:lnSpc>
              <a:buNone/>
            </a:pPr>
            <a:r>
              <a:rPr lang="en-US" sz="6600" i="1" dirty="0">
                <a:solidFill>
                  <a:srgbClr val="F600A2"/>
                </a:solidFill>
                <a:latin typeface="Poppins Italics" pitchFamily="34" charset="0"/>
                <a:ea typeface="Poppins Italics" pitchFamily="34" charset="-122"/>
                <a:cs typeface="Poppins Italics" pitchFamily="34" charset="-120"/>
              </a:rPr>
              <a:t>fall off in nine days.</a:t>
            </a:r>
            <a:endParaRPr lang="en-US" sz="6600" dirty="0"/>
          </a:p>
        </p:txBody>
      </p:sp>
      <p:sp>
        <p:nvSpPr>
          <p:cNvPr id="8" name="Shape 5"/>
          <p:cNvSpPr/>
          <p:nvPr/>
        </p:nvSpPr>
        <p:spPr>
          <a:xfrm>
            <a:off x="1481328" y="7040880"/>
            <a:ext cx="15672816" cy="10973"/>
          </a:xfrm>
          <a:prstGeom prst="rect">
            <a:avLst/>
          </a:prstGeom>
          <a:solidFill>
            <a:srgbClr val="262026"/>
          </a:solidFill>
          <a:ln/>
        </p:spPr>
      </p:sp>
      <p:sp>
        <p:nvSpPr>
          <p:cNvPr id="9" name="Text 6"/>
          <p:cNvSpPr txBox="1"/>
          <p:nvPr/>
        </p:nvSpPr>
        <p:spPr>
          <a:xfrm>
            <a:off x="1481328" y="7315200"/>
            <a:ext cx="15672816" cy="548640"/>
          </a:xfrm>
          <a:prstGeom prst="rect">
            <a:avLst/>
          </a:prstGeom>
          <a:noFill/>
          <a:ln/>
        </p:spPr>
        <p:txBody>
          <a:bodyPr wrap="square" lIns="0" tIns="0" rIns="0" bIns="0" rtlCol="0" anchor="ctr"/>
          <a:lstStyle/>
          <a:p>
            <a:pPr indent="0" marL="0">
              <a:buNone/>
            </a:pPr>
            <a:r>
              <a:rPr lang="en-US" sz="1950" dirty="0">
                <a:solidFill>
                  <a:srgbClr val="B9B3BB"/>
                </a:solidFill>
                <a:latin typeface="Poppins" pitchFamily="34" charset="0"/>
                <a:ea typeface="Poppins" pitchFamily="34" charset="-122"/>
                <a:cs typeface="Poppins" pitchFamily="34" charset="-120"/>
              </a:rPr>
              <a:t>Tuesday, September 1  ·  8 to 9 PM ET  ·  One live hour</a:t>
            </a:r>
            <a:endParaRPr lang="en-US" sz="1950" dirty="0"/>
          </a:p>
        </p:txBody>
      </p:sp>
      <p:sp>
        <p:nvSpPr>
          <p:cNvPr id="10" name="Text 7"/>
          <p:cNvSpPr txBox="1"/>
          <p:nvPr/>
        </p:nvSpPr>
        <p:spPr>
          <a:xfrm>
            <a:off x="1481328" y="9052560"/>
            <a:ext cx="15672816" cy="457200"/>
          </a:xfrm>
          <a:prstGeom prst="rect">
            <a:avLst/>
          </a:prstGeom>
          <a:noFill/>
          <a:ln/>
        </p:spPr>
        <p:txBody>
          <a:bodyPr wrap="square" lIns="0" tIns="0" rIns="0" bIns="0" rtlCol="0" anchor="ctr"/>
          <a:lstStyle/>
          <a:p>
            <a:pPr indent="0" marL="0">
              <a:buNone/>
            </a:pPr>
            <a:r>
              <a:rPr lang="en-US" sz="1500" spc="500" kern="0" dirty="0">
                <a:solidFill>
                  <a:srgbClr val="D4AF37"/>
                </a:solidFill>
                <a:latin typeface="Poppins Bold" pitchFamily="34" charset="0"/>
                <a:ea typeface="Poppins Bold" pitchFamily="34" charset="-122"/>
                <a:cs typeface="Poppins Bold" pitchFamily="34" charset="-120"/>
              </a:rPr>
              <a:t>DESTYNI TRIPLETT, REGISTERED NURSE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WELCOME IN</a:t>
            </a:r>
            <a:endParaRPr lang="en-US" sz="1500" dirty="0"/>
          </a:p>
        </p:txBody>
      </p:sp>
      <p:sp>
        <p:nvSpPr>
          <p:cNvPr id="3" name="Text 1"/>
          <p:cNvSpPr txBox="1"/>
          <p:nvPr/>
        </p:nvSpPr>
        <p:spPr>
          <a:xfrm>
            <a:off x="1481328" y="1188720"/>
            <a:ext cx="8275320" cy="1828800"/>
          </a:xfrm>
          <a:prstGeom prst="rect">
            <a:avLst/>
          </a:prstGeom>
          <a:noFill/>
          <a:ln/>
        </p:spPr>
        <p:txBody>
          <a:bodyPr wrap="square" lIns="0" tIns="0" rIns="0" bIns="0" rtlCol="0" anchor="t"/>
          <a:lstStyle/>
          <a:p>
            <a:pPr indent="0" marL="0">
              <a:lnSpc>
                <a:spcPts val="5310"/>
              </a:lnSpc>
              <a:buNone/>
            </a:pPr>
            <a:r>
              <a:rPr lang="en-US" sz="4500" dirty="0">
                <a:solidFill>
                  <a:srgbClr val="FFFFFF"/>
                </a:solidFill>
                <a:latin typeface="Poppins Bold" pitchFamily="34" charset="0"/>
                <a:ea typeface="Poppins Bold" pitchFamily="34" charset="-122"/>
                <a:cs typeface="Poppins Bold" pitchFamily="34" charset="-120"/>
              </a:rPr>
              <a:t>One hour. </a:t>
            </a:r>
            <a:pPr indent="0" marL="0">
              <a:lnSpc>
                <a:spcPts val="5310"/>
              </a:lnSpc>
              <a:buNone/>
            </a:pPr>
            <a:r>
              <a:rPr lang="en-US" sz="4500" i="1" dirty="0">
                <a:solidFill>
                  <a:srgbClr val="F600A2"/>
                </a:solidFill>
                <a:latin typeface="Poppins Italics" pitchFamily="34" charset="0"/>
                <a:ea typeface="Poppins Italics" pitchFamily="34" charset="-122"/>
                <a:cs typeface="Poppins Italics" pitchFamily="34" charset="-120"/>
              </a:rPr>
              <a:t>Three acts.</a:t>
            </a:r>
            <a:endParaRPr lang="en-US" sz="4500" dirty="0"/>
          </a:p>
        </p:txBody>
      </p:sp>
      <p:sp>
        <p:nvSpPr>
          <p:cNvPr id="4" name="Text 2"/>
          <p:cNvSpPr txBox="1"/>
          <p:nvPr/>
        </p:nvSpPr>
        <p:spPr>
          <a:xfrm>
            <a:off x="1481328" y="397764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01</a:t>
            </a:r>
            <a:endParaRPr lang="en-US" sz="1500" dirty="0"/>
          </a:p>
        </p:txBody>
      </p:sp>
      <p:sp>
        <p:nvSpPr>
          <p:cNvPr id="5" name="Text 3"/>
          <p:cNvSpPr txBox="1"/>
          <p:nvPr/>
        </p:nvSpPr>
        <p:spPr>
          <a:xfrm>
            <a:off x="2395728" y="3977640"/>
            <a:ext cx="7360920"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The Chemistry</a:t>
            </a:r>
            <a:endParaRPr lang="en-US" sz="1950" dirty="0"/>
          </a:p>
        </p:txBody>
      </p:sp>
      <p:sp>
        <p:nvSpPr>
          <p:cNvPr id="6" name="Text 4"/>
          <p:cNvSpPr txBox="1"/>
          <p:nvPr/>
        </p:nvSpPr>
        <p:spPr>
          <a:xfrm>
            <a:off x="2395728" y="4453128"/>
            <a:ext cx="7360920"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Why it does not last, and what your room has to do with it</a:t>
            </a:r>
            <a:endParaRPr lang="en-US" sz="1725" dirty="0"/>
          </a:p>
        </p:txBody>
      </p:sp>
      <p:sp>
        <p:nvSpPr>
          <p:cNvPr id="7" name="Text 5"/>
          <p:cNvSpPr txBox="1"/>
          <p:nvPr/>
        </p:nvSpPr>
        <p:spPr>
          <a:xfrm>
            <a:off x="1481328" y="516636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02</a:t>
            </a:r>
            <a:endParaRPr lang="en-US" sz="1500" dirty="0"/>
          </a:p>
        </p:txBody>
      </p:sp>
      <p:sp>
        <p:nvSpPr>
          <p:cNvPr id="8" name="Text 6"/>
          <p:cNvSpPr txBox="1"/>
          <p:nvPr/>
        </p:nvSpPr>
        <p:spPr>
          <a:xfrm>
            <a:off x="2395728" y="5166360"/>
            <a:ext cx="7360920"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The Consultation</a:t>
            </a:r>
            <a:endParaRPr lang="en-US" sz="1950" dirty="0"/>
          </a:p>
        </p:txBody>
      </p:sp>
      <p:sp>
        <p:nvSpPr>
          <p:cNvPr id="9" name="Text 7"/>
          <p:cNvSpPr txBox="1"/>
          <p:nvPr/>
        </p:nvSpPr>
        <p:spPr>
          <a:xfrm>
            <a:off x="2395728" y="5641848"/>
            <a:ext cx="7360920"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It is decided before you pick up a tweezer</a:t>
            </a:r>
            <a:endParaRPr lang="en-US" sz="1725" dirty="0"/>
          </a:p>
        </p:txBody>
      </p:sp>
      <p:sp>
        <p:nvSpPr>
          <p:cNvPr id="10" name="Text 8"/>
          <p:cNvSpPr txBox="1"/>
          <p:nvPr/>
        </p:nvSpPr>
        <p:spPr>
          <a:xfrm>
            <a:off x="1481328" y="635508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03</a:t>
            </a:r>
            <a:endParaRPr lang="en-US" sz="1500" dirty="0"/>
          </a:p>
        </p:txBody>
      </p:sp>
      <p:sp>
        <p:nvSpPr>
          <p:cNvPr id="11" name="Text 9"/>
          <p:cNvSpPr txBox="1"/>
          <p:nvPr/>
        </p:nvSpPr>
        <p:spPr>
          <a:xfrm>
            <a:off x="2395728" y="6355080"/>
            <a:ext cx="7360920"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The Rebooking</a:t>
            </a:r>
            <a:endParaRPr lang="en-US" sz="1950" dirty="0"/>
          </a:p>
        </p:txBody>
      </p:sp>
      <p:sp>
        <p:nvSpPr>
          <p:cNvPr id="12" name="Text 10"/>
          <p:cNvSpPr txBox="1"/>
          <p:nvPr/>
        </p:nvSpPr>
        <p:spPr>
          <a:xfrm>
            <a:off x="2395728" y="6830568"/>
            <a:ext cx="7360920"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A set that lasts is a client who comes back</a:t>
            </a:r>
            <a:endParaRPr lang="en-US" sz="1725" dirty="0"/>
          </a:p>
        </p:txBody>
      </p:sp>
      <p:sp>
        <p:nvSpPr>
          <p:cNvPr id="13" name="Shape 11"/>
          <p:cNvSpPr/>
          <p:nvPr/>
        </p:nvSpPr>
        <p:spPr>
          <a:xfrm>
            <a:off x="10296144" y="2157984"/>
            <a:ext cx="6894576" cy="5605272"/>
          </a:xfrm>
          <a:prstGeom prst="rect">
            <a:avLst/>
          </a:prstGeom>
          <a:solidFill>
            <a:srgbClr val="262026"/>
          </a:solidFill>
          <a:ln/>
        </p:spPr>
      </p:sp>
      <p:pic>
        <p:nvPicPr>
          <p:cNvPr id="14" name="Image 0" descr="media/lash-macro.jpeg">    </p:cNvPr>
          <p:cNvPicPr>
            <a:picLocks noChangeAspect="1"/>
          </p:cNvPicPr>
          <p:nvPr/>
        </p:nvPicPr>
        <p:blipFill>
          <a:blip r:embed="rId1"/>
          <a:srcRect l="0" r="0" t="0" b="0"/>
          <a:stretch/>
        </p:blipFill>
        <p:spPr>
          <a:xfrm>
            <a:off x="10332720" y="2194560"/>
            <a:ext cx="6821424" cy="5532120"/>
          </a:xfrm>
          <a:prstGeom prst="rect">
            <a:avLst/>
          </a:prstGeom>
        </p:spPr>
      </p:pic>
      <p:sp>
        <p:nvSpPr>
          <p:cNvPr id="15" name="Text 12"/>
          <p:cNvSpPr txBox="1"/>
          <p:nvPr/>
        </p:nvSpPr>
        <p:spPr>
          <a:xfrm>
            <a:off x="10332720" y="7882128"/>
            <a:ext cx="682142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MY WORK  ·  RICH LASH®</a:t>
            </a:r>
            <a:endParaRPr lang="en-US" sz="1275" dirty="0"/>
          </a:p>
        </p:txBody>
      </p:sp>
      <p:sp>
        <p:nvSpPr>
          <p:cNvPr id="16" name="Text 13"/>
          <p:cNvSpPr txBox="1"/>
          <p:nvPr/>
        </p:nvSpPr>
        <p:spPr>
          <a:xfrm>
            <a:off x="1481328" y="8887968"/>
            <a:ext cx="8275320" cy="640080"/>
          </a:xfrm>
          <a:prstGeom prst="rect">
            <a:avLst/>
          </a:prstGeom>
          <a:noFill/>
          <a:ln/>
        </p:spPr>
        <p:txBody>
          <a:bodyPr wrap="square" lIns="0" tIns="0" rIns="0" bIns="0" rtlCol="0" anchor="ctr"/>
          <a:lstStyle/>
          <a:p>
            <a:pPr indent="0" marL="0">
              <a:buNone/>
            </a:pPr>
            <a:r>
              <a:rPr lang="en-US" sz="1725" i="1" dirty="0">
                <a:solidFill>
                  <a:srgbClr val="B9B3BB"/>
                </a:solidFill>
                <a:latin typeface="Poppins Italics" pitchFamily="34" charset="0"/>
                <a:ea typeface="Poppins Italics" pitchFamily="34" charset="-122"/>
                <a:cs typeface="Poppins Italics" pitchFamily="34" charset="-120"/>
              </a:rPr>
              <a:t>Type your city in the chat so I know who is in the room.</a:t>
            </a:r>
            <a:endParaRPr lang="en-US" sz="1725"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8275320"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BEFORE I TEACH YOU ANYTHING</a:t>
            </a:r>
            <a:endParaRPr lang="en-US" sz="1500" dirty="0"/>
          </a:p>
        </p:txBody>
      </p:sp>
      <p:sp>
        <p:nvSpPr>
          <p:cNvPr id="3" name="Text 1"/>
          <p:cNvSpPr txBox="1"/>
          <p:nvPr/>
        </p:nvSpPr>
        <p:spPr>
          <a:xfrm>
            <a:off x="1481328" y="1691640"/>
            <a:ext cx="8275320" cy="3566160"/>
          </a:xfrm>
          <a:prstGeom prst="rect">
            <a:avLst/>
          </a:prstGeom>
          <a:noFill/>
          <a:ln/>
        </p:spPr>
        <p:txBody>
          <a:bodyPr wrap="square" lIns="0" tIns="0" rIns="0" bIns="0" rtlCol="0" anchor="t"/>
          <a:lstStyle/>
          <a:p>
            <a:pPr indent="0" marL="0">
              <a:lnSpc>
                <a:spcPts val="6136"/>
              </a:lnSpc>
              <a:buNone/>
            </a:pPr>
            <a:r>
              <a:rPr lang="en-US" sz="5200" dirty="0">
                <a:solidFill>
                  <a:srgbClr val="FFFFFF"/>
                </a:solidFill>
                <a:latin typeface="Poppins Bold" pitchFamily="34" charset="0"/>
                <a:ea typeface="Poppins Bold" pitchFamily="34" charset="-122"/>
                <a:cs typeface="Poppins Bold" pitchFamily="34" charset="-120"/>
              </a:rPr>
              <a:t>You should know
who you are
</a:t>
            </a:r>
            <a:pPr indent="0" marL="0">
              <a:lnSpc>
                <a:spcPts val="6136"/>
              </a:lnSpc>
              <a:buNone/>
            </a:pPr>
            <a:r>
              <a:rPr lang="en-US" sz="5200" i="1" dirty="0">
                <a:solidFill>
                  <a:srgbClr val="D4AF37"/>
                </a:solidFill>
                <a:latin typeface="Poppins Italics" pitchFamily="34" charset="0"/>
                <a:ea typeface="Poppins Italics" pitchFamily="34" charset="-122"/>
                <a:cs typeface="Poppins Italics" pitchFamily="34" charset="-120"/>
              </a:rPr>
              <a:t>learning from.</a:t>
            </a:r>
            <a:endParaRPr lang="en-US" sz="5200" dirty="0"/>
          </a:p>
        </p:txBody>
      </p:sp>
      <p:sp>
        <p:nvSpPr>
          <p:cNvPr id="4" name="Text 2"/>
          <p:cNvSpPr txBox="1"/>
          <p:nvPr/>
        </p:nvSpPr>
        <p:spPr>
          <a:xfrm>
            <a:off x="1481328" y="5440680"/>
            <a:ext cx="7909560" cy="2743200"/>
          </a:xfrm>
          <a:prstGeom prst="rect">
            <a:avLst/>
          </a:prstGeom>
          <a:noFill/>
          <a:ln/>
        </p:spPr>
        <p:txBody>
          <a:bodyPr wrap="square" lIns="0" tIns="0" rIns="0" bIns="0" rtlCol="0" anchor="t"/>
          <a:lstStyle/>
          <a:p>
            <a:pPr indent="0" marL="0">
              <a:lnSpc>
                <a:spcPts val="3465"/>
              </a:lnSpc>
              <a:buNone/>
            </a:pPr>
            <a:r>
              <a:rPr lang="en-US" sz="2100" dirty="0">
                <a:solidFill>
                  <a:srgbClr val="B9B3BB"/>
                </a:solidFill>
                <a:latin typeface="Poppins" pitchFamily="34" charset="0"/>
                <a:ea typeface="Poppins" pitchFamily="34" charset="-122"/>
                <a:cs typeface="Poppins" pitchFamily="34" charset="-120"/>
              </a:rPr>
              <a:t>I am a Registered Nurse. I have been lashing since 2017 and teaching since 2019.</a:t>
            </a:r>
            <a:endParaRPr lang="en-US" sz="2100" dirty="0"/>
          </a:p>
          <a:p>
            <a:pPr indent="0" marL="0">
              <a:lnSpc>
                <a:spcPts val="3465"/>
              </a:lnSpc>
              <a:buNone/>
            </a:pPr>
            <a:endParaRPr lang="en-US" sz="2100" dirty="0"/>
          </a:p>
          <a:p>
            <a:pPr indent="0" marL="0">
              <a:lnSpc>
                <a:spcPts val="3465"/>
              </a:lnSpc>
              <a:buNone/>
            </a:pPr>
            <a:r>
              <a:rPr lang="en-US" sz="2100" dirty="0">
                <a:solidFill>
                  <a:srgbClr val="B9B3BB"/>
                </a:solidFill>
                <a:latin typeface="Poppins" pitchFamily="34" charset="0"/>
                <a:ea typeface="Poppins" pitchFamily="34" charset="-122"/>
                <a:cs typeface="Poppins" pitchFamily="34" charset="-120"/>
              </a:rPr>
              <a:t>Over a thousand clients. More than 250 women trained. Nine years in one chair.</a:t>
            </a:r>
            <a:endParaRPr lang="en-US" sz="2100" dirty="0"/>
          </a:p>
        </p:txBody>
      </p:sp>
      <p:sp>
        <p:nvSpPr>
          <p:cNvPr id="5" name="Shape 3"/>
          <p:cNvSpPr/>
          <p:nvPr/>
        </p:nvSpPr>
        <p:spPr>
          <a:xfrm>
            <a:off x="11484864" y="832104"/>
            <a:ext cx="5705856" cy="8622792"/>
          </a:xfrm>
          <a:prstGeom prst="rect">
            <a:avLst/>
          </a:prstGeom>
          <a:solidFill>
            <a:srgbClr val="262026"/>
          </a:solidFill>
          <a:ln/>
        </p:spPr>
      </p:sp>
      <p:pic>
        <p:nvPicPr>
          <p:cNvPr id="6" name="Image 0" descr="media/lashing-pink.jpeg">    </p:cNvPr>
          <p:cNvPicPr>
            <a:picLocks noChangeAspect="1"/>
          </p:cNvPicPr>
          <p:nvPr/>
        </p:nvPicPr>
        <p:blipFill>
          <a:blip r:embed="rId1"/>
          <a:srcRect l="0" r="0" t="0" b="0"/>
          <a:stretch/>
        </p:blipFill>
        <p:spPr>
          <a:xfrm>
            <a:off x="11521440" y="868680"/>
            <a:ext cx="5632704" cy="8549640"/>
          </a:xfrm>
          <a:prstGeom prst="rect">
            <a:avLst/>
          </a:prstGeom>
        </p:spPr>
      </p:pic>
      <p:sp>
        <p:nvSpPr>
          <p:cNvPr id="7" name="Text 4"/>
          <p:cNvSpPr txBox="1"/>
          <p:nvPr/>
        </p:nvSpPr>
        <p:spPr>
          <a:xfrm>
            <a:off x="11521440" y="9509760"/>
            <a:ext cx="563270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DESTYNI TRIPLETT, RN</a:t>
            </a:r>
            <a:endParaRPr lang="en-US" sz="127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AND THIS IS THE PART THAT MATTERS</a:t>
            </a:r>
            <a:endParaRPr lang="en-US" sz="1500" dirty="0"/>
          </a:p>
        </p:txBody>
      </p:sp>
      <p:sp>
        <p:nvSpPr>
          <p:cNvPr id="3" name="Text 1"/>
          <p:cNvSpPr txBox="1"/>
          <p:nvPr/>
        </p:nvSpPr>
        <p:spPr>
          <a:xfrm>
            <a:off x="1481328" y="1600200"/>
            <a:ext cx="8275320" cy="3291840"/>
          </a:xfrm>
          <a:prstGeom prst="rect">
            <a:avLst/>
          </a:prstGeom>
          <a:noFill/>
          <a:ln/>
        </p:spPr>
        <p:txBody>
          <a:bodyPr wrap="square" lIns="0" tIns="0" rIns="0" bIns="0" rtlCol="0" anchor="t"/>
          <a:lstStyle/>
          <a:p>
            <a:pPr indent="0" marL="0">
              <a:lnSpc>
                <a:spcPts val="4248"/>
              </a:lnSpc>
              <a:buNone/>
            </a:pPr>
            <a:r>
              <a:rPr lang="en-US" sz="3600" dirty="0">
                <a:solidFill>
                  <a:srgbClr val="FFFFFF"/>
                </a:solidFill>
                <a:latin typeface="Poppins Bold" pitchFamily="34" charset="0"/>
                <a:ea typeface="Poppins Bold" pitchFamily="34" charset="-122"/>
                <a:cs typeface="Poppins Bold" pitchFamily="34" charset="-120"/>
              </a:rPr>
              <a:t>I did not learn chemistry
from a lash class.
</a:t>
            </a:r>
            <a:pPr indent="0" marL="0">
              <a:lnSpc>
                <a:spcPts val="4248"/>
              </a:lnSpc>
              <a:buNone/>
            </a:pPr>
            <a:r>
              <a:rPr lang="en-US" sz="3600" i="1" dirty="0">
                <a:solidFill>
                  <a:srgbClr val="F600A2"/>
                </a:solidFill>
                <a:latin typeface="Poppins Italics" pitchFamily="34" charset="0"/>
                <a:ea typeface="Poppins Italics" pitchFamily="34" charset="-122"/>
                <a:cs typeface="Poppins Italics" pitchFamily="34" charset="-120"/>
              </a:rPr>
              <a:t>I learned it in nursing school.</a:t>
            </a:r>
            <a:endParaRPr lang="en-US" sz="3600" dirty="0"/>
          </a:p>
        </p:txBody>
      </p:sp>
      <p:sp>
        <p:nvSpPr>
          <p:cNvPr id="4" name="Text 2"/>
          <p:cNvSpPr txBox="1"/>
          <p:nvPr/>
        </p:nvSpPr>
        <p:spPr>
          <a:xfrm>
            <a:off x="1481328" y="5257800"/>
            <a:ext cx="7909560" cy="2743200"/>
          </a:xfrm>
          <a:prstGeom prst="rect">
            <a:avLst/>
          </a:prstGeom>
          <a:noFill/>
          <a:ln/>
        </p:spPr>
        <p:txBody>
          <a:bodyPr wrap="square" lIns="0" tIns="0" rIns="0" bIns="0" rtlCol="0" anchor="t"/>
          <a:lstStyle/>
          <a:p>
            <a:pPr indent="0" marL="0">
              <a:lnSpc>
                <a:spcPts val="3300"/>
              </a:lnSpc>
              <a:buNone/>
            </a:pPr>
            <a:r>
              <a:rPr lang="en-US" sz="2000" dirty="0">
                <a:solidFill>
                  <a:srgbClr val="B9B3BB"/>
                </a:solidFill>
                <a:latin typeface="Poppins" pitchFamily="34" charset="0"/>
                <a:ea typeface="Poppins" pitchFamily="34" charset="-122"/>
                <a:cs typeface="Poppins" pitchFamily="34" charset="-120"/>
              </a:rPr>
              <a:t>Most lash educators teach you a routine and hope it works in your room. I can teach you the reaction, because I was trained to understand reactions before I ever picked up a tweezer.</a:t>
            </a:r>
            <a:endParaRPr lang="en-US" sz="2000" dirty="0"/>
          </a:p>
          <a:p>
            <a:pPr indent="0" marL="0">
              <a:lnSpc>
                <a:spcPts val="3300"/>
              </a:lnSpc>
              <a:buNone/>
            </a:pPr>
            <a:endParaRPr lang="en-US" sz="2000" dirty="0"/>
          </a:p>
          <a:p>
            <a:pPr indent="0" marL="0">
              <a:lnSpc>
                <a:spcPts val="3300"/>
              </a:lnSpc>
              <a:buNone/>
            </a:pPr>
            <a:r>
              <a:rPr lang="en-US" sz="2000" dirty="0">
                <a:solidFill>
                  <a:srgbClr val="B9B3BB"/>
                </a:solidFill>
                <a:latin typeface="Poppins" pitchFamily="34" charset="0"/>
                <a:ea typeface="Poppins" pitchFamily="34" charset="-122"/>
                <a:cs typeface="Poppins" pitchFamily="34" charset="-120"/>
              </a:rPr>
              <a:t>That is the entire difference in tonight's hour.</a:t>
            </a:r>
            <a:endParaRPr lang="en-US" sz="2000" dirty="0"/>
          </a:p>
        </p:txBody>
      </p:sp>
      <p:sp>
        <p:nvSpPr>
          <p:cNvPr id="5" name="Shape 3"/>
          <p:cNvSpPr/>
          <p:nvPr/>
        </p:nvSpPr>
        <p:spPr>
          <a:xfrm>
            <a:off x="10296144" y="1152144"/>
            <a:ext cx="6894576" cy="6473952"/>
          </a:xfrm>
          <a:prstGeom prst="rect">
            <a:avLst/>
          </a:prstGeom>
          <a:solidFill>
            <a:srgbClr val="262026"/>
          </a:solidFill>
          <a:ln/>
        </p:spPr>
      </p:sp>
      <p:pic>
        <p:nvPicPr>
          <p:cNvPr id="6" name="Image 0" descr="media/rn-coat.jpeg">    </p:cNvPr>
          <p:cNvPicPr>
            <a:picLocks noChangeAspect="1"/>
          </p:cNvPicPr>
          <p:nvPr/>
        </p:nvPicPr>
        <p:blipFill>
          <a:blip r:embed="rId1"/>
          <a:srcRect l="0" r="0" t="0" b="0"/>
          <a:stretch/>
        </p:blipFill>
        <p:spPr>
          <a:xfrm>
            <a:off x="10332720" y="1188720"/>
            <a:ext cx="6821424" cy="6400800"/>
          </a:xfrm>
          <a:prstGeom prst="rect">
            <a:avLst/>
          </a:prstGeom>
        </p:spPr>
      </p:pic>
      <p:sp>
        <p:nvSpPr>
          <p:cNvPr id="7" name="Text 4"/>
          <p:cNvSpPr txBox="1"/>
          <p:nvPr/>
        </p:nvSpPr>
        <p:spPr>
          <a:xfrm>
            <a:off x="10332720" y="7726680"/>
            <a:ext cx="682142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RN SINCE 2020  ·  ATLANTA</a:t>
            </a:r>
            <a:endParaRPr lang="en-US" sz="127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AND I DID NOT START HERE</a:t>
            </a:r>
            <a:endParaRPr lang="en-US" sz="1500" dirty="0"/>
          </a:p>
        </p:txBody>
      </p:sp>
      <p:sp>
        <p:nvSpPr>
          <p:cNvPr id="3" name="Text 1"/>
          <p:cNvSpPr txBox="1"/>
          <p:nvPr/>
        </p:nvSpPr>
        <p:spPr>
          <a:xfrm>
            <a:off x="1481328" y="1143000"/>
            <a:ext cx="15672816" cy="1828800"/>
          </a:xfrm>
          <a:prstGeom prst="rect">
            <a:avLst/>
          </a:prstGeom>
          <a:noFill/>
          <a:ln/>
        </p:spPr>
        <p:txBody>
          <a:bodyPr wrap="square" lIns="0" tIns="0" rIns="0" bIns="0" rtlCol="0" anchor="t"/>
          <a:lstStyle/>
          <a:p>
            <a:pPr indent="0" marL="0">
              <a:lnSpc>
                <a:spcPts val="4956"/>
              </a:lnSpc>
              <a:buNone/>
            </a:pPr>
            <a:r>
              <a:rPr lang="en-US" sz="4200" dirty="0">
                <a:solidFill>
                  <a:srgbClr val="FFFFFF"/>
                </a:solidFill>
                <a:latin typeface="Poppins Bold" pitchFamily="34" charset="0"/>
                <a:ea typeface="Poppins Bold" pitchFamily="34" charset="-122"/>
                <a:cs typeface="Poppins Bold" pitchFamily="34" charset="-120"/>
              </a:rPr>
              <a:t>I started in a spare room with a folding table.</a:t>
            </a:r>
            <a:endParaRPr lang="en-US" sz="4200" dirty="0"/>
          </a:p>
        </p:txBody>
      </p:sp>
      <p:sp>
        <p:nvSpPr>
          <p:cNvPr id="4" name="Shape 2"/>
          <p:cNvSpPr/>
          <p:nvPr/>
        </p:nvSpPr>
        <p:spPr>
          <a:xfrm>
            <a:off x="1444752" y="3026664"/>
            <a:ext cx="3625596" cy="4736592"/>
          </a:xfrm>
          <a:prstGeom prst="rect">
            <a:avLst/>
          </a:prstGeom>
          <a:solidFill>
            <a:srgbClr val="262026"/>
          </a:solidFill>
          <a:ln/>
        </p:spPr>
      </p:sp>
      <p:pic>
        <p:nvPicPr>
          <p:cNvPr id="5" name="Image 0" descr="media/room-start.jpeg">    </p:cNvPr>
          <p:cNvPicPr>
            <a:picLocks noChangeAspect="1"/>
          </p:cNvPicPr>
          <p:nvPr/>
        </p:nvPicPr>
        <p:blipFill>
          <a:blip r:embed="rId1"/>
          <a:srcRect l="0" r="0" t="0" b="0"/>
          <a:stretch/>
        </p:blipFill>
        <p:spPr>
          <a:xfrm>
            <a:off x="1481328" y="3063240"/>
            <a:ext cx="3552444" cy="4663440"/>
          </a:xfrm>
          <a:prstGeom prst="rect">
            <a:avLst/>
          </a:prstGeom>
        </p:spPr>
      </p:pic>
      <p:sp>
        <p:nvSpPr>
          <p:cNvPr id="6" name="Text 3"/>
          <p:cNvSpPr txBox="1"/>
          <p:nvPr/>
        </p:nvSpPr>
        <p:spPr>
          <a:xfrm>
            <a:off x="1481328" y="7882128"/>
            <a:ext cx="355244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THE FIRST ROOM</a:t>
            </a:r>
            <a:endParaRPr lang="en-US" sz="1275" dirty="0"/>
          </a:p>
        </p:txBody>
      </p:sp>
      <p:sp>
        <p:nvSpPr>
          <p:cNvPr id="7" name="Shape 4"/>
          <p:cNvSpPr/>
          <p:nvPr/>
        </p:nvSpPr>
        <p:spPr>
          <a:xfrm>
            <a:off x="5362956" y="3026664"/>
            <a:ext cx="3625596" cy="4736592"/>
          </a:xfrm>
          <a:prstGeom prst="rect">
            <a:avLst/>
          </a:prstGeom>
          <a:solidFill>
            <a:srgbClr val="262026"/>
          </a:solidFill>
          <a:ln/>
        </p:spPr>
      </p:sp>
      <p:pic>
        <p:nvPicPr>
          <p:cNvPr id="8" name="Image 1" descr="media/room-21.jpeg">    </p:cNvPr>
          <p:cNvPicPr>
            <a:picLocks noChangeAspect="1"/>
          </p:cNvPicPr>
          <p:nvPr/>
        </p:nvPicPr>
        <p:blipFill>
          <a:blip r:embed="rId2"/>
          <a:srcRect l="0" r="0" t="0" b="0"/>
          <a:stretch/>
        </p:blipFill>
        <p:spPr>
          <a:xfrm>
            <a:off x="5399532" y="3063240"/>
            <a:ext cx="3552444" cy="4663440"/>
          </a:xfrm>
          <a:prstGeom prst="rect">
            <a:avLst/>
          </a:prstGeom>
        </p:spPr>
      </p:pic>
      <p:sp>
        <p:nvSpPr>
          <p:cNvPr id="9" name="Text 5"/>
          <p:cNvSpPr txBox="1"/>
          <p:nvPr/>
        </p:nvSpPr>
        <p:spPr>
          <a:xfrm>
            <a:off x="5399532" y="7882128"/>
            <a:ext cx="355244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AT TWENTY-ONE</a:t>
            </a:r>
            <a:endParaRPr lang="en-US" sz="1275" dirty="0"/>
          </a:p>
        </p:txBody>
      </p:sp>
      <p:sp>
        <p:nvSpPr>
          <p:cNvPr id="10" name="Shape 6"/>
          <p:cNvSpPr/>
          <p:nvPr/>
        </p:nvSpPr>
        <p:spPr>
          <a:xfrm>
            <a:off x="9281160" y="3026664"/>
            <a:ext cx="3625596" cy="4736592"/>
          </a:xfrm>
          <a:prstGeom prst="rect">
            <a:avLst/>
          </a:prstGeom>
          <a:solidFill>
            <a:srgbClr val="262026"/>
          </a:solidFill>
          <a:ln/>
        </p:spPr>
      </p:sp>
      <p:pic>
        <p:nvPicPr>
          <p:cNvPr id="11" name="Image 2" descr="media/room-mid.jpeg">    </p:cNvPr>
          <p:cNvPicPr>
            <a:picLocks noChangeAspect="1"/>
          </p:cNvPicPr>
          <p:nvPr/>
        </p:nvPicPr>
        <p:blipFill>
          <a:blip r:embed="rId3"/>
          <a:srcRect l="0" r="0" t="0" b="0"/>
          <a:stretch/>
        </p:blipFill>
        <p:spPr>
          <a:xfrm>
            <a:off x="9317736" y="3063240"/>
            <a:ext cx="3552444" cy="4663440"/>
          </a:xfrm>
          <a:prstGeom prst="rect">
            <a:avLst/>
          </a:prstGeom>
        </p:spPr>
      </p:pic>
      <p:sp>
        <p:nvSpPr>
          <p:cNvPr id="12" name="Text 7"/>
          <p:cNvSpPr txBox="1"/>
          <p:nvPr/>
        </p:nvSpPr>
        <p:spPr>
          <a:xfrm>
            <a:off x="9317736" y="7882128"/>
            <a:ext cx="355244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THE NEXT ONE</a:t>
            </a:r>
            <a:endParaRPr lang="en-US" sz="1275" dirty="0"/>
          </a:p>
        </p:txBody>
      </p:sp>
      <p:sp>
        <p:nvSpPr>
          <p:cNvPr id="13" name="Shape 8"/>
          <p:cNvSpPr/>
          <p:nvPr/>
        </p:nvSpPr>
        <p:spPr>
          <a:xfrm>
            <a:off x="13199364" y="3026664"/>
            <a:ext cx="3625596" cy="4736592"/>
          </a:xfrm>
          <a:prstGeom prst="rect">
            <a:avLst/>
          </a:prstGeom>
          <a:solidFill>
            <a:srgbClr val="262026"/>
          </a:solidFill>
          <a:ln/>
        </p:spPr>
      </p:sp>
      <p:pic>
        <p:nvPicPr>
          <p:cNvPr id="14" name="Image 3" descr="media/luxe-room.jpeg">    </p:cNvPr>
          <p:cNvPicPr>
            <a:picLocks noChangeAspect="1"/>
          </p:cNvPicPr>
          <p:nvPr/>
        </p:nvPicPr>
        <p:blipFill>
          <a:blip r:embed="rId4"/>
          <a:srcRect l="0" r="0" t="0" b="0"/>
          <a:stretch/>
        </p:blipFill>
        <p:spPr>
          <a:xfrm>
            <a:off x="13235940" y="3063240"/>
            <a:ext cx="3552444" cy="4663440"/>
          </a:xfrm>
          <a:prstGeom prst="rect">
            <a:avLst/>
          </a:prstGeom>
        </p:spPr>
      </p:pic>
      <p:sp>
        <p:nvSpPr>
          <p:cNvPr id="15" name="Text 9"/>
          <p:cNvSpPr txBox="1"/>
          <p:nvPr/>
        </p:nvSpPr>
        <p:spPr>
          <a:xfrm>
            <a:off x="13235940" y="7882128"/>
            <a:ext cx="355244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THE LUXE LASH ROOM</a:t>
            </a:r>
            <a:endParaRPr lang="en-US" sz="1275" dirty="0"/>
          </a:p>
        </p:txBody>
      </p:sp>
      <p:sp>
        <p:nvSpPr>
          <p:cNvPr id="16" name="Text 10"/>
          <p:cNvSpPr txBox="1"/>
          <p:nvPr/>
        </p:nvSpPr>
        <p:spPr>
          <a:xfrm>
            <a:off x="1481328" y="8887968"/>
            <a:ext cx="15672816" cy="640080"/>
          </a:xfrm>
          <a:prstGeom prst="rect">
            <a:avLst/>
          </a:prstGeom>
          <a:noFill/>
          <a:ln/>
        </p:spPr>
        <p:txBody>
          <a:bodyPr wrap="square" lIns="0" tIns="0" rIns="0" bIns="0" rtlCol="0" anchor="ctr"/>
          <a:lstStyle/>
          <a:p>
            <a:pPr indent="0" marL="0">
              <a:buNone/>
            </a:pPr>
            <a:r>
              <a:rPr lang="en-US" sz="1725" i="1" dirty="0">
                <a:solidFill>
                  <a:srgbClr val="B9B3BB"/>
                </a:solidFill>
                <a:latin typeface="Poppins Italics" pitchFamily="34" charset="0"/>
                <a:ea typeface="Poppins Italics" pitchFamily="34" charset="-122"/>
                <a:cs typeface="Poppins Italics" pitchFamily="34" charset="-120"/>
              </a:rPr>
              <a:t>Nine years. Same hands. The rooms only changed because the work got better.</a:t>
            </a:r>
            <a:endParaRPr lang="en-US" sz="1725"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THIS IS MY WORK</a:t>
            </a:r>
            <a:endParaRPr lang="en-US" sz="1500" dirty="0"/>
          </a:p>
        </p:txBody>
      </p:sp>
      <p:sp>
        <p:nvSpPr>
          <p:cNvPr id="3" name="Text 1"/>
          <p:cNvSpPr txBox="1"/>
          <p:nvPr/>
        </p:nvSpPr>
        <p:spPr>
          <a:xfrm>
            <a:off x="1481328" y="1143000"/>
            <a:ext cx="15672816" cy="2194560"/>
          </a:xfrm>
          <a:prstGeom prst="rect">
            <a:avLst/>
          </a:prstGeom>
          <a:noFill/>
          <a:ln/>
        </p:spPr>
        <p:txBody>
          <a:bodyPr wrap="square" lIns="0" tIns="0" rIns="0" bIns="0" rtlCol="0" anchor="t"/>
          <a:lstStyle/>
          <a:p>
            <a:pPr indent="0" marL="0">
              <a:lnSpc>
                <a:spcPts val="4484"/>
              </a:lnSpc>
              <a:buNone/>
            </a:pPr>
            <a:r>
              <a:rPr lang="en-US" sz="3800" dirty="0">
                <a:solidFill>
                  <a:srgbClr val="FFFFFF"/>
                </a:solidFill>
                <a:latin typeface="Poppins Bold" pitchFamily="34" charset="0"/>
                <a:ea typeface="Poppins Bold" pitchFamily="34" charset="-122"/>
                <a:cs typeface="Poppins Bold" pitchFamily="34" charset="-120"/>
              </a:rPr>
              <a:t>Every set I am about to teach you about
</a:t>
            </a:r>
            <a:pPr indent="0" marL="0">
              <a:lnSpc>
                <a:spcPts val="4484"/>
              </a:lnSpc>
              <a:buNone/>
            </a:pPr>
            <a:r>
              <a:rPr lang="en-US" sz="3800" i="1" dirty="0">
                <a:solidFill>
                  <a:srgbClr val="D4AF37"/>
                </a:solidFill>
                <a:latin typeface="Poppins Italics" pitchFamily="34" charset="0"/>
                <a:ea typeface="Poppins Italics" pitchFamily="34" charset="-122"/>
                <a:cs typeface="Poppins Italics" pitchFamily="34" charset="-120"/>
              </a:rPr>
              <a:t>is a set I have done myself.</a:t>
            </a:r>
            <a:endParaRPr lang="en-US" sz="3800" dirty="0"/>
          </a:p>
        </p:txBody>
      </p:sp>
      <p:sp>
        <p:nvSpPr>
          <p:cNvPr id="4" name="Shape 2"/>
          <p:cNvSpPr/>
          <p:nvPr/>
        </p:nvSpPr>
        <p:spPr>
          <a:xfrm>
            <a:off x="1444752" y="3483864"/>
            <a:ext cx="4895088" cy="4507992"/>
          </a:xfrm>
          <a:prstGeom prst="rect">
            <a:avLst/>
          </a:prstGeom>
          <a:solidFill>
            <a:srgbClr val="262026"/>
          </a:solidFill>
          <a:ln/>
        </p:spPr>
      </p:sp>
      <p:pic>
        <p:nvPicPr>
          <p:cNvPr id="5" name="Image 0" descr="media/work-1.jpeg">    </p:cNvPr>
          <p:cNvPicPr>
            <a:picLocks noChangeAspect="1"/>
          </p:cNvPicPr>
          <p:nvPr/>
        </p:nvPicPr>
        <p:blipFill>
          <a:blip r:embed="rId1"/>
          <a:srcRect l="0" r="0" t="0" b="0"/>
          <a:stretch/>
        </p:blipFill>
        <p:spPr>
          <a:xfrm>
            <a:off x="1481328" y="3520440"/>
            <a:ext cx="4821936" cy="4434840"/>
          </a:xfrm>
          <a:prstGeom prst="rect">
            <a:avLst/>
          </a:prstGeom>
        </p:spPr>
      </p:pic>
      <p:sp>
        <p:nvSpPr>
          <p:cNvPr id="6" name="Text 3"/>
          <p:cNvSpPr txBox="1"/>
          <p:nvPr/>
        </p:nvSpPr>
        <p:spPr>
          <a:xfrm>
            <a:off x="1481328" y="8101584"/>
            <a:ext cx="4821936"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THREE WEEK RETENTION</a:t>
            </a:r>
            <a:endParaRPr lang="en-US" sz="1275" dirty="0"/>
          </a:p>
        </p:txBody>
      </p:sp>
      <p:sp>
        <p:nvSpPr>
          <p:cNvPr id="7" name="Shape 4"/>
          <p:cNvSpPr/>
          <p:nvPr/>
        </p:nvSpPr>
        <p:spPr>
          <a:xfrm>
            <a:off x="6669024" y="3483864"/>
            <a:ext cx="4895088" cy="4507992"/>
          </a:xfrm>
          <a:prstGeom prst="rect">
            <a:avLst/>
          </a:prstGeom>
          <a:solidFill>
            <a:srgbClr val="262026"/>
          </a:solidFill>
          <a:ln/>
        </p:spPr>
      </p:sp>
      <p:pic>
        <p:nvPicPr>
          <p:cNvPr id="8" name="Image 1" descr="media/work-2.jpeg">    </p:cNvPr>
          <p:cNvPicPr>
            <a:picLocks noChangeAspect="1"/>
          </p:cNvPicPr>
          <p:nvPr/>
        </p:nvPicPr>
        <p:blipFill>
          <a:blip r:embed="rId2"/>
          <a:srcRect l="0" r="0" t="0" b="0"/>
          <a:stretch/>
        </p:blipFill>
        <p:spPr>
          <a:xfrm>
            <a:off x="6705600" y="3520440"/>
            <a:ext cx="4821936" cy="4434840"/>
          </a:xfrm>
          <a:prstGeom prst="rect">
            <a:avLst/>
          </a:prstGeom>
        </p:spPr>
      </p:pic>
      <p:sp>
        <p:nvSpPr>
          <p:cNvPr id="9" name="Text 5"/>
          <p:cNvSpPr txBox="1"/>
          <p:nvPr/>
        </p:nvSpPr>
        <p:spPr>
          <a:xfrm>
            <a:off x="6705600" y="8101584"/>
            <a:ext cx="4821936"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NATURAL SET, FULL FILL</a:t>
            </a:r>
            <a:endParaRPr lang="en-US" sz="1275" dirty="0"/>
          </a:p>
        </p:txBody>
      </p:sp>
      <p:sp>
        <p:nvSpPr>
          <p:cNvPr id="10" name="Shape 6"/>
          <p:cNvSpPr/>
          <p:nvPr/>
        </p:nvSpPr>
        <p:spPr>
          <a:xfrm>
            <a:off x="11893296" y="3483864"/>
            <a:ext cx="4895088" cy="4507992"/>
          </a:xfrm>
          <a:prstGeom prst="rect">
            <a:avLst/>
          </a:prstGeom>
          <a:solidFill>
            <a:srgbClr val="262026"/>
          </a:solidFill>
          <a:ln/>
        </p:spPr>
      </p:sp>
      <p:pic>
        <p:nvPicPr>
          <p:cNvPr id="11" name="Image 2" descr="media/work-ba.jpeg">    </p:cNvPr>
          <p:cNvPicPr>
            <a:picLocks noChangeAspect="1"/>
          </p:cNvPicPr>
          <p:nvPr/>
        </p:nvPicPr>
        <p:blipFill>
          <a:blip r:embed="rId3"/>
          <a:srcRect l="0" r="0" t="0" b="0"/>
          <a:stretch/>
        </p:blipFill>
        <p:spPr>
          <a:xfrm>
            <a:off x="11929872" y="3520440"/>
            <a:ext cx="4821936" cy="4434840"/>
          </a:xfrm>
          <a:prstGeom prst="rect">
            <a:avLst/>
          </a:prstGeom>
        </p:spPr>
      </p:pic>
      <p:sp>
        <p:nvSpPr>
          <p:cNvPr id="12" name="Text 7"/>
          <p:cNvSpPr txBox="1"/>
          <p:nvPr/>
        </p:nvSpPr>
        <p:spPr>
          <a:xfrm>
            <a:off x="11929872" y="8101584"/>
            <a:ext cx="4821936"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BEFORE AND AFTER</a:t>
            </a:r>
            <a:endParaRPr lang="en-US" sz="1275" dirty="0"/>
          </a:p>
        </p:txBody>
      </p:sp>
      <p:sp>
        <p:nvSpPr>
          <p:cNvPr id="13" name="Text 8"/>
          <p:cNvSpPr txBox="1"/>
          <p:nvPr/>
        </p:nvSpPr>
        <p:spPr>
          <a:xfrm>
            <a:off x="1481328" y="8887968"/>
            <a:ext cx="15672816" cy="640080"/>
          </a:xfrm>
          <a:prstGeom prst="rect">
            <a:avLst/>
          </a:prstGeom>
          <a:noFill/>
          <a:ln/>
        </p:spPr>
        <p:txBody>
          <a:bodyPr wrap="square" lIns="0" tIns="0" rIns="0" bIns="0" rtlCol="0" anchor="ctr"/>
          <a:lstStyle/>
          <a:p>
            <a:pPr indent="0" marL="0">
              <a:buNone/>
            </a:pPr>
            <a:r>
              <a:rPr lang="en-US" sz="1725" i="1" dirty="0">
                <a:solidFill>
                  <a:srgbClr val="B9B3BB"/>
                </a:solidFill>
                <a:latin typeface="Poppins Italics" pitchFamily="34" charset="0"/>
                <a:ea typeface="Poppins Italics" pitchFamily="34" charset="-122"/>
                <a:cs typeface="Poppins Italics" pitchFamily="34" charset="-120"/>
              </a:rPr>
              <a:t>My own sets last three weeks. Some of my clients tell me a month.</a:t>
            </a:r>
            <a:endParaRPr lang="en-US" sz="172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AND THIS IS WHAT IT SOUNDS LIKE WHEN IT LASTS</a:t>
            </a:r>
            <a:endParaRPr lang="en-US" sz="1500" dirty="0"/>
          </a:p>
        </p:txBody>
      </p:sp>
      <p:sp>
        <p:nvSpPr>
          <p:cNvPr id="3" name="Text 1"/>
          <p:cNvSpPr txBox="1"/>
          <p:nvPr/>
        </p:nvSpPr>
        <p:spPr>
          <a:xfrm>
            <a:off x="1481328" y="1143000"/>
            <a:ext cx="8275320" cy="1828800"/>
          </a:xfrm>
          <a:prstGeom prst="rect">
            <a:avLst/>
          </a:prstGeom>
          <a:noFill/>
          <a:ln/>
        </p:spPr>
        <p:txBody>
          <a:bodyPr wrap="square" lIns="0" tIns="0" rIns="0" bIns="0" rtlCol="0" anchor="t"/>
          <a:lstStyle/>
          <a:p>
            <a:pPr indent="0" marL="0">
              <a:lnSpc>
                <a:spcPts val="4956"/>
              </a:lnSpc>
              <a:buNone/>
            </a:pPr>
            <a:r>
              <a:rPr lang="en-US" sz="4200" dirty="0">
                <a:solidFill>
                  <a:srgbClr val="FFFFFF"/>
                </a:solidFill>
                <a:latin typeface="Poppins Bold" pitchFamily="34" charset="0"/>
                <a:ea typeface="Poppins Bold" pitchFamily="34" charset="-122"/>
                <a:cs typeface="Poppins Bold" pitchFamily="34" charset="-120"/>
              </a:rPr>
              <a:t>Not my words. Theirs.</a:t>
            </a:r>
            <a:endParaRPr lang="en-US" sz="4200" dirty="0"/>
          </a:p>
        </p:txBody>
      </p:sp>
      <p:sp>
        <p:nvSpPr>
          <p:cNvPr id="4" name="Shape 2"/>
          <p:cNvSpPr/>
          <p:nvPr/>
        </p:nvSpPr>
        <p:spPr>
          <a:xfrm>
            <a:off x="1444752" y="3209544"/>
            <a:ext cx="7936992" cy="4005072"/>
          </a:xfrm>
          <a:prstGeom prst="rect">
            <a:avLst/>
          </a:prstGeom>
          <a:solidFill>
            <a:srgbClr val="262026"/>
          </a:solidFill>
          <a:ln/>
        </p:spPr>
      </p:sp>
      <p:pic>
        <p:nvPicPr>
          <p:cNvPr id="5" name="Image 0" descr="media/review-1.jpeg">    </p:cNvPr>
          <p:cNvPicPr>
            <a:picLocks noChangeAspect="1"/>
          </p:cNvPicPr>
          <p:nvPr/>
        </p:nvPicPr>
        <p:blipFill>
          <a:blip r:embed="rId1"/>
          <a:srcRect l="0" r="0" t="0" b="0"/>
          <a:stretch/>
        </p:blipFill>
        <p:spPr>
          <a:xfrm>
            <a:off x="1481328" y="3246120"/>
            <a:ext cx="7863840" cy="3931920"/>
          </a:xfrm>
          <a:prstGeom prst="rect">
            <a:avLst/>
          </a:prstGeom>
        </p:spPr>
      </p:pic>
      <p:sp>
        <p:nvSpPr>
          <p:cNvPr id="6" name="Shape 3"/>
          <p:cNvSpPr/>
          <p:nvPr/>
        </p:nvSpPr>
        <p:spPr>
          <a:xfrm>
            <a:off x="9674352" y="3209544"/>
            <a:ext cx="7516368" cy="4005072"/>
          </a:xfrm>
          <a:prstGeom prst="rect">
            <a:avLst/>
          </a:prstGeom>
          <a:solidFill>
            <a:srgbClr val="262026"/>
          </a:solidFill>
          <a:ln/>
        </p:spPr>
      </p:sp>
      <p:pic>
        <p:nvPicPr>
          <p:cNvPr id="7" name="Image 1" descr="media/review-2.jpeg">    </p:cNvPr>
          <p:cNvPicPr>
            <a:picLocks noChangeAspect="1"/>
          </p:cNvPicPr>
          <p:nvPr/>
        </p:nvPicPr>
        <p:blipFill>
          <a:blip r:embed="rId2"/>
          <a:srcRect l="0" r="0" t="0" b="0"/>
          <a:stretch/>
        </p:blipFill>
        <p:spPr>
          <a:xfrm>
            <a:off x="9710928" y="3246120"/>
            <a:ext cx="7443216" cy="3931920"/>
          </a:xfrm>
          <a:prstGeom prst="rect">
            <a:avLst/>
          </a:prstGeom>
        </p:spPr>
      </p:pic>
      <p:sp>
        <p:nvSpPr>
          <p:cNvPr id="8" name="Text 4"/>
          <p:cNvSpPr txBox="1"/>
          <p:nvPr/>
        </p:nvSpPr>
        <p:spPr>
          <a:xfrm>
            <a:off x="1481328" y="7452360"/>
            <a:ext cx="15672816" cy="457200"/>
          </a:xfrm>
          <a:prstGeom prst="rect">
            <a:avLst/>
          </a:prstGeom>
          <a:noFill/>
          <a:ln/>
        </p:spPr>
        <p:txBody>
          <a:bodyPr wrap="square" lIns="0" tIns="0" rIns="0" bIns="0" rtlCol="0" anchor="ctr"/>
          <a:lstStyle/>
          <a:p>
            <a:pPr indent="0" marL="0">
              <a:buNone/>
            </a:pPr>
            <a:r>
              <a:rPr lang="en-US" sz="1500" dirty="0">
                <a:solidFill>
                  <a:srgbClr val="B9B3BB"/>
                </a:solidFill>
                <a:latin typeface="Poppins" pitchFamily="34" charset="0"/>
                <a:ea typeface="Poppins" pitchFamily="34" charset="-122"/>
                <a:cs typeface="Poppins" pitchFamily="34" charset="-120"/>
              </a:rPr>
              <a:t>Real client reviews. Individual results vary.</a:t>
            </a:r>
            <a:endParaRPr lang="en-US" sz="1500" dirty="0"/>
          </a:p>
        </p:txBody>
      </p:sp>
      <p:sp>
        <p:nvSpPr>
          <p:cNvPr id="9" name="Shape 5"/>
          <p:cNvSpPr/>
          <p:nvPr/>
        </p:nvSpPr>
        <p:spPr>
          <a:xfrm>
            <a:off x="1481328" y="8275320"/>
            <a:ext cx="15672816" cy="10973"/>
          </a:xfrm>
          <a:prstGeom prst="rect">
            <a:avLst/>
          </a:prstGeom>
          <a:solidFill>
            <a:srgbClr val="262026"/>
          </a:solidFill>
          <a:ln/>
        </p:spPr>
      </p:sp>
      <p:sp>
        <p:nvSpPr>
          <p:cNvPr id="10" name="Text 6"/>
          <p:cNvSpPr txBox="1"/>
          <p:nvPr/>
        </p:nvSpPr>
        <p:spPr>
          <a:xfrm>
            <a:off x="1481328" y="8549640"/>
            <a:ext cx="15672816" cy="731520"/>
          </a:xfrm>
          <a:prstGeom prst="rect">
            <a:avLst/>
          </a:prstGeom>
          <a:noFill/>
          <a:ln/>
        </p:spPr>
        <p:txBody>
          <a:bodyPr wrap="square" lIns="0" tIns="0" rIns="0" bIns="0" rtlCol="0" anchor="ctr"/>
          <a:lstStyle/>
          <a:p>
            <a:pPr indent="0" marL="0">
              <a:buNone/>
            </a:pPr>
            <a:r>
              <a:rPr lang="en-US" sz="2000" i="1" dirty="0">
                <a:solidFill>
                  <a:srgbClr val="D4AF37"/>
                </a:solidFill>
                <a:latin typeface="Poppins Italics" pitchFamily="34" charset="0"/>
                <a:ea typeface="Poppins Italics" pitchFamily="34" charset="-122"/>
                <a:cs typeface="Poppins Italics" pitchFamily="34" charset="-120"/>
              </a:rPr>
              <a:t>A client who comes back every two weeks for a year is what good retention actually looks like on your calendar.</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LET ME TELL YOU WHAT HAPPENS</a:t>
            </a:r>
            <a:endParaRPr lang="en-US" sz="1500" dirty="0"/>
          </a:p>
        </p:txBody>
      </p:sp>
      <p:sp>
        <p:nvSpPr>
          <p:cNvPr id="3" name="Text 1"/>
          <p:cNvSpPr txBox="1"/>
          <p:nvPr/>
        </p:nvSpPr>
        <p:spPr>
          <a:xfrm>
            <a:off x="1481328" y="2377440"/>
            <a:ext cx="9372600" cy="1828800"/>
          </a:xfrm>
          <a:prstGeom prst="rect">
            <a:avLst/>
          </a:prstGeom>
          <a:noFill/>
          <a:ln/>
        </p:spPr>
        <p:txBody>
          <a:bodyPr wrap="square" lIns="0" tIns="0" rIns="0" bIns="0" rtlCol="0" anchor="t"/>
          <a:lstStyle/>
          <a:p>
            <a:pPr indent="0" marL="0">
              <a:lnSpc>
                <a:spcPts val="6608"/>
              </a:lnSpc>
              <a:buNone/>
            </a:pPr>
            <a:r>
              <a:rPr lang="en-US" sz="5600" dirty="0">
                <a:solidFill>
                  <a:srgbClr val="FFFFFF"/>
                </a:solidFill>
                <a:latin typeface="Poppins Bold" pitchFamily="34" charset="0"/>
                <a:ea typeface="Poppins Bold" pitchFamily="34" charset="-122"/>
                <a:cs typeface="Poppins Bold" pitchFamily="34" charset="-120"/>
              </a:rPr>
              <a:t>Here is what happens
</a:t>
            </a:r>
            <a:pPr indent="0" marL="0">
              <a:lnSpc>
                <a:spcPts val="6608"/>
              </a:lnSpc>
              <a:buNone/>
            </a:pPr>
            <a:r>
              <a:rPr lang="en-US" sz="5600" i="1" dirty="0">
                <a:solidFill>
                  <a:srgbClr val="F600A2"/>
                </a:solidFill>
                <a:latin typeface="Poppins Italics" pitchFamily="34" charset="0"/>
                <a:ea typeface="Poppins Italics" pitchFamily="34" charset="-122"/>
                <a:cs typeface="Poppins Italics" pitchFamily="34" charset="-120"/>
              </a:rPr>
              <a:t>on day nine.</a:t>
            </a:r>
            <a:endParaRPr lang="en-US" sz="5600" dirty="0"/>
          </a:p>
        </p:txBody>
      </p:sp>
      <p:sp>
        <p:nvSpPr>
          <p:cNvPr id="4" name="Text 2"/>
          <p:cNvSpPr txBox="1"/>
          <p:nvPr/>
        </p:nvSpPr>
        <p:spPr>
          <a:xfrm>
            <a:off x="1481328" y="5669280"/>
            <a:ext cx="9372600" cy="2194560"/>
          </a:xfrm>
          <a:prstGeom prst="rect">
            <a:avLst/>
          </a:prstGeom>
          <a:noFill/>
          <a:ln/>
        </p:spPr>
        <p:txBody>
          <a:bodyPr wrap="square" lIns="0" tIns="0" rIns="0" bIns="0" rtlCol="0" anchor="ctr"/>
          <a:lstStyle/>
          <a:p>
            <a:pPr indent="0" marL="0">
              <a:lnSpc>
                <a:spcPts val="3400"/>
              </a:lnSpc>
              <a:buNone/>
            </a:pPr>
            <a:r>
              <a:rPr lang="en-US" sz="2100" dirty="0">
                <a:solidFill>
                  <a:srgbClr val="B9B3BB"/>
                </a:solidFill>
                <a:latin typeface="Poppins" pitchFamily="34" charset="0"/>
                <a:ea typeface="Poppins" pitchFamily="34" charset="-122"/>
                <a:cs typeface="Poppins" pitchFamily="34" charset="-120"/>
              </a:rPr>
              <a:t>She sends the photo. Half the set, and a message that starts with “hey, so...”</a:t>
            </a:r>
            <a:endParaRPr lang="en-US" sz="2100" dirty="0"/>
          </a:p>
          <a:p>
            <a:pPr indent="0" marL="0">
              <a:lnSpc>
                <a:spcPts val="3400"/>
              </a:lnSpc>
              <a:buNone/>
            </a:pPr>
            <a:endParaRPr lang="en-US" sz="2100" dirty="0"/>
          </a:p>
          <a:p>
            <a:pPr indent="0" marL="0">
              <a:lnSpc>
                <a:spcPts val="3400"/>
              </a:lnSpc>
              <a:buNone/>
            </a:pPr>
            <a:r>
              <a:rPr lang="en-US" sz="2100" dirty="0">
                <a:solidFill>
                  <a:srgbClr val="B9B3BB"/>
                </a:solidFill>
                <a:latin typeface="Poppins" pitchFamily="34" charset="0"/>
                <a:ea typeface="Poppins" pitchFamily="34" charset="-122"/>
                <a:cs typeface="Poppins" pitchFamily="34" charset="-120"/>
              </a:rPr>
              <a:t>You already know what it says before you open it.</a:t>
            </a:r>
            <a:endParaRPr lang="en-US" sz="2100" dirty="0"/>
          </a:p>
        </p:txBody>
      </p:sp>
      <p:sp>
        <p:nvSpPr>
          <p:cNvPr id="5" name="Shape 3"/>
          <p:cNvSpPr/>
          <p:nvPr/>
        </p:nvSpPr>
        <p:spPr>
          <a:xfrm>
            <a:off x="10844784" y="1883664"/>
            <a:ext cx="6345936" cy="6108192"/>
          </a:xfrm>
          <a:prstGeom prst="rect">
            <a:avLst/>
          </a:prstGeom>
          <a:solidFill>
            <a:srgbClr val="262026"/>
          </a:solidFill>
          <a:ln/>
        </p:spPr>
      </p:sp>
      <p:pic>
        <p:nvPicPr>
          <p:cNvPr id="6" name="Image 0" descr="media/lash-close-2.jpeg">    </p:cNvPr>
          <p:cNvPicPr>
            <a:picLocks noChangeAspect="1"/>
          </p:cNvPicPr>
          <p:nvPr/>
        </p:nvPicPr>
        <p:blipFill>
          <a:blip r:embed="rId1"/>
          <a:srcRect l="0" r="0" t="0" b="0"/>
          <a:stretch/>
        </p:blipFill>
        <p:spPr>
          <a:xfrm>
            <a:off x="10881360" y="1920240"/>
            <a:ext cx="6272784" cy="60350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AND THEN WHAT HAPPENS</a:t>
            </a:r>
            <a:endParaRPr lang="en-US" sz="1500" dirty="0"/>
          </a:p>
        </p:txBody>
      </p:sp>
      <p:sp>
        <p:nvSpPr>
          <p:cNvPr id="3" name="Text 1"/>
          <p:cNvSpPr txBox="1"/>
          <p:nvPr/>
        </p:nvSpPr>
        <p:spPr>
          <a:xfrm>
            <a:off x="1481328" y="1234440"/>
            <a:ext cx="9555480" cy="1828800"/>
          </a:xfrm>
          <a:prstGeom prst="rect">
            <a:avLst/>
          </a:prstGeom>
          <a:noFill/>
          <a:ln/>
        </p:spPr>
        <p:txBody>
          <a:bodyPr wrap="square" lIns="0" tIns="0" rIns="0" bIns="0" rtlCol="0" anchor="t"/>
          <a:lstStyle/>
          <a:p>
            <a:pPr indent="0" marL="0">
              <a:lnSpc>
                <a:spcPts val="5900"/>
              </a:lnSpc>
              <a:buNone/>
            </a:pPr>
            <a:r>
              <a:rPr lang="en-US" sz="5000" dirty="0">
                <a:solidFill>
                  <a:srgbClr val="FFFFFF"/>
                </a:solidFill>
                <a:latin typeface="Poppins Bold" pitchFamily="34" charset="0"/>
                <a:ea typeface="Poppins Bold" pitchFamily="34" charset="-122"/>
                <a:cs typeface="Poppins Bold" pitchFamily="34" charset="-120"/>
              </a:rPr>
              <a:t>You quietly
</a:t>
            </a:r>
            <a:pPr indent="0" marL="0">
              <a:lnSpc>
                <a:spcPts val="5900"/>
              </a:lnSpc>
              <a:buNone/>
            </a:pPr>
            <a:r>
              <a:rPr lang="en-US" sz="5000" i="1" dirty="0">
                <a:solidFill>
                  <a:srgbClr val="F600A2"/>
                </a:solidFill>
                <a:latin typeface="Poppins Italics" pitchFamily="34" charset="0"/>
                <a:ea typeface="Poppins Italics" pitchFamily="34" charset="-122"/>
                <a:cs typeface="Poppins Italics" pitchFamily="34" charset="-120"/>
              </a:rPr>
              <a:t>stop posting your work.</a:t>
            </a:r>
            <a:endParaRPr lang="en-US" sz="5000" dirty="0"/>
          </a:p>
        </p:txBody>
      </p:sp>
      <p:sp>
        <p:nvSpPr>
          <p:cNvPr id="4" name="Text 2"/>
          <p:cNvSpPr txBox="1"/>
          <p:nvPr/>
        </p:nvSpPr>
        <p:spPr>
          <a:xfrm>
            <a:off x="1481328" y="4160520"/>
            <a:ext cx="9555480" cy="4023360"/>
          </a:xfrm>
          <a:prstGeom prst="rect">
            <a:avLst/>
          </a:prstGeom>
          <a:noFill/>
          <a:ln/>
        </p:spPr>
        <p:txBody>
          <a:bodyPr wrap="square" lIns="0" tIns="0" rIns="0" bIns="0" rtlCol="0" anchor="ctr"/>
          <a:lstStyle/>
          <a:p>
            <a:pPr indent="0" marL="0">
              <a:lnSpc>
                <a:spcPts val="3300"/>
              </a:lnSpc>
              <a:buNone/>
            </a:pPr>
            <a:r>
              <a:rPr lang="en-US" sz="1950" dirty="0">
                <a:solidFill>
                  <a:srgbClr val="B9B3BB"/>
                </a:solidFill>
                <a:latin typeface="Poppins" pitchFamily="34" charset="0"/>
                <a:ea typeface="Poppins" pitchFamily="34" charset="-122"/>
                <a:cs typeface="Poppins" pitchFamily="34" charset="-120"/>
              </a:rPr>
              <a:t>You apologise. You offer to fix it for nothing. You spend two hours and your product on a set you already got paid for once, and you tell her it is no trouble.</a:t>
            </a:r>
            <a:endParaRPr lang="en-US" sz="1950" dirty="0"/>
          </a:p>
          <a:p>
            <a:pPr indent="0" marL="0">
              <a:lnSpc>
                <a:spcPts val="3300"/>
              </a:lnSpc>
              <a:buNone/>
            </a:pPr>
            <a:endParaRPr lang="en-US" sz="1950" dirty="0"/>
          </a:p>
          <a:p>
            <a:pPr indent="0" marL="0">
              <a:lnSpc>
                <a:spcPts val="3300"/>
              </a:lnSpc>
              <a:buNone/>
            </a:pPr>
            <a:r>
              <a:rPr lang="en-US" sz="1950" dirty="0">
                <a:solidFill>
                  <a:srgbClr val="B9B3BB"/>
                </a:solidFill>
                <a:latin typeface="Poppins" pitchFamily="34" charset="0"/>
                <a:ea typeface="Poppins" pitchFamily="34" charset="-122"/>
                <a:cs typeface="Poppins" pitchFamily="34" charset="-120"/>
              </a:rPr>
              <a:t>Not because you decided to stop posting. Because you are not sure it will last, and you cannot bear that conversation again.</a:t>
            </a:r>
            <a:endParaRPr lang="en-US" sz="1950" dirty="0"/>
          </a:p>
          <a:p>
            <a:pPr indent="0" marL="0">
              <a:lnSpc>
                <a:spcPts val="3300"/>
              </a:lnSpc>
              <a:buNone/>
            </a:pPr>
            <a:endParaRPr lang="en-US" sz="1950" dirty="0"/>
          </a:p>
          <a:p>
            <a:pPr indent="0" marL="0">
              <a:lnSpc>
                <a:spcPts val="3300"/>
              </a:lnSpc>
              <a:buNone/>
            </a:pPr>
            <a:r>
              <a:rPr lang="en-US" sz="1950" dirty="0">
                <a:solidFill>
                  <a:srgbClr val="B9B3BB"/>
                </a:solidFill>
                <a:latin typeface="Poppins" pitchFamily="34" charset="0"/>
                <a:ea typeface="Poppins" pitchFamily="34" charset="-122"/>
                <a:cs typeface="Poppins" pitchFamily="34" charset="-120"/>
              </a:rPr>
              <a:t>So you do not raise your price. You do not ask for the referral.</a:t>
            </a:r>
            <a:endParaRPr lang="en-US" sz="1950" dirty="0"/>
          </a:p>
        </p:txBody>
      </p:sp>
      <p:sp>
        <p:nvSpPr>
          <p:cNvPr id="5" name="Shape 3"/>
          <p:cNvSpPr/>
          <p:nvPr/>
        </p:nvSpPr>
        <p:spPr>
          <a:xfrm>
            <a:off x="11301984" y="1152144"/>
            <a:ext cx="5888736" cy="7022592"/>
          </a:xfrm>
          <a:prstGeom prst="rect">
            <a:avLst/>
          </a:prstGeom>
          <a:solidFill>
            <a:srgbClr val="262026"/>
          </a:solidFill>
          <a:ln/>
        </p:spPr>
      </p:sp>
      <p:pic>
        <p:nvPicPr>
          <p:cNvPr id="6" name="Image 0" descr="media/work-2.jpeg">    </p:cNvPr>
          <p:cNvPicPr>
            <a:picLocks noChangeAspect="1"/>
          </p:cNvPicPr>
          <p:nvPr/>
        </p:nvPicPr>
        <p:blipFill>
          <a:blip r:embed="rId1"/>
          <a:srcRect l="0" r="0" t="0" b="0"/>
          <a:stretch/>
        </p:blipFill>
        <p:spPr>
          <a:xfrm>
            <a:off x="11338560" y="1188720"/>
            <a:ext cx="5815584" cy="6949440"/>
          </a:xfrm>
          <a:prstGeom prst="rect">
            <a:avLst/>
          </a:prstGeom>
        </p:spPr>
      </p:pic>
      <p:sp>
        <p:nvSpPr>
          <p:cNvPr id="7" name="Text 4"/>
          <p:cNvSpPr txBox="1"/>
          <p:nvPr/>
        </p:nvSpPr>
        <p:spPr>
          <a:xfrm>
            <a:off x="1481328" y="8887968"/>
            <a:ext cx="9555480" cy="640080"/>
          </a:xfrm>
          <a:prstGeom prst="rect">
            <a:avLst/>
          </a:prstGeom>
          <a:noFill/>
          <a:ln/>
        </p:spPr>
        <p:txBody>
          <a:bodyPr wrap="square" lIns="0" tIns="0" rIns="0" bIns="0" rtlCol="0" anchor="ctr"/>
          <a:lstStyle/>
          <a:p>
            <a:pPr indent="0" marL="0">
              <a:buNone/>
            </a:pPr>
            <a:r>
              <a:rPr lang="en-US" sz="1725" i="1" dirty="0">
                <a:solidFill>
                  <a:srgbClr val="B9B3BB"/>
                </a:solidFill>
                <a:latin typeface="Poppins Italics" pitchFamily="34" charset="0"/>
                <a:ea typeface="Poppins Italics" pitchFamily="34" charset="-122"/>
                <a:cs typeface="Poppins Italics" pitchFamily="34" charset="-120"/>
              </a:rPr>
              <a:t>You get smaller, one apology at a time.</a:t>
            </a:r>
            <a:endParaRPr lang="en-US" sz="1725"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SO LET ME SAY THIS PLAIN</a:t>
            </a:r>
            <a:endParaRPr lang="en-US" sz="1500" dirty="0"/>
          </a:p>
        </p:txBody>
      </p:sp>
      <p:sp>
        <p:nvSpPr>
          <p:cNvPr id="3" name="Text 1"/>
          <p:cNvSpPr txBox="1"/>
          <p:nvPr/>
        </p:nvSpPr>
        <p:spPr>
          <a:xfrm>
            <a:off x="1481328" y="2148840"/>
            <a:ext cx="15672816" cy="3017520"/>
          </a:xfrm>
          <a:prstGeom prst="rect">
            <a:avLst/>
          </a:prstGeom>
          <a:noFill/>
          <a:ln/>
        </p:spPr>
        <p:txBody>
          <a:bodyPr wrap="square" lIns="0" tIns="0" rIns="0" bIns="0" rtlCol="0" anchor="t"/>
          <a:lstStyle/>
          <a:p>
            <a:pPr indent="0" marL="0">
              <a:lnSpc>
                <a:spcPts val="6400"/>
              </a:lnSpc>
              <a:buNone/>
            </a:pPr>
            <a:r>
              <a:rPr lang="en-US" sz="5200" dirty="0">
                <a:solidFill>
                  <a:srgbClr val="FFFFFF"/>
                </a:solidFill>
                <a:latin typeface="Poppins Bold" pitchFamily="34" charset="0"/>
                <a:ea typeface="Poppins Bold" pitchFamily="34" charset="-122"/>
                <a:cs typeface="Poppins Bold" pitchFamily="34" charset="-120"/>
              </a:rPr>
              <a:t>Bad retention is not
a talent problem.
</a:t>
            </a:r>
            <a:pPr indent="0" marL="0">
              <a:lnSpc>
                <a:spcPts val="6400"/>
              </a:lnSpc>
              <a:buNone/>
            </a:pPr>
            <a:r>
              <a:rPr lang="en-US" sz="5200" i="1" dirty="0">
                <a:solidFill>
                  <a:srgbClr val="F600A2"/>
                </a:solidFill>
                <a:latin typeface="Poppins Italics" pitchFamily="34" charset="0"/>
                <a:ea typeface="Poppins Italics" pitchFamily="34" charset="-122"/>
                <a:cs typeface="Poppins Italics" pitchFamily="34" charset="-120"/>
              </a:rPr>
              <a:t>It is a chemistry problem.</a:t>
            </a:r>
            <a:endParaRPr lang="en-US" sz="5200" dirty="0"/>
          </a:p>
        </p:txBody>
      </p:sp>
      <p:sp>
        <p:nvSpPr>
          <p:cNvPr id="4" name="Shape 2"/>
          <p:cNvSpPr/>
          <p:nvPr/>
        </p:nvSpPr>
        <p:spPr>
          <a:xfrm>
            <a:off x="1481328" y="7452360"/>
            <a:ext cx="15672816" cy="10973"/>
          </a:xfrm>
          <a:prstGeom prst="rect">
            <a:avLst/>
          </a:prstGeom>
          <a:solidFill>
            <a:srgbClr val="262026"/>
          </a:solidFill>
          <a:ln/>
        </p:spPr>
      </p:sp>
      <p:sp>
        <p:nvSpPr>
          <p:cNvPr id="5" name="Text 3"/>
          <p:cNvSpPr txBox="1"/>
          <p:nvPr/>
        </p:nvSpPr>
        <p:spPr>
          <a:xfrm>
            <a:off x="1481328" y="7772400"/>
            <a:ext cx="15672816" cy="731520"/>
          </a:xfrm>
          <a:prstGeom prst="rect">
            <a:avLst/>
          </a:prstGeom>
          <a:noFill/>
          <a:ln/>
        </p:spPr>
        <p:txBody>
          <a:bodyPr wrap="square" lIns="0" tIns="0" rIns="0" bIns="0" rtlCol="0" anchor="ctr"/>
          <a:lstStyle/>
          <a:p>
            <a:pPr indent="0" marL="0">
              <a:buNone/>
            </a:pPr>
            <a:r>
              <a:rPr lang="en-US" sz="2100" i="1" dirty="0">
                <a:solidFill>
                  <a:srgbClr val="D4AF37"/>
                </a:solidFill>
                <a:latin typeface="Poppins Italics" pitchFamily="34" charset="0"/>
                <a:ea typeface="Poppins Italics" pitchFamily="34" charset="-122"/>
                <a:cs typeface="Poppins Italics" pitchFamily="34" charset="-120"/>
              </a:rPr>
              <a:t>And you cannot troubleshoot chemistry from memory.</a:t>
            </a:r>
            <a:endParaRPr lang="en-US" sz="2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36576" y="-36576"/>
            <a:ext cx="18361152" cy="2862072"/>
          </a:xfrm>
          <a:prstGeom prst="rect">
            <a:avLst/>
          </a:prstGeom>
          <a:solidFill>
            <a:srgbClr val="262026"/>
          </a:solidFill>
          <a:ln/>
        </p:spPr>
      </p:sp>
      <p:pic>
        <p:nvPicPr>
          <p:cNvPr id="3" name="Image 0" descr="media/lash-close-1.jpeg">    </p:cNvPr>
          <p:cNvPicPr>
            <a:picLocks noChangeAspect="1"/>
          </p:cNvPicPr>
          <p:nvPr/>
        </p:nvPicPr>
        <p:blipFill>
          <a:blip r:embed="rId1"/>
          <a:srcRect l="0" r="0" t="0" b="0"/>
          <a:stretch/>
        </p:blipFill>
        <p:spPr>
          <a:xfrm>
            <a:off x="0" y="0"/>
            <a:ext cx="18288000" cy="2788920"/>
          </a:xfrm>
          <a:prstGeom prst="rect">
            <a:avLst/>
          </a:prstGeom>
        </p:spPr>
      </p:pic>
      <p:sp>
        <p:nvSpPr>
          <p:cNvPr id="4" name="Shape 1"/>
          <p:cNvSpPr/>
          <p:nvPr/>
        </p:nvSpPr>
        <p:spPr>
          <a:xfrm>
            <a:off x="0" y="0"/>
            <a:ext cx="18288000" cy="2788920"/>
          </a:xfrm>
          <a:prstGeom prst="rect">
            <a:avLst/>
          </a:prstGeom>
          <a:solidFill>
            <a:srgbClr val="0A0A0A">
              <a:alpha val="55000"/>
            </a:srgbClr>
          </a:solidFill>
          <a:ln/>
        </p:spPr>
      </p:sp>
      <p:sp>
        <p:nvSpPr>
          <p:cNvPr id="5" name="Text 2"/>
          <p:cNvSpPr txBox="1"/>
          <p:nvPr/>
        </p:nvSpPr>
        <p:spPr>
          <a:xfrm>
            <a:off x="1481328" y="3931920"/>
            <a:ext cx="15672816" cy="548640"/>
          </a:xfrm>
          <a:prstGeom prst="rect">
            <a:avLst/>
          </a:prstGeom>
          <a:noFill/>
          <a:ln/>
        </p:spPr>
        <p:txBody>
          <a:bodyPr wrap="square" lIns="0" tIns="0" rIns="0" bIns="0" rtlCol="0" anchor="ctr"/>
          <a:lstStyle/>
          <a:p>
            <a:pPr indent="0" marL="0">
              <a:buNone/>
            </a:pPr>
            <a:r>
              <a:rPr lang="en-US" sz="1500" spc="800" kern="0" dirty="0">
                <a:solidFill>
                  <a:srgbClr val="F600A2"/>
                </a:solidFill>
                <a:latin typeface="Poppins Bold" pitchFamily="34" charset="0"/>
                <a:ea typeface="Poppins Bold" pitchFamily="34" charset="-122"/>
                <a:cs typeface="Poppins Bold" pitchFamily="34" charset="-120"/>
              </a:rPr>
              <a:t>ACT ONE</a:t>
            </a:r>
            <a:endParaRPr lang="en-US" sz="1500" dirty="0"/>
          </a:p>
        </p:txBody>
      </p:sp>
      <p:sp>
        <p:nvSpPr>
          <p:cNvPr id="6" name="Text 3"/>
          <p:cNvSpPr txBox="1"/>
          <p:nvPr/>
        </p:nvSpPr>
        <p:spPr>
          <a:xfrm>
            <a:off x="1481328" y="4617720"/>
            <a:ext cx="15672816" cy="1737360"/>
          </a:xfrm>
          <a:prstGeom prst="rect">
            <a:avLst/>
          </a:prstGeom>
          <a:noFill/>
          <a:ln/>
        </p:spPr>
        <p:txBody>
          <a:bodyPr wrap="square" lIns="0" tIns="0" rIns="0" bIns="0" rtlCol="0" anchor="ctr"/>
          <a:lstStyle/>
          <a:p>
            <a:pPr indent="0" marL="0">
              <a:buNone/>
            </a:pPr>
            <a:r>
              <a:rPr lang="en-US" sz="7600" dirty="0">
                <a:solidFill>
                  <a:srgbClr val="FFFFFF"/>
                </a:solidFill>
                <a:latin typeface="Poppins Bold" pitchFamily="34" charset="0"/>
                <a:ea typeface="Poppins Bold" pitchFamily="34" charset="-122"/>
                <a:cs typeface="Poppins Bold" pitchFamily="34" charset="-120"/>
              </a:rPr>
              <a:t>The </a:t>
            </a:r>
            <a:pPr indent="0" marL="0">
              <a:buNone/>
            </a:pPr>
            <a:r>
              <a:rPr lang="en-US" sz="7600" i="1" dirty="0">
                <a:solidFill>
                  <a:srgbClr val="D4AF37"/>
                </a:solidFill>
                <a:latin typeface="Poppins Italics" pitchFamily="34" charset="0"/>
                <a:ea typeface="Poppins Italics" pitchFamily="34" charset="-122"/>
                <a:cs typeface="Poppins Italics" pitchFamily="34" charset="-120"/>
              </a:rPr>
              <a:t>Chemistry</a:t>
            </a:r>
            <a:endParaRPr lang="en-US" sz="7600" dirty="0"/>
          </a:p>
        </p:txBody>
      </p:sp>
      <p:sp>
        <p:nvSpPr>
          <p:cNvPr id="7" name="Text 4"/>
          <p:cNvSpPr txBox="1"/>
          <p:nvPr/>
        </p:nvSpPr>
        <p:spPr>
          <a:xfrm>
            <a:off x="1481328" y="6537960"/>
            <a:ext cx="15672816" cy="731520"/>
          </a:xfrm>
          <a:prstGeom prst="rect">
            <a:avLst/>
          </a:prstGeom>
          <a:noFill/>
          <a:ln/>
        </p:spPr>
        <p:txBody>
          <a:bodyPr wrap="square" lIns="0" tIns="0" rIns="0" bIns="0" rtlCol="0" anchor="ctr"/>
          <a:lstStyle/>
          <a:p>
            <a:pPr indent="0" marL="0">
              <a:buNone/>
            </a:pPr>
            <a:r>
              <a:rPr lang="en-US" sz="2100" dirty="0">
                <a:solidFill>
                  <a:srgbClr val="B9B3BB"/>
                </a:solidFill>
                <a:latin typeface="Poppins" pitchFamily="34" charset="0"/>
                <a:ea typeface="Poppins" pitchFamily="34" charset="-122"/>
                <a:cs typeface="Poppins" pitchFamily="34" charset="-120"/>
              </a:rPr>
              <a:t>Why it does not last.</a:t>
            </a:r>
            <a:endParaRPr lang="en-US" sz="2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ACT ONE  ·  THE THING NOBODY TOLD YOU</a:t>
            </a:r>
            <a:endParaRPr lang="en-US" sz="1500" dirty="0"/>
          </a:p>
        </p:txBody>
      </p:sp>
      <p:sp>
        <p:nvSpPr>
          <p:cNvPr id="3" name="Text 1"/>
          <p:cNvSpPr txBox="1"/>
          <p:nvPr/>
        </p:nvSpPr>
        <p:spPr>
          <a:xfrm>
            <a:off x="1481328" y="1965960"/>
            <a:ext cx="9555480" cy="1828800"/>
          </a:xfrm>
          <a:prstGeom prst="rect">
            <a:avLst/>
          </a:prstGeom>
          <a:noFill/>
          <a:ln/>
        </p:spPr>
        <p:txBody>
          <a:bodyPr wrap="square" lIns="0" tIns="0" rIns="0" bIns="0" rtlCol="0" anchor="t"/>
          <a:lstStyle/>
          <a:p>
            <a:pPr indent="0" marL="0">
              <a:lnSpc>
                <a:spcPts val="5192"/>
              </a:lnSpc>
              <a:buNone/>
            </a:pPr>
            <a:r>
              <a:rPr lang="en-US" sz="4400" dirty="0">
                <a:solidFill>
                  <a:srgbClr val="FFFFFF"/>
                </a:solidFill>
                <a:latin typeface="Poppins Bold" pitchFamily="34" charset="0"/>
                <a:ea typeface="Poppins Bold" pitchFamily="34" charset="-122"/>
                <a:cs typeface="Poppins Bold" pitchFamily="34" charset="-120"/>
              </a:rPr>
              <a:t>Your adhesive is not drying.
</a:t>
            </a:r>
            <a:pPr indent="0" marL="0">
              <a:lnSpc>
                <a:spcPts val="5192"/>
              </a:lnSpc>
              <a:buNone/>
            </a:pPr>
            <a:r>
              <a:rPr lang="en-US" sz="4400" i="1" dirty="0">
                <a:solidFill>
                  <a:srgbClr val="F600A2"/>
                </a:solidFill>
                <a:latin typeface="Poppins Italics" pitchFamily="34" charset="0"/>
                <a:ea typeface="Poppins Italics" pitchFamily="34" charset="-122"/>
                <a:cs typeface="Poppins Italics" pitchFamily="34" charset="-120"/>
              </a:rPr>
              <a:t>It is curing.</a:t>
            </a:r>
            <a:endParaRPr lang="en-US" sz="4400" dirty="0"/>
          </a:p>
        </p:txBody>
      </p:sp>
      <p:sp>
        <p:nvSpPr>
          <p:cNvPr id="4" name="Text 2"/>
          <p:cNvSpPr txBox="1"/>
          <p:nvPr/>
        </p:nvSpPr>
        <p:spPr>
          <a:xfrm>
            <a:off x="1481328" y="5623560"/>
            <a:ext cx="9555480" cy="2377440"/>
          </a:xfrm>
          <a:prstGeom prst="rect">
            <a:avLst/>
          </a:prstGeom>
          <a:noFill/>
          <a:ln/>
        </p:spPr>
        <p:txBody>
          <a:bodyPr wrap="square" lIns="0" tIns="0" rIns="0" bIns="0" rtlCol="0" anchor="ctr"/>
          <a:lstStyle/>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Cyanoacrylate does not dry like paint. It is a chemical reaction that sets using moisture in the air.</a:t>
            </a:r>
            <a:endParaRPr lang="en-US" sz="2100" dirty="0"/>
          </a:p>
          <a:p>
            <a:pPr indent="0" marL="0">
              <a:lnSpc>
                <a:spcPts val="3500"/>
              </a:lnSpc>
              <a:buNone/>
            </a:pPr>
            <a:endParaRPr lang="en-US" sz="2100" dirty="0"/>
          </a:p>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Which means your room is part of your kit.</a:t>
            </a:r>
            <a:endParaRPr lang="en-US" sz="2100" dirty="0"/>
          </a:p>
        </p:txBody>
      </p:sp>
      <p:sp>
        <p:nvSpPr>
          <p:cNvPr id="5" name="Shape 3"/>
          <p:cNvSpPr/>
          <p:nvPr/>
        </p:nvSpPr>
        <p:spPr>
          <a:xfrm>
            <a:off x="11119104" y="1426464"/>
            <a:ext cx="6071616" cy="6565392"/>
          </a:xfrm>
          <a:prstGeom prst="rect">
            <a:avLst/>
          </a:prstGeom>
          <a:solidFill>
            <a:srgbClr val="262026"/>
          </a:solidFill>
          <a:ln/>
        </p:spPr>
      </p:sp>
      <p:pic>
        <p:nvPicPr>
          <p:cNvPr id="6" name="Image 0" descr="media/the-kit.jpeg">    </p:cNvPr>
          <p:cNvPicPr>
            <a:picLocks noChangeAspect="1"/>
          </p:cNvPicPr>
          <p:nvPr/>
        </p:nvPicPr>
        <p:blipFill>
          <a:blip r:embed="rId1"/>
          <a:srcRect l="0" r="0" t="0" b="0"/>
          <a:stretch/>
        </p:blipFill>
        <p:spPr>
          <a:xfrm>
            <a:off x="11155680" y="1463040"/>
            <a:ext cx="5998464" cy="64922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DO THIS WITH ME RIGHT NOW</a:t>
            </a:r>
            <a:endParaRPr lang="en-US" sz="1500" dirty="0"/>
          </a:p>
        </p:txBody>
      </p:sp>
      <p:sp>
        <p:nvSpPr>
          <p:cNvPr id="3" name="Text 1"/>
          <p:cNvSpPr txBox="1"/>
          <p:nvPr/>
        </p:nvSpPr>
        <p:spPr>
          <a:xfrm>
            <a:off x="1481328" y="2834640"/>
            <a:ext cx="15672816" cy="1828800"/>
          </a:xfrm>
          <a:prstGeom prst="rect">
            <a:avLst/>
          </a:prstGeom>
          <a:noFill/>
          <a:ln/>
        </p:spPr>
        <p:txBody>
          <a:bodyPr wrap="square" lIns="0" tIns="0" rIns="0" bIns="0" rtlCol="0" anchor="t"/>
          <a:lstStyle/>
          <a:p>
            <a:pPr indent="0" marL="0">
              <a:lnSpc>
                <a:spcPts val="6372"/>
              </a:lnSpc>
              <a:buNone/>
            </a:pPr>
            <a:r>
              <a:rPr lang="en-US" sz="5400" dirty="0">
                <a:solidFill>
                  <a:srgbClr val="FFFFFF"/>
                </a:solidFill>
                <a:latin typeface="Poppins Bold" pitchFamily="34" charset="0"/>
                <a:ea typeface="Poppins Bold" pitchFamily="34" charset="-122"/>
                <a:cs typeface="Poppins Bold" pitchFamily="34" charset="-120"/>
              </a:rPr>
              <a:t>Pick up your adhesive.
</a:t>
            </a:r>
            <a:pPr indent="0" marL="0">
              <a:lnSpc>
                <a:spcPts val="6372"/>
              </a:lnSpc>
              <a:buNone/>
            </a:pPr>
            <a:r>
              <a:rPr lang="en-US" sz="5400" i="1" dirty="0">
                <a:solidFill>
                  <a:srgbClr val="D4AF37"/>
                </a:solidFill>
                <a:latin typeface="Poppins Italics" pitchFamily="34" charset="0"/>
                <a:ea typeface="Poppins Italics" pitchFamily="34" charset="-122"/>
                <a:cs typeface="Poppins Italics" pitchFamily="34" charset="-120"/>
              </a:rPr>
              <a:t>Type the name in the chat.</a:t>
            </a:r>
            <a:endParaRPr lang="en-US" sz="5400" dirty="0"/>
          </a:p>
        </p:txBody>
      </p:sp>
      <p:sp>
        <p:nvSpPr>
          <p:cNvPr id="4" name="Text 2"/>
          <p:cNvSpPr txBox="1"/>
          <p:nvPr/>
        </p:nvSpPr>
        <p:spPr>
          <a:xfrm>
            <a:off x="1481328" y="6172200"/>
            <a:ext cx="12538253" cy="2011680"/>
          </a:xfrm>
          <a:prstGeom prst="rect">
            <a:avLst/>
          </a:prstGeom>
          <a:noFill/>
          <a:ln/>
        </p:spPr>
        <p:txBody>
          <a:bodyPr wrap="square" lIns="0" tIns="0" rIns="0" bIns="0" rtlCol="0" anchor="ctr"/>
          <a:lstStyle/>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Brand and name. It is on the bottle.</a:t>
            </a:r>
            <a:endParaRPr lang="en-US" sz="2100" dirty="0"/>
          </a:p>
          <a:p>
            <a:pPr indent="0" marL="0">
              <a:lnSpc>
                <a:spcPts val="3500"/>
              </a:lnSpc>
              <a:buNone/>
            </a:pPr>
            <a:endParaRPr lang="en-US" sz="2100" dirty="0"/>
          </a:p>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No adhesive yet? Type NONE. You are in the right room either way.</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ACT ONE  ·  THE CURE CHECK</a:t>
            </a:r>
            <a:endParaRPr lang="en-US" sz="1500" dirty="0"/>
          </a:p>
        </p:txBody>
      </p:sp>
      <p:sp>
        <p:nvSpPr>
          <p:cNvPr id="3" name="Text 1"/>
          <p:cNvSpPr txBox="1"/>
          <p:nvPr/>
        </p:nvSpPr>
        <p:spPr>
          <a:xfrm>
            <a:off x="1481328" y="1188720"/>
            <a:ext cx="15672816" cy="1828800"/>
          </a:xfrm>
          <a:prstGeom prst="rect">
            <a:avLst/>
          </a:prstGeom>
          <a:noFill/>
          <a:ln/>
        </p:spPr>
        <p:txBody>
          <a:bodyPr wrap="square" lIns="0" tIns="0" rIns="0" bIns="0" rtlCol="0" anchor="t"/>
          <a:lstStyle/>
          <a:p>
            <a:pPr indent="0" marL="0">
              <a:lnSpc>
                <a:spcPts val="5310"/>
              </a:lnSpc>
              <a:buNone/>
            </a:pPr>
            <a:r>
              <a:rPr lang="en-US" sz="4500" dirty="0">
                <a:solidFill>
                  <a:srgbClr val="FFFFFF"/>
                </a:solidFill>
                <a:latin typeface="Poppins Bold" pitchFamily="34" charset="0"/>
                <a:ea typeface="Poppins Bold" pitchFamily="34" charset="-122"/>
                <a:cs typeface="Poppins Bold" pitchFamily="34" charset="-120"/>
              </a:rPr>
              <a:t>Three states. Your room picks one.</a:t>
            </a:r>
            <a:endParaRPr lang="en-US" sz="4500" dirty="0"/>
          </a:p>
        </p:txBody>
      </p:sp>
      <p:sp>
        <p:nvSpPr>
          <p:cNvPr id="4" name="Shape 2"/>
          <p:cNvSpPr/>
          <p:nvPr/>
        </p:nvSpPr>
        <p:spPr>
          <a:xfrm>
            <a:off x="1481328" y="3794760"/>
            <a:ext cx="4840224" cy="3246120"/>
          </a:xfrm>
          <a:prstGeom prst="roundRect">
            <a:avLst>
              <a:gd name="adj" fmla="val 3380"/>
            </a:avLst>
          </a:prstGeom>
          <a:solidFill>
            <a:srgbClr val="121013"/>
          </a:solidFill>
          <a:ln w="12700">
            <a:solidFill>
              <a:srgbClr val="262026"/>
            </a:solidFill>
            <a:prstDash val="solid"/>
          </a:ln>
        </p:spPr>
      </p:sp>
      <p:sp>
        <p:nvSpPr>
          <p:cNvPr id="5" name="Text 3"/>
          <p:cNvSpPr txBox="1"/>
          <p:nvPr/>
        </p:nvSpPr>
        <p:spPr>
          <a:xfrm>
            <a:off x="1938528" y="4224528"/>
            <a:ext cx="3944112" cy="457200"/>
          </a:xfrm>
          <a:prstGeom prst="rect">
            <a:avLst/>
          </a:prstGeom>
          <a:noFill/>
          <a:ln/>
        </p:spPr>
        <p:txBody>
          <a:bodyPr wrap="square" lIns="0" tIns="0" rIns="0" bIns="0" rtlCol="0" anchor="ctr"/>
          <a:lstStyle/>
          <a:p>
            <a:pPr indent="0" marL="0">
              <a:buNone/>
            </a:pPr>
            <a:r>
              <a:rPr lang="en-US" sz="1500" spc="500" kern="0" dirty="0">
                <a:solidFill>
                  <a:srgbClr val="F600A2"/>
                </a:solidFill>
                <a:latin typeface="Poppins Bold" pitchFamily="34" charset="0"/>
                <a:ea typeface="Poppins Bold" pitchFamily="34" charset="-122"/>
                <a:cs typeface="Poppins Bold" pitchFamily="34" charset="-120"/>
              </a:rPr>
              <a:t>TOO DRY</a:t>
            </a:r>
            <a:endParaRPr lang="en-US" sz="1500" dirty="0"/>
          </a:p>
        </p:txBody>
      </p:sp>
      <p:sp>
        <p:nvSpPr>
          <p:cNvPr id="6" name="Text 4"/>
          <p:cNvSpPr txBox="1"/>
          <p:nvPr/>
        </p:nvSpPr>
        <p:spPr>
          <a:xfrm>
            <a:off x="1938528" y="4956048"/>
            <a:ext cx="3944112" cy="1737360"/>
          </a:xfrm>
          <a:prstGeom prst="rect">
            <a:avLst/>
          </a:prstGeom>
          <a:noFill/>
          <a:ln/>
        </p:spPr>
        <p:txBody>
          <a:bodyPr wrap="square" lIns="0" tIns="0" rIns="0" bIns="0" rtlCol="0" anchor="ctr"/>
          <a:lstStyle/>
          <a:p>
            <a:pPr indent="0" marL="0">
              <a:lnSpc>
                <a:spcPts val="3000"/>
              </a:lnSpc>
              <a:buNone/>
            </a:pPr>
            <a:r>
              <a:rPr lang="en-US" sz="1875" dirty="0">
                <a:solidFill>
                  <a:srgbClr val="FFFFFF"/>
                </a:solidFill>
                <a:latin typeface="Poppins" pitchFamily="34" charset="0"/>
                <a:ea typeface="Poppins" pitchFamily="34" charset="-122"/>
                <a:cs typeface="Poppins" pitchFamily="34" charset="-120"/>
              </a:rPr>
              <a:t>Under-cures. Stays tacky.</a:t>
            </a:r>
            <a:endParaRPr lang="en-US" sz="1875" dirty="0"/>
          </a:p>
          <a:p>
            <a:pPr indent="0" marL="0">
              <a:lnSpc>
                <a:spcPts val="3000"/>
              </a:lnSpc>
              <a:buNone/>
            </a:pPr>
            <a:r>
              <a:rPr lang="en-US" sz="1875" dirty="0">
                <a:solidFill>
                  <a:srgbClr val="FFFFFF"/>
                </a:solidFill>
                <a:latin typeface="Poppins" pitchFamily="34" charset="0"/>
                <a:ea typeface="Poppins" pitchFamily="34" charset="-122"/>
                <a:cs typeface="Poppins" pitchFamily="34" charset="-120"/>
              </a:rPr>
              <a:t>Sheds within a few days.</a:t>
            </a:r>
            <a:endParaRPr lang="en-US" sz="1875" dirty="0"/>
          </a:p>
        </p:txBody>
      </p:sp>
      <p:sp>
        <p:nvSpPr>
          <p:cNvPr id="7" name="Shape 5"/>
          <p:cNvSpPr/>
          <p:nvPr/>
        </p:nvSpPr>
        <p:spPr>
          <a:xfrm>
            <a:off x="6705600" y="3794760"/>
            <a:ext cx="4840224" cy="3246120"/>
          </a:xfrm>
          <a:prstGeom prst="roundRect">
            <a:avLst>
              <a:gd name="adj" fmla="val 3380"/>
            </a:avLst>
          </a:prstGeom>
          <a:solidFill>
            <a:srgbClr val="121013"/>
          </a:solidFill>
          <a:ln w="12700">
            <a:solidFill>
              <a:srgbClr val="262026"/>
            </a:solidFill>
            <a:prstDash val="solid"/>
          </a:ln>
        </p:spPr>
      </p:sp>
      <p:sp>
        <p:nvSpPr>
          <p:cNvPr id="8" name="Text 6"/>
          <p:cNvSpPr txBox="1"/>
          <p:nvPr/>
        </p:nvSpPr>
        <p:spPr>
          <a:xfrm>
            <a:off x="7162800" y="4224528"/>
            <a:ext cx="3944112" cy="457200"/>
          </a:xfrm>
          <a:prstGeom prst="rect">
            <a:avLst/>
          </a:prstGeom>
          <a:noFill/>
          <a:ln/>
        </p:spPr>
        <p:txBody>
          <a:bodyPr wrap="square" lIns="0" tIns="0" rIns="0" bIns="0" rtlCol="0" anchor="ctr"/>
          <a:lstStyle/>
          <a:p>
            <a:pPr indent="0" marL="0">
              <a:buNone/>
            </a:pPr>
            <a:r>
              <a:rPr lang="en-US" sz="1500" spc="500" kern="0" dirty="0">
                <a:solidFill>
                  <a:srgbClr val="4EBB19"/>
                </a:solidFill>
                <a:latin typeface="Poppins Bold" pitchFamily="34" charset="0"/>
                <a:ea typeface="Poppins Bold" pitchFamily="34" charset="-122"/>
                <a:cs typeface="Poppins Bold" pitchFamily="34" charset="-120"/>
              </a:rPr>
              <a:t>IN RANGE</a:t>
            </a:r>
            <a:endParaRPr lang="en-US" sz="1500" dirty="0"/>
          </a:p>
        </p:txBody>
      </p:sp>
      <p:sp>
        <p:nvSpPr>
          <p:cNvPr id="9" name="Text 7"/>
          <p:cNvSpPr txBox="1"/>
          <p:nvPr/>
        </p:nvSpPr>
        <p:spPr>
          <a:xfrm>
            <a:off x="7162800" y="4956048"/>
            <a:ext cx="3944112" cy="1737360"/>
          </a:xfrm>
          <a:prstGeom prst="rect">
            <a:avLst/>
          </a:prstGeom>
          <a:noFill/>
          <a:ln/>
        </p:spPr>
        <p:txBody>
          <a:bodyPr wrap="square" lIns="0" tIns="0" rIns="0" bIns="0" rtlCol="0" anchor="ctr"/>
          <a:lstStyle/>
          <a:p>
            <a:pPr indent="0" marL="0">
              <a:lnSpc>
                <a:spcPts val="3000"/>
              </a:lnSpc>
              <a:buNone/>
            </a:pPr>
            <a:r>
              <a:rPr lang="en-US" sz="1875" dirty="0">
                <a:solidFill>
                  <a:srgbClr val="FFFFFF"/>
                </a:solidFill>
                <a:latin typeface="Poppins" pitchFamily="34" charset="0"/>
                <a:ea typeface="Poppins" pitchFamily="34" charset="-122"/>
                <a:cs typeface="Poppins" pitchFamily="34" charset="-120"/>
              </a:rPr>
              <a:t>A strong, flexible bond.</a:t>
            </a:r>
            <a:endParaRPr lang="en-US" sz="1875" dirty="0"/>
          </a:p>
          <a:p>
            <a:pPr indent="0" marL="0">
              <a:lnSpc>
                <a:spcPts val="3000"/>
              </a:lnSpc>
              <a:buNone/>
            </a:pPr>
            <a:r>
              <a:rPr lang="en-US" sz="1875" dirty="0">
                <a:solidFill>
                  <a:srgbClr val="FFFFFF"/>
                </a:solidFill>
                <a:latin typeface="Poppins" pitchFamily="34" charset="0"/>
                <a:ea typeface="Poppins" pitchFamily="34" charset="-122"/>
                <a:cs typeface="Poppins" pitchFamily="34" charset="-120"/>
              </a:rPr>
              <a:t>This is the whole goal.</a:t>
            </a:r>
            <a:endParaRPr lang="en-US" sz="1875" dirty="0"/>
          </a:p>
        </p:txBody>
      </p:sp>
      <p:sp>
        <p:nvSpPr>
          <p:cNvPr id="10" name="Shape 8"/>
          <p:cNvSpPr/>
          <p:nvPr/>
        </p:nvSpPr>
        <p:spPr>
          <a:xfrm>
            <a:off x="11929872" y="3794760"/>
            <a:ext cx="4840224" cy="3246120"/>
          </a:xfrm>
          <a:prstGeom prst="roundRect">
            <a:avLst>
              <a:gd name="adj" fmla="val 3380"/>
            </a:avLst>
          </a:prstGeom>
          <a:solidFill>
            <a:srgbClr val="121013"/>
          </a:solidFill>
          <a:ln w="12700">
            <a:solidFill>
              <a:srgbClr val="262026"/>
            </a:solidFill>
            <a:prstDash val="solid"/>
          </a:ln>
        </p:spPr>
      </p:sp>
      <p:sp>
        <p:nvSpPr>
          <p:cNvPr id="11" name="Text 9"/>
          <p:cNvSpPr txBox="1"/>
          <p:nvPr/>
        </p:nvSpPr>
        <p:spPr>
          <a:xfrm>
            <a:off x="12387072" y="4224528"/>
            <a:ext cx="3944112" cy="457200"/>
          </a:xfrm>
          <a:prstGeom prst="rect">
            <a:avLst/>
          </a:prstGeom>
          <a:noFill/>
          <a:ln/>
        </p:spPr>
        <p:txBody>
          <a:bodyPr wrap="square" lIns="0" tIns="0" rIns="0" bIns="0" rtlCol="0" anchor="ctr"/>
          <a:lstStyle/>
          <a:p>
            <a:pPr indent="0" marL="0">
              <a:buNone/>
            </a:pPr>
            <a:r>
              <a:rPr lang="en-US" sz="1500" spc="500" kern="0" dirty="0">
                <a:solidFill>
                  <a:srgbClr val="F600A2"/>
                </a:solidFill>
                <a:latin typeface="Poppins Bold" pitchFamily="34" charset="0"/>
                <a:ea typeface="Poppins Bold" pitchFamily="34" charset="-122"/>
                <a:cs typeface="Poppins Bold" pitchFamily="34" charset="-120"/>
              </a:rPr>
              <a:t>TOO HUMID</a:t>
            </a:r>
            <a:endParaRPr lang="en-US" sz="1500" dirty="0"/>
          </a:p>
        </p:txBody>
      </p:sp>
      <p:sp>
        <p:nvSpPr>
          <p:cNvPr id="12" name="Text 10"/>
          <p:cNvSpPr txBox="1"/>
          <p:nvPr/>
        </p:nvSpPr>
        <p:spPr>
          <a:xfrm>
            <a:off x="12387072" y="4956048"/>
            <a:ext cx="3944112" cy="1737360"/>
          </a:xfrm>
          <a:prstGeom prst="rect">
            <a:avLst/>
          </a:prstGeom>
          <a:noFill/>
          <a:ln/>
        </p:spPr>
        <p:txBody>
          <a:bodyPr wrap="square" lIns="0" tIns="0" rIns="0" bIns="0" rtlCol="0" anchor="ctr"/>
          <a:lstStyle/>
          <a:p>
            <a:pPr indent="0" marL="0">
              <a:lnSpc>
                <a:spcPts val="3000"/>
              </a:lnSpc>
              <a:buNone/>
            </a:pPr>
            <a:r>
              <a:rPr lang="en-US" sz="1875" dirty="0">
                <a:solidFill>
                  <a:srgbClr val="FFFFFF"/>
                </a:solidFill>
                <a:latin typeface="Poppins" pitchFamily="34" charset="0"/>
                <a:ea typeface="Poppins" pitchFamily="34" charset="-122"/>
                <a:cs typeface="Poppins" pitchFamily="34" charset="-120"/>
              </a:rPr>
              <a:t>Shock-cures. Blooms.</a:t>
            </a:r>
            <a:endParaRPr lang="en-US" sz="1875" dirty="0"/>
          </a:p>
          <a:p>
            <a:pPr indent="0" marL="0">
              <a:lnSpc>
                <a:spcPts val="3000"/>
              </a:lnSpc>
              <a:buNone/>
            </a:pPr>
            <a:r>
              <a:rPr lang="en-US" sz="1875" dirty="0">
                <a:solidFill>
                  <a:srgbClr val="FFFFFF"/>
                </a:solidFill>
                <a:latin typeface="Poppins" pitchFamily="34" charset="0"/>
                <a:ea typeface="Poppins" pitchFamily="34" charset="-122"/>
                <a:cs typeface="Poppins" pitchFamily="34" charset="-120"/>
              </a:rPr>
              <a:t>Goes brittle and falls out early.</a:t>
            </a:r>
            <a:endParaRPr lang="en-US" sz="1875" dirty="0"/>
          </a:p>
        </p:txBody>
      </p:sp>
      <p:sp>
        <p:nvSpPr>
          <p:cNvPr id="13" name="Text 11"/>
          <p:cNvSpPr txBox="1"/>
          <p:nvPr/>
        </p:nvSpPr>
        <p:spPr>
          <a:xfrm>
            <a:off x="1481328" y="8887968"/>
            <a:ext cx="15672816" cy="640080"/>
          </a:xfrm>
          <a:prstGeom prst="rect">
            <a:avLst/>
          </a:prstGeom>
          <a:noFill/>
          <a:ln/>
        </p:spPr>
        <p:txBody>
          <a:bodyPr wrap="square" lIns="0" tIns="0" rIns="0" bIns="0" rtlCol="0" anchor="ctr"/>
          <a:lstStyle/>
          <a:p>
            <a:pPr indent="0" marL="0">
              <a:buNone/>
            </a:pPr>
            <a:r>
              <a:rPr lang="en-US" sz="1725" i="1" dirty="0">
                <a:solidFill>
                  <a:srgbClr val="B9B3BB"/>
                </a:solidFill>
                <a:latin typeface="Poppins Italics" pitchFamily="34" charset="0"/>
                <a:ea typeface="Poppins Italics" pitchFamily="34" charset="-122"/>
                <a:cs typeface="Poppins Italics" pitchFamily="34" charset="-120"/>
              </a:rPr>
              <a:t>Two artists. Same glue. Different rooms. Completely different retention.</a:t>
            </a:r>
            <a:endParaRPr lang="en-US" sz="172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AND THIS IS WHERE I LOSE FRIENDS</a:t>
            </a:r>
            <a:endParaRPr lang="en-US" sz="1500" dirty="0"/>
          </a:p>
        </p:txBody>
      </p:sp>
      <p:sp>
        <p:nvSpPr>
          <p:cNvPr id="3" name="Text 1"/>
          <p:cNvSpPr txBox="1"/>
          <p:nvPr/>
        </p:nvSpPr>
        <p:spPr>
          <a:xfrm>
            <a:off x="1481328" y="2148840"/>
            <a:ext cx="15672816" cy="1828800"/>
          </a:xfrm>
          <a:prstGeom prst="rect">
            <a:avLst/>
          </a:prstGeom>
          <a:noFill/>
          <a:ln/>
        </p:spPr>
        <p:txBody>
          <a:bodyPr wrap="square" lIns="0" tIns="0" rIns="0" bIns="0" rtlCol="0" anchor="t"/>
          <a:lstStyle/>
          <a:p>
            <a:pPr indent="0" marL="0">
              <a:lnSpc>
                <a:spcPts val="6608"/>
              </a:lnSpc>
              <a:buNone/>
            </a:pPr>
            <a:r>
              <a:rPr lang="en-US" sz="5600" dirty="0">
                <a:solidFill>
                  <a:srgbClr val="FFFFFF"/>
                </a:solidFill>
                <a:latin typeface="Poppins Bold" pitchFamily="34" charset="0"/>
                <a:ea typeface="Poppins Bold" pitchFamily="34" charset="-122"/>
                <a:cs typeface="Poppins Bold" pitchFamily="34" charset="-120"/>
              </a:rPr>
              <a:t>There is no universal
</a:t>
            </a:r>
            <a:pPr indent="0" marL="0">
              <a:lnSpc>
                <a:spcPts val="6608"/>
              </a:lnSpc>
              <a:buNone/>
            </a:pPr>
            <a:r>
              <a:rPr lang="en-US" sz="5600" i="1" dirty="0">
                <a:solidFill>
                  <a:srgbClr val="F600A2"/>
                </a:solidFill>
                <a:latin typeface="Poppins Italics" pitchFamily="34" charset="0"/>
                <a:ea typeface="Poppins Italics" pitchFamily="34" charset="-122"/>
                <a:cs typeface="Poppins Italics" pitchFamily="34" charset="-120"/>
              </a:rPr>
              <a:t>humidity rule.</a:t>
            </a:r>
            <a:endParaRPr lang="en-US" sz="5600" dirty="0"/>
          </a:p>
        </p:txBody>
      </p:sp>
      <p:sp>
        <p:nvSpPr>
          <p:cNvPr id="4" name="Text 2"/>
          <p:cNvSpPr txBox="1"/>
          <p:nvPr/>
        </p:nvSpPr>
        <p:spPr>
          <a:xfrm>
            <a:off x="1481328" y="5760720"/>
            <a:ext cx="12851709" cy="2560320"/>
          </a:xfrm>
          <a:prstGeom prst="rect">
            <a:avLst/>
          </a:prstGeom>
          <a:noFill/>
          <a:ln/>
        </p:spPr>
        <p:txBody>
          <a:bodyPr wrap="square" lIns="0" tIns="0" rIns="0" bIns="0" rtlCol="0" anchor="ctr"/>
          <a:lstStyle/>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40 to 70 percent. 70 to 72 degrees. Whoever taught you that taught you somebody else's adhesive.</a:t>
            </a:r>
            <a:endParaRPr lang="en-US" sz="2100" dirty="0"/>
          </a:p>
          <a:p>
            <a:pPr indent="0" marL="0">
              <a:lnSpc>
                <a:spcPts val="3500"/>
              </a:lnSpc>
              <a:buNone/>
            </a:pPr>
            <a:endParaRPr lang="en-US" sz="2100" dirty="0"/>
          </a:p>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Those numbers are product-dependent. Get a hygrometer, learn your adhesive's range, and read your own air.</a:t>
            </a:r>
            <a:endParaRPr lang="en-US" sz="2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ACT ONE  ·  THE PART THAT IS NOT YOUR FAULT</a:t>
            </a:r>
            <a:endParaRPr lang="en-US" sz="1500" dirty="0"/>
          </a:p>
        </p:txBody>
      </p:sp>
      <p:sp>
        <p:nvSpPr>
          <p:cNvPr id="3" name="Text 1"/>
          <p:cNvSpPr txBox="1"/>
          <p:nvPr/>
        </p:nvSpPr>
        <p:spPr>
          <a:xfrm>
            <a:off x="1481328" y="1874520"/>
            <a:ext cx="9555480" cy="1828800"/>
          </a:xfrm>
          <a:prstGeom prst="rect">
            <a:avLst/>
          </a:prstGeom>
          <a:noFill/>
          <a:ln/>
        </p:spPr>
        <p:txBody>
          <a:bodyPr wrap="square" lIns="0" tIns="0" rIns="0" bIns="0" rtlCol="0" anchor="t"/>
          <a:lstStyle/>
          <a:p>
            <a:pPr indent="0" marL="0">
              <a:lnSpc>
                <a:spcPts val="4838"/>
              </a:lnSpc>
              <a:buNone/>
            </a:pPr>
            <a:r>
              <a:rPr lang="en-US" sz="4100" dirty="0">
                <a:solidFill>
                  <a:srgbClr val="FFFFFF"/>
                </a:solidFill>
                <a:latin typeface="Poppins Bold" pitchFamily="34" charset="0"/>
                <a:ea typeface="Poppins Bold" pitchFamily="34" charset="-122"/>
                <a:cs typeface="Poppins Bold" pitchFamily="34" charset="-120"/>
              </a:rPr>
              <a:t>She swore she wasn't using oil.
</a:t>
            </a:r>
            <a:pPr indent="0" marL="0">
              <a:lnSpc>
                <a:spcPts val="4838"/>
              </a:lnSpc>
              <a:buNone/>
            </a:pPr>
            <a:r>
              <a:rPr lang="en-US" sz="4100" i="1" dirty="0">
                <a:solidFill>
                  <a:srgbClr val="F600A2"/>
                </a:solidFill>
                <a:latin typeface="Poppins Italics" pitchFamily="34" charset="0"/>
                <a:ea typeface="Poppins Italics" pitchFamily="34" charset="-122"/>
                <a:cs typeface="Poppins Italics" pitchFamily="34" charset="-120"/>
              </a:rPr>
              <a:t>She was telling the truth.</a:t>
            </a:r>
            <a:endParaRPr lang="en-US" sz="4100" dirty="0"/>
          </a:p>
        </p:txBody>
      </p:sp>
      <p:sp>
        <p:nvSpPr>
          <p:cNvPr id="4" name="Text 2"/>
          <p:cNvSpPr txBox="1"/>
          <p:nvPr/>
        </p:nvSpPr>
        <p:spPr>
          <a:xfrm>
            <a:off x="1481328" y="5532120"/>
            <a:ext cx="9555480" cy="2651760"/>
          </a:xfrm>
          <a:prstGeom prst="rect">
            <a:avLst/>
          </a:prstGeom>
          <a:noFill/>
          <a:ln/>
        </p:spPr>
        <p:txBody>
          <a:bodyPr wrap="square" lIns="0" tIns="0" rIns="0" bIns="0" rtlCol="0" anchor="ctr"/>
          <a:lstStyle/>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The glands along her lid margin keep her lash line moist. That same oil is dissolving your bond, a little every day, whether she touches a product or not.</a:t>
            </a:r>
            <a:endParaRPr lang="en-US" sz="2100" dirty="0"/>
          </a:p>
          <a:p>
            <a:pPr indent="0" marL="0">
              <a:lnSpc>
                <a:spcPts val="3500"/>
              </a:lnSpc>
              <a:buNone/>
            </a:pPr>
            <a:endParaRPr lang="en-US" sz="2100" dirty="0"/>
          </a:p>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An oily client sheds faster no matter how clean your application was.</a:t>
            </a:r>
            <a:endParaRPr lang="en-US" sz="2100" dirty="0"/>
          </a:p>
        </p:txBody>
      </p:sp>
      <p:sp>
        <p:nvSpPr>
          <p:cNvPr id="5" name="Shape 3"/>
          <p:cNvSpPr/>
          <p:nvPr/>
        </p:nvSpPr>
        <p:spPr>
          <a:xfrm>
            <a:off x="11119104" y="1655064"/>
            <a:ext cx="6071616" cy="6336792"/>
          </a:xfrm>
          <a:prstGeom prst="rect">
            <a:avLst/>
          </a:prstGeom>
          <a:solidFill>
            <a:srgbClr val="262026"/>
          </a:solidFill>
          <a:ln/>
        </p:spPr>
      </p:sp>
      <p:pic>
        <p:nvPicPr>
          <p:cNvPr id="6" name="Image 0" descr="media/lash-close-2.jpeg">    </p:cNvPr>
          <p:cNvPicPr>
            <a:picLocks noChangeAspect="1"/>
          </p:cNvPicPr>
          <p:nvPr/>
        </p:nvPicPr>
        <p:blipFill>
          <a:blip r:embed="rId1"/>
          <a:srcRect l="0" r="0" t="0" b="0"/>
          <a:stretch/>
        </p:blipFill>
        <p:spPr>
          <a:xfrm>
            <a:off x="11155680" y="1691640"/>
            <a:ext cx="5998464" cy="6263640"/>
          </a:xfrm>
          <a:prstGeom prst="rect">
            <a:avLst/>
          </a:prstGeom>
        </p:spPr>
      </p:pic>
      <p:sp>
        <p:nvSpPr>
          <p:cNvPr id="7" name="Text 4"/>
          <p:cNvSpPr txBox="1"/>
          <p:nvPr/>
        </p:nvSpPr>
        <p:spPr>
          <a:xfrm>
            <a:off x="1481328" y="8887968"/>
            <a:ext cx="9555480" cy="640080"/>
          </a:xfrm>
          <a:prstGeom prst="rect">
            <a:avLst/>
          </a:prstGeom>
          <a:noFill/>
          <a:ln/>
        </p:spPr>
        <p:txBody>
          <a:bodyPr wrap="square" lIns="0" tIns="0" rIns="0" bIns="0" rtlCol="0" anchor="ctr"/>
          <a:lstStyle/>
          <a:p>
            <a:pPr indent="0" marL="0">
              <a:buNone/>
            </a:pPr>
            <a:r>
              <a:rPr lang="en-US" sz="1725" i="1" dirty="0">
                <a:solidFill>
                  <a:srgbClr val="B9B3BB"/>
                </a:solidFill>
                <a:latin typeface="Poppins Italics" pitchFamily="34" charset="0"/>
                <a:ea typeface="Poppins Italics" pitchFamily="34" charset="-122"/>
                <a:cs typeface="Poppins Italics" pitchFamily="34" charset="-120"/>
              </a:rPr>
              <a:t>That is not you falling short. That is her chemistry, and now you can explain it.</a:t>
            </a:r>
            <a:endParaRPr lang="en-US" sz="172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WHEN RETENTION DROPS, CHECK IN THIS ORDER</a:t>
            </a:r>
            <a:endParaRPr lang="en-US" sz="1500" dirty="0"/>
          </a:p>
        </p:txBody>
      </p:sp>
      <p:sp>
        <p:nvSpPr>
          <p:cNvPr id="3" name="Text 1"/>
          <p:cNvSpPr txBox="1"/>
          <p:nvPr/>
        </p:nvSpPr>
        <p:spPr>
          <a:xfrm>
            <a:off x="1481328" y="1188720"/>
            <a:ext cx="9189720" cy="1828800"/>
          </a:xfrm>
          <a:prstGeom prst="rect">
            <a:avLst/>
          </a:prstGeom>
          <a:noFill/>
          <a:ln/>
        </p:spPr>
        <p:txBody>
          <a:bodyPr wrap="square" lIns="0" tIns="0" rIns="0" bIns="0" rtlCol="0" anchor="t"/>
          <a:lstStyle/>
          <a:p>
            <a:pPr indent="0" marL="0">
              <a:lnSpc>
                <a:spcPts val="5310"/>
              </a:lnSpc>
              <a:buNone/>
            </a:pPr>
            <a:r>
              <a:rPr lang="en-US" sz="4500" dirty="0">
                <a:solidFill>
                  <a:srgbClr val="FFFFFF"/>
                </a:solidFill>
                <a:latin typeface="Poppins Bold" pitchFamily="34" charset="0"/>
                <a:ea typeface="Poppins Bold" pitchFamily="34" charset="-122"/>
                <a:cs typeface="Poppins Bold" pitchFamily="34" charset="-120"/>
              </a:rPr>
              <a:t>Do not start with your hands.</a:t>
            </a:r>
            <a:endParaRPr lang="en-US" sz="4500" dirty="0"/>
          </a:p>
        </p:txBody>
      </p:sp>
      <p:sp>
        <p:nvSpPr>
          <p:cNvPr id="4" name="Text 2"/>
          <p:cNvSpPr txBox="1"/>
          <p:nvPr/>
        </p:nvSpPr>
        <p:spPr>
          <a:xfrm>
            <a:off x="1481328" y="3794760"/>
            <a:ext cx="822960" cy="566928"/>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01</a:t>
            </a:r>
            <a:endParaRPr lang="en-US" sz="1500" dirty="0"/>
          </a:p>
        </p:txBody>
      </p:sp>
      <p:sp>
        <p:nvSpPr>
          <p:cNvPr id="5" name="Text 3"/>
          <p:cNvSpPr txBox="1"/>
          <p:nvPr/>
        </p:nvSpPr>
        <p:spPr>
          <a:xfrm>
            <a:off x="2395728" y="3794760"/>
            <a:ext cx="8275320" cy="566928"/>
          </a:xfrm>
          <a:prstGeom prst="rect">
            <a:avLst/>
          </a:prstGeom>
          <a:noFill/>
          <a:ln/>
        </p:spPr>
        <p:txBody>
          <a:bodyPr wrap="square" lIns="0" tIns="0" rIns="0" bIns="0" rtlCol="0" anchor="ctr"/>
          <a:lstStyle/>
          <a:p>
            <a:pPr indent="0" marL="0">
              <a:buNone/>
            </a:pPr>
            <a:r>
              <a:rPr lang="en-US" sz="2200" dirty="0">
                <a:solidFill>
                  <a:srgbClr val="FFFFFF"/>
                </a:solidFill>
                <a:latin typeface="Poppins Bold" pitchFamily="34" charset="0"/>
                <a:ea typeface="Poppins Bold" pitchFamily="34" charset="-122"/>
                <a:cs typeface="Poppins Bold" pitchFamily="34" charset="-120"/>
              </a:rPr>
              <a:t>Your environment</a:t>
            </a:r>
            <a:endParaRPr lang="en-US" sz="2200" dirty="0"/>
          </a:p>
        </p:txBody>
      </p:sp>
      <p:sp>
        <p:nvSpPr>
          <p:cNvPr id="6" name="Text 4"/>
          <p:cNvSpPr txBox="1"/>
          <p:nvPr/>
        </p:nvSpPr>
        <p:spPr>
          <a:xfrm>
            <a:off x="1481328" y="4727448"/>
            <a:ext cx="822960" cy="566928"/>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02</a:t>
            </a:r>
            <a:endParaRPr lang="en-US" sz="1500" dirty="0"/>
          </a:p>
        </p:txBody>
      </p:sp>
      <p:sp>
        <p:nvSpPr>
          <p:cNvPr id="7" name="Text 5"/>
          <p:cNvSpPr txBox="1"/>
          <p:nvPr/>
        </p:nvSpPr>
        <p:spPr>
          <a:xfrm>
            <a:off x="2395728" y="4727448"/>
            <a:ext cx="8275320" cy="566928"/>
          </a:xfrm>
          <a:prstGeom prst="rect">
            <a:avLst/>
          </a:prstGeom>
          <a:noFill/>
          <a:ln/>
        </p:spPr>
        <p:txBody>
          <a:bodyPr wrap="square" lIns="0" tIns="0" rIns="0" bIns="0" rtlCol="0" anchor="ctr"/>
          <a:lstStyle/>
          <a:p>
            <a:pPr indent="0" marL="0">
              <a:buNone/>
            </a:pPr>
            <a:r>
              <a:rPr lang="en-US" sz="2200" dirty="0">
                <a:solidFill>
                  <a:srgbClr val="FFFFFF"/>
                </a:solidFill>
                <a:latin typeface="Poppins Bold" pitchFamily="34" charset="0"/>
                <a:ea typeface="Poppins Bold" pitchFamily="34" charset="-122"/>
                <a:cs typeface="Poppins Bold" pitchFamily="34" charset="-120"/>
              </a:rPr>
              <a:t>Adhesive age and drop age</a:t>
            </a:r>
            <a:endParaRPr lang="en-US" sz="2200" dirty="0"/>
          </a:p>
        </p:txBody>
      </p:sp>
      <p:sp>
        <p:nvSpPr>
          <p:cNvPr id="8" name="Text 6"/>
          <p:cNvSpPr txBox="1"/>
          <p:nvPr/>
        </p:nvSpPr>
        <p:spPr>
          <a:xfrm>
            <a:off x="1481328" y="5660136"/>
            <a:ext cx="822960" cy="566928"/>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03</a:t>
            </a:r>
            <a:endParaRPr lang="en-US" sz="1500" dirty="0"/>
          </a:p>
        </p:txBody>
      </p:sp>
      <p:sp>
        <p:nvSpPr>
          <p:cNvPr id="9" name="Text 7"/>
          <p:cNvSpPr txBox="1"/>
          <p:nvPr/>
        </p:nvSpPr>
        <p:spPr>
          <a:xfrm>
            <a:off x="2395728" y="5660136"/>
            <a:ext cx="8275320" cy="566928"/>
          </a:xfrm>
          <a:prstGeom prst="rect">
            <a:avLst/>
          </a:prstGeom>
          <a:noFill/>
          <a:ln/>
        </p:spPr>
        <p:txBody>
          <a:bodyPr wrap="square" lIns="0" tIns="0" rIns="0" bIns="0" rtlCol="0" anchor="ctr"/>
          <a:lstStyle/>
          <a:p>
            <a:pPr indent="0" marL="0">
              <a:buNone/>
            </a:pPr>
            <a:r>
              <a:rPr lang="en-US" sz="2200" dirty="0">
                <a:solidFill>
                  <a:srgbClr val="FFFFFF"/>
                </a:solidFill>
                <a:latin typeface="Poppins Bold" pitchFamily="34" charset="0"/>
                <a:ea typeface="Poppins Bold" pitchFamily="34" charset="-122"/>
                <a:cs typeface="Poppins Bold" pitchFamily="34" charset="-120"/>
              </a:rPr>
              <a:t>Her aftercare</a:t>
            </a:r>
            <a:endParaRPr lang="en-US" sz="2200" dirty="0"/>
          </a:p>
        </p:txBody>
      </p:sp>
      <p:sp>
        <p:nvSpPr>
          <p:cNvPr id="10" name="Text 8"/>
          <p:cNvSpPr txBox="1"/>
          <p:nvPr/>
        </p:nvSpPr>
        <p:spPr>
          <a:xfrm>
            <a:off x="1481328" y="6592824"/>
            <a:ext cx="822960" cy="566928"/>
          </a:xfrm>
          <a:prstGeom prst="rect">
            <a:avLst/>
          </a:prstGeom>
          <a:noFill/>
          <a:ln/>
        </p:spPr>
        <p:txBody>
          <a:bodyPr wrap="square" lIns="0" tIns="0" rIns="0" bIns="0" rtlCol="0" anchor="ctr"/>
          <a:lstStyle/>
          <a:p>
            <a:pPr indent="0" marL="0">
              <a:buNone/>
            </a:pPr>
            <a:r>
              <a:rPr lang="en-US" sz="1500" spc="300" kern="0" dirty="0">
                <a:solidFill>
                  <a:srgbClr val="B9B3BB"/>
                </a:solidFill>
                <a:latin typeface="Poppins Bold" pitchFamily="34" charset="0"/>
                <a:ea typeface="Poppins Bold" pitchFamily="34" charset="-122"/>
                <a:cs typeface="Poppins Bold" pitchFamily="34" charset="-120"/>
              </a:rPr>
              <a:t>04</a:t>
            </a:r>
            <a:endParaRPr lang="en-US" sz="1500" dirty="0"/>
          </a:p>
        </p:txBody>
      </p:sp>
      <p:sp>
        <p:nvSpPr>
          <p:cNvPr id="11" name="Text 9"/>
          <p:cNvSpPr txBox="1"/>
          <p:nvPr/>
        </p:nvSpPr>
        <p:spPr>
          <a:xfrm>
            <a:off x="2395728" y="6592824"/>
            <a:ext cx="8275320" cy="566928"/>
          </a:xfrm>
          <a:prstGeom prst="rect">
            <a:avLst/>
          </a:prstGeom>
          <a:noFill/>
          <a:ln/>
        </p:spPr>
        <p:txBody>
          <a:bodyPr wrap="square" lIns="0" tIns="0" rIns="0" bIns="0" rtlCol="0" anchor="ctr"/>
          <a:lstStyle/>
          <a:p>
            <a:pPr indent="0" marL="0">
              <a:buNone/>
            </a:pPr>
            <a:r>
              <a:rPr lang="en-US" sz="2200" dirty="0">
                <a:solidFill>
                  <a:srgbClr val="B9B3BB"/>
                </a:solidFill>
                <a:latin typeface="Poppins" pitchFamily="34" charset="0"/>
                <a:ea typeface="Poppins" pitchFamily="34" charset="-122"/>
                <a:cs typeface="Poppins" pitchFamily="34" charset="-120"/>
              </a:rPr>
              <a:t>Your isolation</a:t>
            </a:r>
            <a:endParaRPr lang="en-US" sz="2200" dirty="0"/>
          </a:p>
        </p:txBody>
      </p:sp>
      <p:sp>
        <p:nvSpPr>
          <p:cNvPr id="12" name="Text 10"/>
          <p:cNvSpPr txBox="1"/>
          <p:nvPr/>
        </p:nvSpPr>
        <p:spPr>
          <a:xfrm>
            <a:off x="1481328" y="7525512"/>
            <a:ext cx="822960" cy="566928"/>
          </a:xfrm>
          <a:prstGeom prst="rect">
            <a:avLst/>
          </a:prstGeom>
          <a:noFill/>
          <a:ln/>
        </p:spPr>
        <p:txBody>
          <a:bodyPr wrap="square" lIns="0" tIns="0" rIns="0" bIns="0" rtlCol="0" anchor="ctr"/>
          <a:lstStyle/>
          <a:p>
            <a:pPr indent="0" marL="0">
              <a:buNone/>
            </a:pPr>
            <a:r>
              <a:rPr lang="en-US" sz="1500" spc="300" kern="0" dirty="0">
                <a:solidFill>
                  <a:srgbClr val="B9B3BB"/>
                </a:solidFill>
                <a:latin typeface="Poppins Bold" pitchFamily="34" charset="0"/>
                <a:ea typeface="Poppins Bold" pitchFamily="34" charset="-122"/>
                <a:cs typeface="Poppins Bold" pitchFamily="34" charset="-120"/>
              </a:rPr>
              <a:t>05</a:t>
            </a:r>
            <a:endParaRPr lang="en-US" sz="1500" dirty="0"/>
          </a:p>
        </p:txBody>
      </p:sp>
      <p:sp>
        <p:nvSpPr>
          <p:cNvPr id="13" name="Text 11"/>
          <p:cNvSpPr txBox="1"/>
          <p:nvPr/>
        </p:nvSpPr>
        <p:spPr>
          <a:xfrm>
            <a:off x="2395728" y="7525512"/>
            <a:ext cx="8275320" cy="566928"/>
          </a:xfrm>
          <a:prstGeom prst="rect">
            <a:avLst/>
          </a:prstGeom>
          <a:noFill/>
          <a:ln/>
        </p:spPr>
        <p:txBody>
          <a:bodyPr wrap="square" lIns="0" tIns="0" rIns="0" bIns="0" rtlCol="0" anchor="ctr"/>
          <a:lstStyle/>
          <a:p>
            <a:pPr indent="0" marL="0">
              <a:buNone/>
            </a:pPr>
            <a:r>
              <a:rPr lang="en-US" sz="2200" dirty="0">
                <a:solidFill>
                  <a:srgbClr val="B9B3BB"/>
                </a:solidFill>
                <a:latin typeface="Poppins" pitchFamily="34" charset="0"/>
                <a:ea typeface="Poppins" pitchFamily="34" charset="-122"/>
                <a:cs typeface="Poppins" pitchFamily="34" charset="-120"/>
              </a:rPr>
              <a:t>Your attachment</a:t>
            </a:r>
            <a:endParaRPr lang="en-US" sz="2200" dirty="0"/>
          </a:p>
        </p:txBody>
      </p:sp>
      <p:sp>
        <p:nvSpPr>
          <p:cNvPr id="14" name="Shape 12"/>
          <p:cNvSpPr/>
          <p:nvPr/>
        </p:nvSpPr>
        <p:spPr>
          <a:xfrm>
            <a:off x="10753344" y="2295144"/>
            <a:ext cx="6437376" cy="5285232"/>
          </a:xfrm>
          <a:prstGeom prst="rect">
            <a:avLst/>
          </a:prstGeom>
          <a:solidFill>
            <a:srgbClr val="262026"/>
          </a:solidFill>
          <a:ln/>
        </p:spPr>
      </p:sp>
      <p:pic>
        <p:nvPicPr>
          <p:cNvPr id="15" name="Image 0" descr="media/lash-macro.jpeg">    </p:cNvPr>
          <p:cNvPicPr>
            <a:picLocks noChangeAspect="1"/>
          </p:cNvPicPr>
          <p:nvPr/>
        </p:nvPicPr>
        <p:blipFill>
          <a:blip r:embed="rId1"/>
          <a:srcRect l="0" r="0" t="0" b="0"/>
          <a:stretch/>
        </p:blipFill>
        <p:spPr>
          <a:xfrm>
            <a:off x="10789920" y="2331720"/>
            <a:ext cx="6364224" cy="5212080"/>
          </a:xfrm>
          <a:prstGeom prst="rect">
            <a:avLst/>
          </a:prstGeom>
        </p:spPr>
      </p:pic>
      <p:sp>
        <p:nvSpPr>
          <p:cNvPr id="16" name="Text 13"/>
          <p:cNvSpPr txBox="1"/>
          <p:nvPr/>
        </p:nvSpPr>
        <p:spPr>
          <a:xfrm>
            <a:off x="1481328" y="8887968"/>
            <a:ext cx="9372600" cy="640080"/>
          </a:xfrm>
          <a:prstGeom prst="rect">
            <a:avLst/>
          </a:prstGeom>
          <a:noFill/>
          <a:ln/>
        </p:spPr>
        <p:txBody>
          <a:bodyPr wrap="square" lIns="0" tIns="0" rIns="0" bIns="0" rtlCol="0" anchor="ctr"/>
          <a:lstStyle/>
          <a:p>
            <a:pPr indent="0" marL="0">
              <a:buNone/>
            </a:pPr>
            <a:r>
              <a:rPr lang="en-US" sz="1725" i="1" dirty="0">
                <a:solidFill>
                  <a:srgbClr val="B9B3BB"/>
                </a:solidFill>
                <a:latin typeface="Poppins Italics" pitchFamily="34" charset="0"/>
                <a:ea typeface="Poppins Italics" pitchFamily="34" charset="-122"/>
                <a:cs typeface="Poppins Italics" pitchFamily="34" charset="-120"/>
              </a:rPr>
              <a:t>Most of you start at number five. That is why you have been blaming yourself.</a:t>
            </a:r>
            <a:endParaRPr lang="en-US" sz="1725"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0" y="3703320"/>
            <a:ext cx="18288000" cy="457200"/>
          </a:xfrm>
          <a:prstGeom prst="rect">
            <a:avLst/>
          </a:prstGeom>
          <a:noFill/>
          <a:ln/>
        </p:spPr>
        <p:txBody>
          <a:bodyPr wrap="square" lIns="0" tIns="0" rIns="0" bIns="0" rtlCol="0" anchor="ctr"/>
          <a:lstStyle/>
          <a:p>
            <a:pPr algn="ctr" indent="0" marL="0">
              <a:buNone/>
            </a:pPr>
            <a:r>
              <a:rPr lang="en-US" sz="1500" spc="600" kern="0" dirty="0">
                <a:solidFill>
                  <a:srgbClr val="B9B3BB"/>
                </a:solidFill>
                <a:latin typeface="Poppins Bold" pitchFamily="34" charset="0"/>
                <a:ea typeface="Poppins Bold" pitchFamily="34" charset="-122"/>
                <a:cs typeface="Poppins Bold" pitchFamily="34" charset="-120"/>
              </a:rPr>
              <a:t>YOU LEAVE WITH</a:t>
            </a:r>
            <a:endParaRPr lang="en-US" sz="1500" dirty="0"/>
          </a:p>
        </p:txBody>
      </p:sp>
      <p:sp>
        <p:nvSpPr>
          <p:cNvPr id="3" name="Text 1"/>
          <p:cNvSpPr txBox="1"/>
          <p:nvPr/>
        </p:nvSpPr>
        <p:spPr>
          <a:xfrm>
            <a:off x="0" y="4434840"/>
            <a:ext cx="18288000" cy="1554480"/>
          </a:xfrm>
          <a:prstGeom prst="rect">
            <a:avLst/>
          </a:prstGeom>
          <a:noFill/>
          <a:ln/>
        </p:spPr>
        <p:txBody>
          <a:bodyPr wrap="square" lIns="0" tIns="0" rIns="0" bIns="0" rtlCol="0" anchor="ctr"/>
          <a:lstStyle/>
          <a:p>
            <a:pPr algn="ctr" indent="0" marL="0">
              <a:buNone/>
            </a:pPr>
            <a:r>
              <a:rPr lang="en-US" sz="7200" dirty="0">
                <a:solidFill>
                  <a:srgbClr val="FFFFFF"/>
                </a:solidFill>
                <a:latin typeface="Poppins Bold" pitchFamily="34" charset="0"/>
                <a:ea typeface="Poppins Bold" pitchFamily="34" charset="-122"/>
                <a:cs typeface="Poppins Bold" pitchFamily="34" charset="-120"/>
              </a:rPr>
              <a:t>The Cure </a:t>
            </a:r>
            <a:pPr algn="ctr" indent="0" marL="0">
              <a:buNone/>
            </a:pPr>
            <a:r>
              <a:rPr lang="en-US" sz="7200" i="1" dirty="0">
                <a:solidFill>
                  <a:srgbClr val="D4AF37"/>
                </a:solidFill>
                <a:latin typeface="Poppins Italics" pitchFamily="34" charset="0"/>
                <a:ea typeface="Poppins Italics" pitchFamily="34" charset="-122"/>
                <a:cs typeface="Poppins Italics" pitchFamily="34" charset="-120"/>
              </a:rPr>
              <a:t>Check</a:t>
            </a:r>
            <a:endParaRPr lang="en-US" sz="7200" dirty="0"/>
          </a:p>
        </p:txBody>
      </p:sp>
      <p:sp>
        <p:nvSpPr>
          <p:cNvPr id="4" name="Text 2"/>
          <p:cNvSpPr txBox="1"/>
          <p:nvPr/>
        </p:nvSpPr>
        <p:spPr>
          <a:xfrm>
            <a:off x="3291840" y="6263640"/>
            <a:ext cx="11704320" cy="822960"/>
          </a:xfrm>
          <a:prstGeom prst="rect">
            <a:avLst/>
          </a:prstGeom>
          <a:noFill/>
          <a:ln/>
        </p:spPr>
        <p:txBody>
          <a:bodyPr wrap="square" lIns="0" tIns="0" rIns="0" bIns="0" rtlCol="0" anchor="ctr"/>
          <a:lstStyle/>
          <a:p>
            <a:pPr algn="ctr" indent="0" marL="0">
              <a:buNone/>
            </a:pPr>
            <a:r>
              <a:rPr lang="en-US" sz="2100" dirty="0">
                <a:solidFill>
                  <a:srgbClr val="B9B3BB"/>
                </a:solidFill>
                <a:latin typeface="Poppins" pitchFamily="34" charset="0"/>
                <a:ea typeface="Poppins" pitchFamily="34" charset="-122"/>
                <a:cs typeface="Poppins" pitchFamily="34" charset="-120"/>
              </a:rPr>
              <a:t>The three conditions in your room that decide how long her set lasts.</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36576" y="-36576"/>
            <a:ext cx="18361152" cy="2862072"/>
          </a:xfrm>
          <a:prstGeom prst="rect">
            <a:avLst/>
          </a:prstGeom>
          <a:solidFill>
            <a:srgbClr val="262026"/>
          </a:solidFill>
          <a:ln/>
        </p:spPr>
      </p:sp>
      <p:pic>
        <p:nvPicPr>
          <p:cNvPr id="3" name="Image 0" descr="media/lash-close-3.jpeg">    </p:cNvPr>
          <p:cNvPicPr>
            <a:picLocks noChangeAspect="1"/>
          </p:cNvPicPr>
          <p:nvPr/>
        </p:nvPicPr>
        <p:blipFill>
          <a:blip r:embed="rId1"/>
          <a:srcRect l="0" r="0" t="0" b="0"/>
          <a:stretch/>
        </p:blipFill>
        <p:spPr>
          <a:xfrm>
            <a:off x="0" y="0"/>
            <a:ext cx="18288000" cy="2788920"/>
          </a:xfrm>
          <a:prstGeom prst="rect">
            <a:avLst/>
          </a:prstGeom>
        </p:spPr>
      </p:pic>
      <p:sp>
        <p:nvSpPr>
          <p:cNvPr id="4" name="Shape 1"/>
          <p:cNvSpPr/>
          <p:nvPr/>
        </p:nvSpPr>
        <p:spPr>
          <a:xfrm>
            <a:off x="0" y="0"/>
            <a:ext cx="18288000" cy="2788920"/>
          </a:xfrm>
          <a:prstGeom prst="rect">
            <a:avLst/>
          </a:prstGeom>
          <a:solidFill>
            <a:srgbClr val="0A0A0A">
              <a:alpha val="55000"/>
            </a:srgbClr>
          </a:solidFill>
          <a:ln/>
        </p:spPr>
      </p:sp>
      <p:sp>
        <p:nvSpPr>
          <p:cNvPr id="5" name="Text 2"/>
          <p:cNvSpPr txBox="1"/>
          <p:nvPr/>
        </p:nvSpPr>
        <p:spPr>
          <a:xfrm>
            <a:off x="1481328" y="3931920"/>
            <a:ext cx="15672816" cy="548640"/>
          </a:xfrm>
          <a:prstGeom prst="rect">
            <a:avLst/>
          </a:prstGeom>
          <a:noFill/>
          <a:ln/>
        </p:spPr>
        <p:txBody>
          <a:bodyPr wrap="square" lIns="0" tIns="0" rIns="0" bIns="0" rtlCol="0" anchor="ctr"/>
          <a:lstStyle/>
          <a:p>
            <a:pPr indent="0" marL="0">
              <a:buNone/>
            </a:pPr>
            <a:r>
              <a:rPr lang="en-US" sz="1500" spc="800" kern="0" dirty="0">
                <a:solidFill>
                  <a:srgbClr val="F600A2"/>
                </a:solidFill>
                <a:latin typeface="Poppins Bold" pitchFamily="34" charset="0"/>
                <a:ea typeface="Poppins Bold" pitchFamily="34" charset="-122"/>
                <a:cs typeface="Poppins Bold" pitchFamily="34" charset="-120"/>
              </a:rPr>
              <a:t>ACT TWO</a:t>
            </a:r>
            <a:endParaRPr lang="en-US" sz="1500" dirty="0"/>
          </a:p>
        </p:txBody>
      </p:sp>
      <p:sp>
        <p:nvSpPr>
          <p:cNvPr id="6" name="Text 3"/>
          <p:cNvSpPr txBox="1"/>
          <p:nvPr/>
        </p:nvSpPr>
        <p:spPr>
          <a:xfrm>
            <a:off x="1481328" y="4617720"/>
            <a:ext cx="15672816" cy="1737360"/>
          </a:xfrm>
          <a:prstGeom prst="rect">
            <a:avLst/>
          </a:prstGeom>
          <a:noFill/>
          <a:ln/>
        </p:spPr>
        <p:txBody>
          <a:bodyPr wrap="square" lIns="0" tIns="0" rIns="0" bIns="0" rtlCol="0" anchor="ctr"/>
          <a:lstStyle/>
          <a:p>
            <a:pPr indent="0" marL="0">
              <a:buNone/>
            </a:pPr>
            <a:r>
              <a:rPr lang="en-US" sz="7600" dirty="0">
                <a:solidFill>
                  <a:srgbClr val="FFFFFF"/>
                </a:solidFill>
                <a:latin typeface="Poppins Bold" pitchFamily="34" charset="0"/>
                <a:ea typeface="Poppins Bold" pitchFamily="34" charset="-122"/>
                <a:cs typeface="Poppins Bold" pitchFamily="34" charset="-120"/>
              </a:rPr>
              <a:t>The </a:t>
            </a:r>
            <a:pPr indent="0" marL="0">
              <a:buNone/>
            </a:pPr>
            <a:r>
              <a:rPr lang="en-US" sz="7600" i="1" dirty="0">
                <a:solidFill>
                  <a:srgbClr val="D4AF37"/>
                </a:solidFill>
                <a:latin typeface="Poppins Italics" pitchFamily="34" charset="0"/>
                <a:ea typeface="Poppins Italics" pitchFamily="34" charset="-122"/>
                <a:cs typeface="Poppins Italics" pitchFamily="34" charset="-120"/>
              </a:rPr>
              <a:t>Consultation</a:t>
            </a:r>
            <a:endParaRPr lang="en-US" sz="7600" dirty="0"/>
          </a:p>
        </p:txBody>
      </p:sp>
      <p:sp>
        <p:nvSpPr>
          <p:cNvPr id="7" name="Text 4"/>
          <p:cNvSpPr txBox="1"/>
          <p:nvPr/>
        </p:nvSpPr>
        <p:spPr>
          <a:xfrm>
            <a:off x="1481328" y="6537960"/>
            <a:ext cx="15672816" cy="731520"/>
          </a:xfrm>
          <a:prstGeom prst="rect">
            <a:avLst/>
          </a:prstGeom>
          <a:noFill/>
          <a:ln/>
        </p:spPr>
        <p:txBody>
          <a:bodyPr wrap="square" lIns="0" tIns="0" rIns="0" bIns="0" rtlCol="0" anchor="ctr"/>
          <a:lstStyle/>
          <a:p>
            <a:pPr indent="0" marL="0">
              <a:buNone/>
            </a:pPr>
            <a:r>
              <a:rPr lang="en-US" sz="2100" dirty="0">
                <a:solidFill>
                  <a:srgbClr val="B9B3BB"/>
                </a:solidFill>
                <a:latin typeface="Poppins" pitchFamily="34" charset="0"/>
                <a:ea typeface="Poppins" pitchFamily="34" charset="-122"/>
                <a:cs typeface="Poppins" pitchFamily="34" charset="-120"/>
              </a:rPr>
              <a:t>It is decided before you pick up a tweezer.</a:t>
            </a:r>
            <a:endParaRPr lang="en-US" sz="2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ACT TWO  ·  THE FOUR QUESTIONS</a:t>
            </a:r>
            <a:endParaRPr lang="en-US" sz="1500" dirty="0"/>
          </a:p>
        </p:txBody>
      </p:sp>
      <p:sp>
        <p:nvSpPr>
          <p:cNvPr id="3" name="Text 1"/>
          <p:cNvSpPr txBox="1"/>
          <p:nvPr/>
        </p:nvSpPr>
        <p:spPr>
          <a:xfrm>
            <a:off x="1481328" y="1188720"/>
            <a:ext cx="15672816" cy="1828800"/>
          </a:xfrm>
          <a:prstGeom prst="rect">
            <a:avLst/>
          </a:prstGeom>
          <a:noFill/>
          <a:ln/>
        </p:spPr>
        <p:txBody>
          <a:bodyPr wrap="square" lIns="0" tIns="0" rIns="0" bIns="0" rtlCol="0" anchor="t"/>
          <a:lstStyle/>
          <a:p>
            <a:pPr indent="0" marL="0">
              <a:lnSpc>
                <a:spcPts val="5310"/>
              </a:lnSpc>
              <a:buNone/>
            </a:pPr>
            <a:r>
              <a:rPr lang="en-US" sz="4500" dirty="0">
                <a:solidFill>
                  <a:srgbClr val="FFFFFF"/>
                </a:solidFill>
                <a:latin typeface="Poppins Bold" pitchFamily="34" charset="0"/>
                <a:ea typeface="Poppins Bold" pitchFamily="34" charset="-122"/>
                <a:cs typeface="Poppins Bold" pitchFamily="34" charset="-120"/>
              </a:rPr>
              <a:t>Ask these at intake. Every time.</a:t>
            </a:r>
            <a:endParaRPr lang="en-US" sz="4500" dirty="0"/>
          </a:p>
        </p:txBody>
      </p:sp>
      <p:sp>
        <p:nvSpPr>
          <p:cNvPr id="4" name="Text 2"/>
          <p:cNvSpPr txBox="1"/>
          <p:nvPr/>
        </p:nvSpPr>
        <p:spPr>
          <a:xfrm>
            <a:off x="1481328" y="384048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01</a:t>
            </a:r>
            <a:endParaRPr lang="en-US" sz="1500" dirty="0"/>
          </a:p>
        </p:txBody>
      </p:sp>
      <p:sp>
        <p:nvSpPr>
          <p:cNvPr id="5" name="Text 3"/>
          <p:cNvSpPr txBox="1"/>
          <p:nvPr/>
        </p:nvSpPr>
        <p:spPr>
          <a:xfrm>
            <a:off x="2395728" y="384048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What are you putting on your face at night?</a:t>
            </a:r>
            <a:endParaRPr lang="en-US" sz="1950" dirty="0"/>
          </a:p>
        </p:txBody>
      </p:sp>
      <p:sp>
        <p:nvSpPr>
          <p:cNvPr id="6" name="Text 4"/>
          <p:cNvSpPr txBox="1"/>
          <p:nvPr/>
        </p:nvSpPr>
        <p:spPr>
          <a:xfrm>
            <a:off x="2395728" y="431596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Skincare is the number one silent bond-killer</a:t>
            </a:r>
            <a:endParaRPr lang="en-US" sz="1725" dirty="0"/>
          </a:p>
        </p:txBody>
      </p:sp>
      <p:sp>
        <p:nvSpPr>
          <p:cNvPr id="7" name="Text 5"/>
          <p:cNvSpPr txBox="1"/>
          <p:nvPr/>
        </p:nvSpPr>
        <p:spPr>
          <a:xfrm>
            <a:off x="1481328" y="502920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02</a:t>
            </a:r>
            <a:endParaRPr lang="en-US" sz="1500" dirty="0"/>
          </a:p>
        </p:txBody>
      </p:sp>
      <p:sp>
        <p:nvSpPr>
          <p:cNvPr id="8" name="Text 6"/>
          <p:cNvSpPr txBox="1"/>
          <p:nvPr/>
        </p:nvSpPr>
        <p:spPr>
          <a:xfrm>
            <a:off x="2395728" y="502920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How does the water hit your face in the shower?</a:t>
            </a:r>
            <a:endParaRPr lang="en-US" sz="1950" dirty="0"/>
          </a:p>
        </p:txBody>
      </p:sp>
      <p:sp>
        <p:nvSpPr>
          <p:cNvPr id="9" name="Text 7"/>
          <p:cNvSpPr txBox="1"/>
          <p:nvPr/>
        </p:nvSpPr>
        <p:spPr>
          <a:xfrm>
            <a:off x="2395728" y="550468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Direct hot water, every day, is a different set</a:t>
            </a:r>
            <a:endParaRPr lang="en-US" sz="1725" dirty="0"/>
          </a:p>
        </p:txBody>
      </p:sp>
      <p:sp>
        <p:nvSpPr>
          <p:cNvPr id="10" name="Text 8"/>
          <p:cNvSpPr txBox="1"/>
          <p:nvPr/>
        </p:nvSpPr>
        <p:spPr>
          <a:xfrm>
            <a:off x="1481328" y="621792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03</a:t>
            </a:r>
            <a:endParaRPr lang="en-US" sz="1500" dirty="0"/>
          </a:p>
        </p:txBody>
      </p:sp>
      <p:sp>
        <p:nvSpPr>
          <p:cNvPr id="11" name="Text 9"/>
          <p:cNvSpPr txBox="1"/>
          <p:nvPr/>
        </p:nvSpPr>
        <p:spPr>
          <a:xfrm>
            <a:off x="2395728" y="621792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Are you wearing mascara on these?</a:t>
            </a:r>
            <a:endParaRPr lang="en-US" sz="1950" dirty="0"/>
          </a:p>
        </p:txBody>
      </p:sp>
      <p:sp>
        <p:nvSpPr>
          <p:cNvPr id="12" name="Text 10"/>
          <p:cNvSpPr txBox="1"/>
          <p:nvPr/>
        </p:nvSpPr>
        <p:spPr>
          <a:xfrm>
            <a:off x="2395728" y="669340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This answer changes what you can safely build</a:t>
            </a:r>
            <a:endParaRPr lang="en-US" sz="1725" dirty="0"/>
          </a:p>
        </p:txBody>
      </p:sp>
      <p:sp>
        <p:nvSpPr>
          <p:cNvPr id="13" name="Text 11"/>
          <p:cNvSpPr txBox="1"/>
          <p:nvPr/>
        </p:nvSpPr>
        <p:spPr>
          <a:xfrm>
            <a:off x="1481328" y="740664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04</a:t>
            </a:r>
            <a:endParaRPr lang="en-US" sz="1500" dirty="0"/>
          </a:p>
        </p:txBody>
      </p:sp>
      <p:sp>
        <p:nvSpPr>
          <p:cNvPr id="14" name="Text 12"/>
          <p:cNvSpPr txBox="1"/>
          <p:nvPr/>
        </p:nvSpPr>
        <p:spPr>
          <a:xfrm>
            <a:off x="2395728" y="740664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When was your last full set?</a:t>
            </a:r>
            <a:endParaRPr lang="en-US" sz="1950" dirty="0"/>
          </a:p>
        </p:txBody>
      </p:sp>
      <p:sp>
        <p:nvSpPr>
          <p:cNvPr id="15" name="Text 13"/>
          <p:cNvSpPr txBox="1"/>
          <p:nvPr/>
        </p:nvSpPr>
        <p:spPr>
          <a:xfrm>
            <a:off x="2395728" y="788212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Tells you where she is in her own lash cycle</a:t>
            </a:r>
            <a:endParaRPr lang="en-US" sz="1725" dirty="0"/>
          </a:p>
        </p:txBody>
      </p:sp>
      <p:sp>
        <p:nvSpPr>
          <p:cNvPr id="16" name="Text 14"/>
          <p:cNvSpPr txBox="1"/>
          <p:nvPr/>
        </p:nvSpPr>
        <p:spPr>
          <a:xfrm>
            <a:off x="1481328" y="8887968"/>
            <a:ext cx="15672816" cy="640080"/>
          </a:xfrm>
          <a:prstGeom prst="rect">
            <a:avLst/>
          </a:prstGeom>
          <a:noFill/>
          <a:ln/>
        </p:spPr>
        <p:txBody>
          <a:bodyPr wrap="square" lIns="0" tIns="0" rIns="0" bIns="0" rtlCol="0" anchor="ctr"/>
          <a:lstStyle/>
          <a:p>
            <a:pPr indent="0" marL="0">
              <a:buNone/>
            </a:pPr>
            <a:r>
              <a:rPr lang="en-US" sz="1725" i="1" dirty="0">
                <a:solidFill>
                  <a:srgbClr val="B9B3BB"/>
                </a:solidFill>
                <a:latin typeface="Poppins Italics" pitchFamily="34" charset="0"/>
                <a:ea typeface="Poppins Italics" pitchFamily="34" charset="-122"/>
                <a:cs typeface="Poppins Italics" pitchFamily="34" charset="-120"/>
              </a:rPr>
              <a:t>Her answer tells you what her set is going to do, before you touch her.</a:t>
            </a:r>
            <a:endParaRPr lang="en-US" sz="1725"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AND THIS IS THE PART THAT SAVES YOU</a:t>
            </a:r>
            <a:endParaRPr lang="en-US" sz="1500" dirty="0"/>
          </a:p>
        </p:txBody>
      </p:sp>
      <p:sp>
        <p:nvSpPr>
          <p:cNvPr id="3" name="Text 1"/>
          <p:cNvSpPr txBox="1"/>
          <p:nvPr/>
        </p:nvSpPr>
        <p:spPr>
          <a:xfrm>
            <a:off x="1481328" y="2606040"/>
            <a:ext cx="9555480" cy="2377440"/>
          </a:xfrm>
          <a:prstGeom prst="rect">
            <a:avLst/>
          </a:prstGeom>
          <a:noFill/>
          <a:ln/>
        </p:spPr>
        <p:txBody>
          <a:bodyPr wrap="square" lIns="0" tIns="0" rIns="0" bIns="0" rtlCol="0" anchor="t"/>
          <a:lstStyle/>
          <a:p>
            <a:pPr indent="0" marL="0">
              <a:lnSpc>
                <a:spcPts val="3894"/>
              </a:lnSpc>
              <a:buNone/>
            </a:pPr>
            <a:r>
              <a:rPr lang="en-US" sz="3300" dirty="0">
                <a:solidFill>
                  <a:srgbClr val="FFFFFF"/>
                </a:solidFill>
                <a:latin typeface="Poppins Bold" pitchFamily="34" charset="0"/>
                <a:ea typeface="Poppins Bold" pitchFamily="34" charset="-122"/>
                <a:cs typeface="Poppins Bold" pitchFamily="34" charset="-120"/>
              </a:rPr>
              <a:t>Say it out loud at intake
</a:t>
            </a:r>
            <a:pPr indent="0" marL="0">
              <a:lnSpc>
                <a:spcPts val="3894"/>
              </a:lnSpc>
              <a:buNone/>
            </a:pPr>
            <a:r>
              <a:rPr lang="en-US" sz="3300" i="1" dirty="0">
                <a:solidFill>
                  <a:srgbClr val="F600A2"/>
                </a:solidFill>
                <a:latin typeface="Poppins Italics" pitchFamily="34" charset="0"/>
                <a:ea typeface="Poppins Italics" pitchFamily="34" charset="-122"/>
                <a:cs typeface="Poppins Italics" pitchFamily="34" charset="-120"/>
              </a:rPr>
              <a:t>instead of her finding out on day nine.</a:t>
            </a:r>
            <a:endParaRPr lang="en-US" sz="3300" dirty="0"/>
          </a:p>
        </p:txBody>
      </p:sp>
      <p:sp>
        <p:nvSpPr>
          <p:cNvPr id="4" name="Text 2"/>
          <p:cNvSpPr txBox="1"/>
          <p:nvPr/>
        </p:nvSpPr>
        <p:spPr>
          <a:xfrm>
            <a:off x="1481328" y="5806440"/>
            <a:ext cx="9555480" cy="2194560"/>
          </a:xfrm>
          <a:prstGeom prst="rect">
            <a:avLst/>
          </a:prstGeom>
          <a:noFill/>
          <a:ln/>
        </p:spPr>
        <p:txBody>
          <a:bodyPr wrap="square" lIns="0" tIns="0" rIns="0" bIns="0" rtlCol="0" anchor="ctr"/>
          <a:lstStyle/>
          <a:p>
            <a:pPr indent="0" marL="0">
              <a:lnSpc>
                <a:spcPts val="3800"/>
              </a:lnSpc>
              <a:buNone/>
            </a:pPr>
            <a:r>
              <a:rPr lang="en-US" sz="2300" i="1" dirty="0">
                <a:solidFill>
                  <a:srgbClr val="FFFFFF"/>
                </a:solidFill>
                <a:latin typeface="Poppins Italics" pitchFamily="34" charset="0"/>
                <a:ea typeface="Poppins Italics" pitchFamily="34" charset="-122"/>
                <a:cs typeface="Poppins Italics" pitchFamily="34" charset="-120"/>
              </a:rPr>
              <a:t>“Based on what you just told me, your set is going to want a fill around week two instead of week three. That is your oil, not my work. Here is what we do about it.”</a:t>
            </a:r>
            <a:endParaRPr lang="en-US" sz="2300" dirty="0"/>
          </a:p>
        </p:txBody>
      </p:sp>
      <p:sp>
        <p:nvSpPr>
          <p:cNvPr id="5" name="Shape 3"/>
          <p:cNvSpPr/>
          <p:nvPr/>
        </p:nvSpPr>
        <p:spPr>
          <a:xfrm>
            <a:off x="11301984" y="1517904"/>
            <a:ext cx="5888736" cy="6473952"/>
          </a:xfrm>
          <a:prstGeom prst="rect">
            <a:avLst/>
          </a:prstGeom>
          <a:solidFill>
            <a:srgbClr val="262026"/>
          </a:solidFill>
          <a:ln/>
        </p:spPr>
      </p:sp>
      <p:pic>
        <p:nvPicPr>
          <p:cNvPr id="6" name="Image 0" descr="media/work-1.jpeg">    </p:cNvPr>
          <p:cNvPicPr>
            <a:picLocks noChangeAspect="1"/>
          </p:cNvPicPr>
          <p:nvPr/>
        </p:nvPicPr>
        <p:blipFill>
          <a:blip r:embed="rId1"/>
          <a:srcRect l="0" r="0" t="0" b="0"/>
          <a:stretch/>
        </p:blipFill>
        <p:spPr>
          <a:xfrm>
            <a:off x="11338560" y="1554480"/>
            <a:ext cx="5815584" cy="6400800"/>
          </a:xfrm>
          <a:prstGeom prst="rect">
            <a:avLst/>
          </a:prstGeom>
        </p:spPr>
      </p:pic>
      <p:sp>
        <p:nvSpPr>
          <p:cNvPr id="7" name="Text 4"/>
          <p:cNvSpPr txBox="1"/>
          <p:nvPr/>
        </p:nvSpPr>
        <p:spPr>
          <a:xfrm>
            <a:off x="1481328" y="8887968"/>
            <a:ext cx="9555480" cy="640080"/>
          </a:xfrm>
          <a:prstGeom prst="rect">
            <a:avLst/>
          </a:prstGeom>
          <a:noFill/>
          <a:ln/>
        </p:spPr>
        <p:txBody>
          <a:bodyPr wrap="square" lIns="0" tIns="0" rIns="0" bIns="0" rtlCol="0" anchor="ctr"/>
          <a:lstStyle/>
          <a:p>
            <a:pPr indent="0" marL="0">
              <a:buNone/>
            </a:pPr>
            <a:r>
              <a:rPr lang="en-US" sz="1725" i="1" dirty="0">
                <a:solidFill>
                  <a:srgbClr val="B9B3BB"/>
                </a:solidFill>
                <a:latin typeface="Poppins Italics" pitchFamily="34" charset="0"/>
                <a:ea typeface="Poppins Italics" pitchFamily="34" charset="-122"/>
                <a:cs typeface="Poppins Italics" pitchFamily="34" charset="-120"/>
              </a:rPr>
              <a:t>You just turned a future complaint into proof that you knew what you were doing.</a:t>
            </a:r>
            <a:endParaRPr lang="en-US" sz="1725"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0" y="3703320"/>
            <a:ext cx="18288000" cy="457200"/>
          </a:xfrm>
          <a:prstGeom prst="rect">
            <a:avLst/>
          </a:prstGeom>
          <a:noFill/>
          <a:ln/>
        </p:spPr>
        <p:txBody>
          <a:bodyPr wrap="square" lIns="0" tIns="0" rIns="0" bIns="0" rtlCol="0" anchor="ctr"/>
          <a:lstStyle/>
          <a:p>
            <a:pPr algn="ctr" indent="0" marL="0">
              <a:buNone/>
            </a:pPr>
            <a:r>
              <a:rPr lang="en-US" sz="1500" spc="600" kern="0" dirty="0">
                <a:solidFill>
                  <a:srgbClr val="B9B3BB"/>
                </a:solidFill>
                <a:latin typeface="Poppins Bold" pitchFamily="34" charset="0"/>
                <a:ea typeface="Poppins Bold" pitchFamily="34" charset="-122"/>
                <a:cs typeface="Poppins Bold" pitchFamily="34" charset="-120"/>
              </a:rPr>
              <a:t>YOU LEAVE WITH</a:t>
            </a:r>
            <a:endParaRPr lang="en-US" sz="1500" dirty="0"/>
          </a:p>
        </p:txBody>
      </p:sp>
      <p:sp>
        <p:nvSpPr>
          <p:cNvPr id="3" name="Text 1"/>
          <p:cNvSpPr txBox="1"/>
          <p:nvPr/>
        </p:nvSpPr>
        <p:spPr>
          <a:xfrm>
            <a:off x="0" y="4434840"/>
            <a:ext cx="18288000" cy="1554480"/>
          </a:xfrm>
          <a:prstGeom prst="rect">
            <a:avLst/>
          </a:prstGeom>
          <a:noFill/>
          <a:ln/>
        </p:spPr>
        <p:txBody>
          <a:bodyPr wrap="square" lIns="0" tIns="0" rIns="0" bIns="0" rtlCol="0" anchor="ctr"/>
          <a:lstStyle/>
          <a:p>
            <a:pPr algn="ctr" indent="0" marL="0">
              <a:buNone/>
            </a:pPr>
            <a:r>
              <a:rPr lang="en-US" sz="7200" dirty="0">
                <a:solidFill>
                  <a:srgbClr val="FFFFFF"/>
                </a:solidFill>
                <a:latin typeface="Poppins Bold" pitchFamily="34" charset="0"/>
                <a:ea typeface="Poppins Bold" pitchFamily="34" charset="-122"/>
                <a:cs typeface="Poppins Bold" pitchFamily="34" charset="-120"/>
              </a:rPr>
              <a:t>The Four </a:t>
            </a:r>
            <a:pPr algn="ctr" indent="0" marL="0">
              <a:buNone/>
            </a:pPr>
            <a:r>
              <a:rPr lang="en-US" sz="7200" i="1" dirty="0">
                <a:solidFill>
                  <a:srgbClr val="D4AF37"/>
                </a:solidFill>
                <a:latin typeface="Poppins Italics" pitchFamily="34" charset="0"/>
                <a:ea typeface="Poppins Italics" pitchFamily="34" charset="-122"/>
                <a:cs typeface="Poppins Italics" pitchFamily="34" charset="-120"/>
              </a:rPr>
              <a:t>Questions</a:t>
            </a:r>
            <a:endParaRPr lang="en-US" sz="7200" dirty="0"/>
          </a:p>
        </p:txBody>
      </p:sp>
      <p:sp>
        <p:nvSpPr>
          <p:cNvPr id="4" name="Text 2"/>
          <p:cNvSpPr txBox="1"/>
          <p:nvPr/>
        </p:nvSpPr>
        <p:spPr>
          <a:xfrm>
            <a:off x="3291840" y="6263640"/>
            <a:ext cx="11704320" cy="822960"/>
          </a:xfrm>
          <a:prstGeom prst="rect">
            <a:avLst/>
          </a:prstGeom>
          <a:noFill/>
          <a:ln/>
        </p:spPr>
        <p:txBody>
          <a:bodyPr wrap="square" lIns="0" tIns="0" rIns="0" bIns="0" rtlCol="0" anchor="ctr"/>
          <a:lstStyle/>
          <a:p>
            <a:pPr algn="ctr" indent="0" marL="0">
              <a:buNone/>
            </a:pPr>
            <a:r>
              <a:rPr lang="en-US" sz="2100" dirty="0">
                <a:solidFill>
                  <a:srgbClr val="B9B3BB"/>
                </a:solidFill>
                <a:latin typeface="Poppins" pitchFamily="34" charset="0"/>
                <a:ea typeface="Poppins" pitchFamily="34" charset="-122"/>
                <a:cs typeface="Poppins" pitchFamily="34" charset="-120"/>
              </a:rPr>
              <a:t>Ask them at your next appointment. Watch what changes.</a:t>
            </a:r>
            <a:endParaRPr lang="en-US" sz="2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36576" y="-36576"/>
            <a:ext cx="18361152" cy="2862072"/>
          </a:xfrm>
          <a:prstGeom prst="rect">
            <a:avLst/>
          </a:prstGeom>
          <a:solidFill>
            <a:srgbClr val="262026"/>
          </a:solidFill>
          <a:ln/>
        </p:spPr>
      </p:sp>
      <p:pic>
        <p:nvPicPr>
          <p:cNvPr id="3" name="Image 0" descr="media/lash-close-1.jpeg">    </p:cNvPr>
          <p:cNvPicPr>
            <a:picLocks noChangeAspect="1"/>
          </p:cNvPicPr>
          <p:nvPr/>
        </p:nvPicPr>
        <p:blipFill>
          <a:blip r:embed="rId1"/>
          <a:srcRect l="0" r="0" t="0" b="0"/>
          <a:stretch/>
        </p:blipFill>
        <p:spPr>
          <a:xfrm>
            <a:off x="0" y="0"/>
            <a:ext cx="18288000" cy="2788920"/>
          </a:xfrm>
          <a:prstGeom prst="rect">
            <a:avLst/>
          </a:prstGeom>
        </p:spPr>
      </p:pic>
      <p:sp>
        <p:nvSpPr>
          <p:cNvPr id="4" name="Shape 1"/>
          <p:cNvSpPr/>
          <p:nvPr/>
        </p:nvSpPr>
        <p:spPr>
          <a:xfrm>
            <a:off x="0" y="0"/>
            <a:ext cx="18288000" cy="2788920"/>
          </a:xfrm>
          <a:prstGeom prst="rect">
            <a:avLst/>
          </a:prstGeom>
          <a:solidFill>
            <a:srgbClr val="0A0A0A">
              <a:alpha val="55000"/>
            </a:srgbClr>
          </a:solidFill>
          <a:ln/>
        </p:spPr>
      </p:sp>
      <p:sp>
        <p:nvSpPr>
          <p:cNvPr id="5" name="Text 2"/>
          <p:cNvSpPr txBox="1"/>
          <p:nvPr/>
        </p:nvSpPr>
        <p:spPr>
          <a:xfrm>
            <a:off x="1481328" y="3931920"/>
            <a:ext cx="15672816" cy="548640"/>
          </a:xfrm>
          <a:prstGeom prst="rect">
            <a:avLst/>
          </a:prstGeom>
          <a:noFill/>
          <a:ln/>
        </p:spPr>
        <p:txBody>
          <a:bodyPr wrap="square" lIns="0" tIns="0" rIns="0" bIns="0" rtlCol="0" anchor="ctr"/>
          <a:lstStyle/>
          <a:p>
            <a:pPr indent="0" marL="0">
              <a:buNone/>
            </a:pPr>
            <a:r>
              <a:rPr lang="en-US" sz="1500" spc="800" kern="0" dirty="0">
                <a:solidFill>
                  <a:srgbClr val="F600A2"/>
                </a:solidFill>
                <a:latin typeface="Poppins Bold" pitchFamily="34" charset="0"/>
                <a:ea typeface="Poppins Bold" pitchFamily="34" charset="-122"/>
                <a:cs typeface="Poppins Bold" pitchFamily="34" charset="-120"/>
              </a:rPr>
              <a:t>ACT THREE</a:t>
            </a:r>
            <a:endParaRPr lang="en-US" sz="1500" dirty="0"/>
          </a:p>
        </p:txBody>
      </p:sp>
      <p:sp>
        <p:nvSpPr>
          <p:cNvPr id="6" name="Text 3"/>
          <p:cNvSpPr txBox="1"/>
          <p:nvPr/>
        </p:nvSpPr>
        <p:spPr>
          <a:xfrm>
            <a:off x="1481328" y="4617720"/>
            <a:ext cx="15672816" cy="1737360"/>
          </a:xfrm>
          <a:prstGeom prst="rect">
            <a:avLst/>
          </a:prstGeom>
          <a:noFill/>
          <a:ln/>
        </p:spPr>
        <p:txBody>
          <a:bodyPr wrap="square" lIns="0" tIns="0" rIns="0" bIns="0" rtlCol="0" anchor="ctr"/>
          <a:lstStyle/>
          <a:p>
            <a:pPr indent="0" marL="0">
              <a:buNone/>
            </a:pPr>
            <a:r>
              <a:rPr lang="en-US" sz="7600" dirty="0">
                <a:solidFill>
                  <a:srgbClr val="FFFFFF"/>
                </a:solidFill>
                <a:latin typeface="Poppins Bold" pitchFamily="34" charset="0"/>
                <a:ea typeface="Poppins Bold" pitchFamily="34" charset="-122"/>
                <a:cs typeface="Poppins Bold" pitchFamily="34" charset="-120"/>
              </a:rPr>
              <a:t>The </a:t>
            </a:r>
            <a:pPr indent="0" marL="0">
              <a:buNone/>
            </a:pPr>
            <a:r>
              <a:rPr lang="en-US" sz="7600" i="1" dirty="0">
                <a:solidFill>
                  <a:srgbClr val="D4AF37"/>
                </a:solidFill>
                <a:latin typeface="Poppins Italics" pitchFamily="34" charset="0"/>
                <a:ea typeface="Poppins Italics" pitchFamily="34" charset="-122"/>
                <a:cs typeface="Poppins Italics" pitchFamily="34" charset="-120"/>
              </a:rPr>
              <a:t>Rebooking</a:t>
            </a:r>
            <a:endParaRPr lang="en-US" sz="7600" dirty="0"/>
          </a:p>
        </p:txBody>
      </p:sp>
      <p:sp>
        <p:nvSpPr>
          <p:cNvPr id="7" name="Text 4"/>
          <p:cNvSpPr txBox="1"/>
          <p:nvPr/>
        </p:nvSpPr>
        <p:spPr>
          <a:xfrm>
            <a:off x="1481328" y="6537960"/>
            <a:ext cx="15672816" cy="731520"/>
          </a:xfrm>
          <a:prstGeom prst="rect">
            <a:avLst/>
          </a:prstGeom>
          <a:noFill/>
          <a:ln/>
        </p:spPr>
        <p:txBody>
          <a:bodyPr wrap="square" lIns="0" tIns="0" rIns="0" bIns="0" rtlCol="0" anchor="ctr"/>
          <a:lstStyle/>
          <a:p>
            <a:pPr indent="0" marL="0">
              <a:buNone/>
            </a:pPr>
            <a:r>
              <a:rPr lang="en-US" sz="2100" dirty="0">
                <a:solidFill>
                  <a:srgbClr val="B9B3BB"/>
                </a:solidFill>
                <a:latin typeface="Poppins" pitchFamily="34" charset="0"/>
                <a:ea typeface="Poppins" pitchFamily="34" charset="-122"/>
                <a:cs typeface="Poppins" pitchFamily="34" charset="-120"/>
              </a:rPr>
              <a:t>A set that lasts is a client who comes back.</a:t>
            </a:r>
            <a:endParaRPr lang="en-US" sz="2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ACT THREE  ·  WHY THIS IS THE MONEY PART</a:t>
            </a:r>
            <a:endParaRPr lang="en-US" sz="1500" dirty="0"/>
          </a:p>
        </p:txBody>
      </p:sp>
      <p:sp>
        <p:nvSpPr>
          <p:cNvPr id="3" name="Text 1"/>
          <p:cNvSpPr txBox="1"/>
          <p:nvPr/>
        </p:nvSpPr>
        <p:spPr>
          <a:xfrm>
            <a:off x="1481328" y="1965960"/>
            <a:ext cx="9738360" cy="1828800"/>
          </a:xfrm>
          <a:prstGeom prst="rect">
            <a:avLst/>
          </a:prstGeom>
          <a:noFill/>
          <a:ln/>
        </p:spPr>
        <p:txBody>
          <a:bodyPr wrap="square" lIns="0" tIns="0" rIns="0" bIns="0" rtlCol="0" anchor="t"/>
          <a:lstStyle/>
          <a:p>
            <a:pPr indent="0" marL="0">
              <a:lnSpc>
                <a:spcPts val="4484"/>
              </a:lnSpc>
              <a:buNone/>
            </a:pPr>
            <a:r>
              <a:rPr lang="en-US" sz="3800" dirty="0">
                <a:solidFill>
                  <a:srgbClr val="FFFFFF"/>
                </a:solidFill>
                <a:latin typeface="Poppins Bold" pitchFamily="34" charset="0"/>
                <a:ea typeface="Poppins Bold" pitchFamily="34" charset="-122"/>
                <a:cs typeface="Poppins Bold" pitchFamily="34" charset="-120"/>
              </a:rPr>
              <a:t>Retention stops being about lashes
</a:t>
            </a:r>
            <a:pPr indent="0" marL="0">
              <a:lnSpc>
                <a:spcPts val="4484"/>
              </a:lnSpc>
              <a:buNone/>
            </a:pPr>
            <a:r>
              <a:rPr lang="en-US" sz="3800" i="1" dirty="0">
                <a:solidFill>
                  <a:srgbClr val="F600A2"/>
                </a:solidFill>
                <a:latin typeface="Poppins Italics" pitchFamily="34" charset="0"/>
                <a:ea typeface="Poppins Italics" pitchFamily="34" charset="-122"/>
                <a:cs typeface="Poppins Italics" pitchFamily="34" charset="-120"/>
              </a:rPr>
              <a:t>and starts being about your money.</a:t>
            </a:r>
            <a:endParaRPr lang="en-US" sz="3800" dirty="0"/>
          </a:p>
        </p:txBody>
      </p:sp>
      <p:sp>
        <p:nvSpPr>
          <p:cNvPr id="4" name="Text 2"/>
          <p:cNvSpPr txBox="1"/>
          <p:nvPr/>
        </p:nvSpPr>
        <p:spPr>
          <a:xfrm>
            <a:off x="1481328" y="5532120"/>
            <a:ext cx="9738360" cy="2560320"/>
          </a:xfrm>
          <a:prstGeom prst="rect">
            <a:avLst/>
          </a:prstGeom>
          <a:noFill/>
          <a:ln/>
        </p:spPr>
        <p:txBody>
          <a:bodyPr wrap="square" lIns="0" tIns="0" rIns="0" bIns="0" rtlCol="0" anchor="ctr"/>
          <a:lstStyle/>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When her set lasts, she trusts you. She comes back. She rebooks before she ever leaves the chair.</a:t>
            </a:r>
            <a:endParaRPr lang="en-US" sz="2100" dirty="0"/>
          </a:p>
          <a:p>
            <a:pPr indent="0" marL="0">
              <a:lnSpc>
                <a:spcPts val="3500"/>
              </a:lnSpc>
              <a:buNone/>
            </a:pPr>
            <a:endParaRPr lang="en-US" sz="2100" dirty="0"/>
          </a:p>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You stop chasing. You stop discounting. You stop redoing sets for nothing.</a:t>
            </a:r>
            <a:endParaRPr lang="en-US" sz="2100" dirty="0"/>
          </a:p>
        </p:txBody>
      </p:sp>
      <p:sp>
        <p:nvSpPr>
          <p:cNvPr id="5" name="Shape 3"/>
          <p:cNvSpPr/>
          <p:nvPr/>
        </p:nvSpPr>
        <p:spPr>
          <a:xfrm>
            <a:off x="11713464" y="1380744"/>
            <a:ext cx="5477256" cy="6611112"/>
          </a:xfrm>
          <a:prstGeom prst="rect">
            <a:avLst/>
          </a:prstGeom>
          <a:solidFill>
            <a:srgbClr val="262026"/>
          </a:solidFill>
          <a:ln/>
        </p:spPr>
      </p:sp>
      <p:pic>
        <p:nvPicPr>
          <p:cNvPr id="6" name="Image 0" descr="media/lashing-pink.jpeg">    </p:cNvPr>
          <p:cNvPicPr>
            <a:picLocks noChangeAspect="1"/>
          </p:cNvPicPr>
          <p:nvPr/>
        </p:nvPicPr>
        <p:blipFill>
          <a:blip r:embed="rId1"/>
          <a:srcRect l="0" r="0" t="0" b="0"/>
          <a:stretch/>
        </p:blipFill>
        <p:spPr>
          <a:xfrm>
            <a:off x="11750040" y="1417320"/>
            <a:ext cx="5404104" cy="653796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ACT THREE  ·  AFTERCARE SHE WILL ACTUALLY FOLLOW</a:t>
            </a:r>
            <a:endParaRPr lang="en-US" sz="1500" dirty="0"/>
          </a:p>
        </p:txBody>
      </p:sp>
      <p:sp>
        <p:nvSpPr>
          <p:cNvPr id="3" name="Text 1"/>
          <p:cNvSpPr txBox="1"/>
          <p:nvPr/>
        </p:nvSpPr>
        <p:spPr>
          <a:xfrm>
            <a:off x="1481328" y="1188720"/>
            <a:ext cx="15672816" cy="1828800"/>
          </a:xfrm>
          <a:prstGeom prst="rect">
            <a:avLst/>
          </a:prstGeom>
          <a:noFill/>
          <a:ln/>
        </p:spPr>
        <p:txBody>
          <a:bodyPr wrap="square" lIns="0" tIns="0" rIns="0" bIns="0" rtlCol="0" anchor="t"/>
          <a:lstStyle/>
          <a:p>
            <a:pPr indent="0" marL="0">
              <a:lnSpc>
                <a:spcPts val="5310"/>
              </a:lnSpc>
              <a:buNone/>
            </a:pPr>
            <a:r>
              <a:rPr lang="en-US" sz="4500" dirty="0">
                <a:solidFill>
                  <a:srgbClr val="FFFFFF"/>
                </a:solidFill>
                <a:latin typeface="Poppins Bold" pitchFamily="34" charset="0"/>
                <a:ea typeface="Poppins Bold" pitchFamily="34" charset="-122"/>
                <a:cs typeface="Poppins Bold" pitchFamily="34" charset="-120"/>
              </a:rPr>
              <a:t>Four things, in this order.</a:t>
            </a:r>
            <a:endParaRPr lang="en-US" sz="4500" dirty="0"/>
          </a:p>
        </p:txBody>
      </p:sp>
      <p:sp>
        <p:nvSpPr>
          <p:cNvPr id="4" name="Text 2"/>
          <p:cNvSpPr txBox="1"/>
          <p:nvPr/>
        </p:nvSpPr>
        <p:spPr>
          <a:xfrm>
            <a:off x="1481328" y="384048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01</a:t>
            </a:r>
            <a:endParaRPr lang="en-US" sz="1500" dirty="0"/>
          </a:p>
        </p:txBody>
      </p:sp>
      <p:sp>
        <p:nvSpPr>
          <p:cNvPr id="5" name="Text 3"/>
          <p:cNvSpPr txBox="1"/>
          <p:nvPr/>
        </p:nvSpPr>
        <p:spPr>
          <a:xfrm>
            <a:off x="2395728" y="384048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Keep the lash line clean</a:t>
            </a:r>
            <a:endParaRPr lang="en-US" sz="1950" dirty="0"/>
          </a:p>
        </p:txBody>
      </p:sp>
      <p:sp>
        <p:nvSpPr>
          <p:cNvPr id="6" name="Text 4"/>
          <p:cNvSpPr txBox="1"/>
          <p:nvPr/>
        </p:nvSpPr>
        <p:spPr>
          <a:xfrm>
            <a:off x="2395728" y="431596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Brush it. Foam cleanse it. Buildup wrecks retention and eye health</a:t>
            </a:r>
            <a:endParaRPr lang="en-US" sz="1725" dirty="0"/>
          </a:p>
        </p:txBody>
      </p:sp>
      <p:sp>
        <p:nvSpPr>
          <p:cNvPr id="7" name="Text 5"/>
          <p:cNvSpPr txBox="1"/>
          <p:nvPr/>
        </p:nvSpPr>
        <p:spPr>
          <a:xfrm>
            <a:off x="1481328" y="502920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02</a:t>
            </a:r>
            <a:endParaRPr lang="en-US" sz="1500" dirty="0"/>
          </a:p>
        </p:txBody>
      </p:sp>
      <p:sp>
        <p:nvSpPr>
          <p:cNvPr id="8" name="Text 6"/>
          <p:cNvSpPr txBox="1"/>
          <p:nvPr/>
        </p:nvSpPr>
        <p:spPr>
          <a:xfrm>
            <a:off x="2395728" y="502920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No oil-based products near the eyes</a:t>
            </a:r>
            <a:endParaRPr lang="en-US" sz="1950" dirty="0"/>
          </a:p>
        </p:txBody>
      </p:sp>
      <p:sp>
        <p:nvSpPr>
          <p:cNvPr id="9" name="Text 7"/>
          <p:cNvSpPr txBox="1"/>
          <p:nvPr/>
        </p:nvSpPr>
        <p:spPr>
          <a:xfrm>
            <a:off x="2395728" y="550468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Oil is the enemy of a cured bond</a:t>
            </a:r>
            <a:endParaRPr lang="en-US" sz="1725" dirty="0"/>
          </a:p>
        </p:txBody>
      </p:sp>
      <p:sp>
        <p:nvSpPr>
          <p:cNvPr id="10" name="Text 8"/>
          <p:cNvSpPr txBox="1"/>
          <p:nvPr/>
        </p:nvSpPr>
        <p:spPr>
          <a:xfrm>
            <a:off x="1481328" y="621792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03</a:t>
            </a:r>
            <a:endParaRPr lang="en-US" sz="1500" dirty="0"/>
          </a:p>
        </p:txBody>
      </p:sp>
      <p:sp>
        <p:nvSpPr>
          <p:cNvPr id="11" name="Text 9"/>
          <p:cNvSpPr txBox="1"/>
          <p:nvPr/>
        </p:nvSpPr>
        <p:spPr>
          <a:xfrm>
            <a:off x="2395728" y="621792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Do not rub, tug or pull. No mascara</a:t>
            </a:r>
            <a:endParaRPr lang="en-US" sz="1950" dirty="0"/>
          </a:p>
        </p:txBody>
      </p:sp>
      <p:sp>
        <p:nvSpPr>
          <p:cNvPr id="12" name="Text 10"/>
          <p:cNvSpPr txBox="1"/>
          <p:nvPr/>
        </p:nvSpPr>
        <p:spPr>
          <a:xfrm>
            <a:off x="2395728" y="669340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Pulling extensions damages her natural lash</a:t>
            </a:r>
            <a:endParaRPr lang="en-US" sz="1725" dirty="0"/>
          </a:p>
        </p:txBody>
      </p:sp>
      <p:sp>
        <p:nvSpPr>
          <p:cNvPr id="13" name="Text 11"/>
          <p:cNvSpPr txBox="1"/>
          <p:nvPr/>
        </p:nvSpPr>
        <p:spPr>
          <a:xfrm>
            <a:off x="1481328" y="740664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04</a:t>
            </a:r>
            <a:endParaRPr lang="en-US" sz="1500" dirty="0"/>
          </a:p>
        </p:txBody>
      </p:sp>
      <p:sp>
        <p:nvSpPr>
          <p:cNvPr id="14" name="Text 12"/>
          <p:cNvSpPr txBox="1"/>
          <p:nvPr/>
        </p:nvSpPr>
        <p:spPr>
          <a:xfrm>
            <a:off x="2395728" y="740664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Water timing per your adhesive</a:t>
            </a:r>
            <a:endParaRPr lang="en-US" sz="1950" dirty="0"/>
          </a:p>
        </p:txBody>
      </p:sp>
      <p:sp>
        <p:nvSpPr>
          <p:cNvPr id="15" name="Text 13"/>
          <p:cNvSpPr txBox="1"/>
          <p:nvPr/>
        </p:nvSpPr>
        <p:spPr>
          <a:xfrm>
            <a:off x="2395728" y="788212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Not a blanket rule you heard somewhere</a:t>
            </a:r>
            <a:endParaRPr lang="en-US" sz="1725"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ONE MORE THING YOU WERE TAUGHT WRONG</a:t>
            </a:r>
            <a:endParaRPr lang="en-US" sz="1500" dirty="0"/>
          </a:p>
        </p:txBody>
      </p:sp>
      <p:sp>
        <p:nvSpPr>
          <p:cNvPr id="3" name="Text 1"/>
          <p:cNvSpPr txBox="1"/>
          <p:nvPr/>
        </p:nvSpPr>
        <p:spPr>
          <a:xfrm>
            <a:off x="1481328" y="2514600"/>
            <a:ext cx="15672816" cy="1828800"/>
          </a:xfrm>
          <a:prstGeom prst="rect">
            <a:avLst/>
          </a:prstGeom>
          <a:noFill/>
          <a:ln/>
        </p:spPr>
        <p:txBody>
          <a:bodyPr wrap="square" lIns="0" tIns="0" rIns="0" bIns="0" rtlCol="0" anchor="t"/>
          <a:lstStyle/>
          <a:p>
            <a:pPr indent="0" marL="0">
              <a:lnSpc>
                <a:spcPts val="5900"/>
              </a:lnSpc>
              <a:buNone/>
            </a:pPr>
            <a:r>
              <a:rPr lang="en-US" sz="5000" dirty="0">
                <a:solidFill>
                  <a:srgbClr val="FFFFFF"/>
                </a:solidFill>
                <a:latin typeface="Poppins Bold" pitchFamily="34" charset="0"/>
                <a:ea typeface="Poppins Bold" pitchFamily="34" charset="-122"/>
                <a:cs typeface="Poppins Bold" pitchFamily="34" charset="-120"/>
              </a:rPr>
              <a:t>“No water for 24 hours”
</a:t>
            </a:r>
            <a:pPr indent="0" marL="0">
              <a:lnSpc>
                <a:spcPts val="5900"/>
              </a:lnSpc>
              <a:buNone/>
            </a:pPr>
            <a:r>
              <a:rPr lang="en-US" sz="5000" i="1" dirty="0">
                <a:solidFill>
                  <a:srgbClr val="F600A2"/>
                </a:solidFill>
                <a:latin typeface="Poppins Italics" pitchFamily="34" charset="0"/>
                <a:ea typeface="Poppins Italics" pitchFamily="34" charset="-122"/>
                <a:cs typeface="Poppins Italics" pitchFamily="34" charset="-120"/>
              </a:rPr>
              <a:t>is not a rule. It is a rumor.</a:t>
            </a:r>
            <a:endParaRPr lang="en-US" sz="5000" dirty="0"/>
          </a:p>
        </p:txBody>
      </p:sp>
      <p:sp>
        <p:nvSpPr>
          <p:cNvPr id="4" name="Text 2"/>
          <p:cNvSpPr txBox="1"/>
          <p:nvPr/>
        </p:nvSpPr>
        <p:spPr>
          <a:xfrm>
            <a:off x="1481328" y="5989320"/>
            <a:ext cx="12851709" cy="2194560"/>
          </a:xfrm>
          <a:prstGeom prst="rect">
            <a:avLst/>
          </a:prstGeom>
          <a:noFill/>
          <a:ln/>
        </p:spPr>
        <p:txBody>
          <a:bodyPr wrap="square" lIns="0" tIns="0" rIns="0" bIns="0" rtlCol="0" anchor="ctr"/>
          <a:lstStyle/>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It is product-dependent. Give her the timing your manufacturer specifies.</a:t>
            </a:r>
            <a:endParaRPr lang="en-US" sz="2100" dirty="0"/>
          </a:p>
          <a:p>
            <a:pPr indent="0" marL="0">
              <a:lnSpc>
                <a:spcPts val="3500"/>
              </a:lnSpc>
              <a:buNone/>
            </a:pPr>
            <a:endParaRPr lang="en-US" sz="2100" dirty="0"/>
          </a:p>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Anything else is you repeating what somebody told you.</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THE PART MOST ARTISTS SKIP</a:t>
            </a:r>
            <a:endParaRPr lang="en-US" sz="1500" dirty="0"/>
          </a:p>
        </p:txBody>
      </p:sp>
      <p:sp>
        <p:nvSpPr>
          <p:cNvPr id="3" name="Text 1"/>
          <p:cNvSpPr txBox="1"/>
          <p:nvPr/>
        </p:nvSpPr>
        <p:spPr>
          <a:xfrm>
            <a:off x="1481328" y="2148840"/>
            <a:ext cx="9555480" cy="1828800"/>
          </a:xfrm>
          <a:prstGeom prst="rect">
            <a:avLst/>
          </a:prstGeom>
          <a:noFill/>
          <a:ln/>
        </p:spPr>
        <p:txBody>
          <a:bodyPr wrap="square" lIns="0" tIns="0" rIns="0" bIns="0" rtlCol="0" anchor="t"/>
          <a:lstStyle/>
          <a:p>
            <a:pPr indent="0" marL="0">
              <a:lnSpc>
                <a:spcPts val="7788"/>
              </a:lnSpc>
              <a:buNone/>
            </a:pPr>
            <a:r>
              <a:rPr lang="en-US" sz="6600" dirty="0">
                <a:solidFill>
                  <a:srgbClr val="FFFFFF"/>
                </a:solidFill>
                <a:latin typeface="Poppins Bold" pitchFamily="34" charset="0"/>
                <a:ea typeface="Poppins Bold" pitchFamily="34" charset="-122"/>
                <a:cs typeface="Poppins Bold" pitchFamily="34" charset="-120"/>
              </a:rPr>
              <a:t>Tell her </a:t>
            </a:r>
            <a:pPr indent="0" marL="0">
              <a:lnSpc>
                <a:spcPts val="7788"/>
              </a:lnSpc>
              <a:buNone/>
            </a:pPr>
            <a:r>
              <a:rPr lang="en-US" sz="6600" i="1" dirty="0">
                <a:solidFill>
                  <a:srgbClr val="F600A2"/>
                </a:solidFill>
                <a:latin typeface="Poppins Italics" pitchFamily="34" charset="0"/>
                <a:ea typeface="Poppins Italics" pitchFamily="34" charset="-122"/>
                <a:cs typeface="Poppins Italics" pitchFamily="34" charset="-120"/>
              </a:rPr>
              <a:t>why.</a:t>
            </a:r>
            <a:endParaRPr lang="en-US" sz="6600" dirty="0"/>
          </a:p>
        </p:txBody>
      </p:sp>
      <p:sp>
        <p:nvSpPr>
          <p:cNvPr id="4" name="Text 2"/>
          <p:cNvSpPr txBox="1"/>
          <p:nvPr/>
        </p:nvSpPr>
        <p:spPr>
          <a:xfrm>
            <a:off x="1481328" y="4617720"/>
            <a:ext cx="9555480" cy="1645920"/>
          </a:xfrm>
          <a:prstGeom prst="rect">
            <a:avLst/>
          </a:prstGeom>
          <a:noFill/>
          <a:ln/>
        </p:spPr>
        <p:txBody>
          <a:bodyPr wrap="square" lIns="0" tIns="0" rIns="0" bIns="0" rtlCol="0" anchor="ctr"/>
          <a:lstStyle/>
          <a:p>
            <a:pPr indent="0" marL="0">
              <a:lnSpc>
                <a:spcPts val="4200"/>
              </a:lnSpc>
              <a:buNone/>
            </a:pPr>
            <a:r>
              <a:rPr lang="en-US" sz="2500" i="1" dirty="0">
                <a:solidFill>
                  <a:srgbClr val="FFFFFF"/>
                </a:solidFill>
                <a:latin typeface="Poppins Italics" pitchFamily="34" charset="0"/>
                <a:ea typeface="Poppins Italics" pitchFamily="34" charset="-122"/>
                <a:cs typeface="Poppins Italics" pitchFamily="34" charset="-120"/>
              </a:rPr>
              <a:t>“I am cleansing first so the adhesive bonds to a clean lash. That is half your retention right there.”</a:t>
            </a:r>
            <a:endParaRPr lang="en-US" sz="2500" dirty="0"/>
          </a:p>
        </p:txBody>
      </p:sp>
      <p:sp>
        <p:nvSpPr>
          <p:cNvPr id="5" name="Text 3"/>
          <p:cNvSpPr txBox="1"/>
          <p:nvPr/>
        </p:nvSpPr>
        <p:spPr>
          <a:xfrm>
            <a:off x="1481328" y="6537960"/>
            <a:ext cx="9555480" cy="2011680"/>
          </a:xfrm>
          <a:prstGeom prst="rect">
            <a:avLst/>
          </a:prstGeom>
          <a:noFill/>
          <a:ln/>
        </p:spPr>
        <p:txBody>
          <a:bodyPr wrap="square" lIns="0" tIns="0" rIns="0" bIns="0" rtlCol="0" anchor="ctr"/>
          <a:lstStyle/>
          <a:p>
            <a:pPr indent="0" marL="0">
              <a:lnSpc>
                <a:spcPts val="3300"/>
              </a:lnSpc>
              <a:buNone/>
            </a:pPr>
            <a:r>
              <a:rPr lang="en-US" sz="2000" dirty="0">
                <a:solidFill>
                  <a:srgbClr val="B9B3BB"/>
                </a:solidFill>
                <a:latin typeface="Poppins" pitchFamily="34" charset="0"/>
                <a:ea typeface="Poppins" pitchFamily="34" charset="-122"/>
                <a:cs typeface="Poppins" pitchFamily="34" charset="-120"/>
              </a:rPr>
              <a:t>A client who understands the why protects it at home, comes back on schedule, and tells her friends what made you different.</a:t>
            </a:r>
            <a:endParaRPr lang="en-US" sz="2000" dirty="0"/>
          </a:p>
          <a:p>
            <a:pPr indent="0" marL="0">
              <a:lnSpc>
                <a:spcPts val="3300"/>
              </a:lnSpc>
              <a:buNone/>
            </a:pPr>
            <a:endParaRPr lang="en-US" sz="2000" dirty="0"/>
          </a:p>
          <a:p>
            <a:pPr indent="0" marL="0">
              <a:lnSpc>
                <a:spcPts val="3300"/>
              </a:lnSpc>
              <a:buNone/>
            </a:pPr>
            <a:r>
              <a:rPr lang="en-US" sz="2000" dirty="0">
                <a:solidFill>
                  <a:srgbClr val="B9B3BB"/>
                </a:solidFill>
                <a:latin typeface="Poppins" pitchFamily="34" charset="0"/>
                <a:ea typeface="Poppins" pitchFamily="34" charset="-122"/>
                <a:cs typeface="Poppins" pitchFamily="34" charset="-120"/>
              </a:rPr>
              <a:t>A client who got handed a list does not.</a:t>
            </a:r>
            <a:endParaRPr lang="en-US" sz="2000" dirty="0"/>
          </a:p>
        </p:txBody>
      </p:sp>
      <p:sp>
        <p:nvSpPr>
          <p:cNvPr id="6" name="Shape 4"/>
          <p:cNvSpPr/>
          <p:nvPr/>
        </p:nvSpPr>
        <p:spPr>
          <a:xfrm>
            <a:off x="11301984" y="1975104"/>
            <a:ext cx="5888736" cy="5742432"/>
          </a:xfrm>
          <a:prstGeom prst="rect">
            <a:avLst/>
          </a:prstGeom>
          <a:solidFill>
            <a:srgbClr val="262026"/>
          </a:solidFill>
          <a:ln/>
        </p:spPr>
      </p:sp>
      <p:pic>
        <p:nvPicPr>
          <p:cNvPr id="7" name="Image 0" descr="media/work-ba.jpeg">    </p:cNvPr>
          <p:cNvPicPr>
            <a:picLocks noChangeAspect="1"/>
          </p:cNvPicPr>
          <p:nvPr/>
        </p:nvPicPr>
        <p:blipFill>
          <a:blip r:embed="rId1"/>
          <a:srcRect l="0" r="0" t="0" b="0"/>
          <a:stretch/>
        </p:blipFill>
        <p:spPr>
          <a:xfrm>
            <a:off x="11338560" y="2011680"/>
            <a:ext cx="5815584" cy="566928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ACT THREE  ·  THE DAY-THREE MESSAGE</a:t>
            </a:r>
            <a:endParaRPr lang="en-US" sz="1500" dirty="0"/>
          </a:p>
        </p:txBody>
      </p:sp>
      <p:sp>
        <p:nvSpPr>
          <p:cNvPr id="3" name="Text 1"/>
          <p:cNvSpPr txBox="1"/>
          <p:nvPr/>
        </p:nvSpPr>
        <p:spPr>
          <a:xfrm>
            <a:off x="1481328" y="1188720"/>
            <a:ext cx="9555480" cy="1828800"/>
          </a:xfrm>
          <a:prstGeom prst="rect">
            <a:avLst/>
          </a:prstGeom>
          <a:noFill/>
          <a:ln/>
        </p:spPr>
        <p:txBody>
          <a:bodyPr wrap="square" lIns="0" tIns="0" rIns="0" bIns="0" rtlCol="0" anchor="t"/>
          <a:lstStyle/>
          <a:p>
            <a:pPr indent="0" marL="0">
              <a:lnSpc>
                <a:spcPts val="4130"/>
              </a:lnSpc>
              <a:buNone/>
            </a:pPr>
            <a:r>
              <a:rPr lang="en-US" sz="3500" dirty="0">
                <a:solidFill>
                  <a:srgbClr val="FFFFFF"/>
                </a:solidFill>
                <a:latin typeface="Poppins Bold" pitchFamily="34" charset="0"/>
                <a:ea typeface="Poppins Bold" pitchFamily="34" charset="-122"/>
                <a:cs typeface="Poppins Bold" pitchFamily="34" charset="-120"/>
              </a:rPr>
              <a:t>Send this on day three. Every client.</a:t>
            </a:r>
            <a:endParaRPr lang="en-US" sz="3500" dirty="0"/>
          </a:p>
        </p:txBody>
      </p:sp>
      <p:sp>
        <p:nvSpPr>
          <p:cNvPr id="4" name="Shape 2"/>
          <p:cNvSpPr/>
          <p:nvPr/>
        </p:nvSpPr>
        <p:spPr>
          <a:xfrm>
            <a:off x="1481328" y="3611880"/>
            <a:ext cx="9555480" cy="1965960"/>
          </a:xfrm>
          <a:prstGeom prst="roundRect">
            <a:avLst>
              <a:gd name="adj" fmla="val 6512"/>
            </a:avLst>
          </a:prstGeom>
          <a:solidFill>
            <a:srgbClr val="121013"/>
          </a:solidFill>
          <a:ln w="19050">
            <a:solidFill>
              <a:srgbClr val="F600A2"/>
            </a:solidFill>
            <a:prstDash val="solid"/>
          </a:ln>
        </p:spPr>
      </p:sp>
      <p:sp>
        <p:nvSpPr>
          <p:cNvPr id="5" name="Text 3"/>
          <p:cNvSpPr txBox="1"/>
          <p:nvPr/>
        </p:nvSpPr>
        <p:spPr>
          <a:xfrm>
            <a:off x="2029968" y="3931920"/>
            <a:ext cx="8458200" cy="1371600"/>
          </a:xfrm>
          <a:prstGeom prst="rect">
            <a:avLst/>
          </a:prstGeom>
          <a:noFill/>
          <a:ln/>
        </p:spPr>
        <p:txBody>
          <a:bodyPr wrap="square" lIns="0" tIns="0" rIns="0" bIns="0" rtlCol="0" anchor="ctr"/>
          <a:lstStyle/>
          <a:p>
            <a:pPr indent="0" marL="0">
              <a:lnSpc>
                <a:spcPts val="4000"/>
              </a:lnSpc>
              <a:buNone/>
            </a:pPr>
            <a:r>
              <a:rPr lang="en-US" sz="2500" i="1" dirty="0">
                <a:solidFill>
                  <a:srgbClr val="FFFFFF"/>
                </a:solidFill>
                <a:latin typeface="Poppins Italics" pitchFamily="34" charset="0"/>
                <a:ea typeface="Poppins Italics" pitchFamily="34" charset="-122"/>
                <a:cs typeface="Poppins Italics" pitchFamily="34" charset="-120"/>
              </a:rPr>
              <a:t>“Wanted to make sure your lashes are feeling good. Text me if anything needs adjusting.”</a:t>
            </a:r>
            <a:endParaRPr lang="en-US" sz="2500" dirty="0"/>
          </a:p>
        </p:txBody>
      </p:sp>
      <p:sp>
        <p:nvSpPr>
          <p:cNvPr id="6" name="Text 4"/>
          <p:cNvSpPr txBox="1"/>
          <p:nvPr/>
        </p:nvSpPr>
        <p:spPr>
          <a:xfrm>
            <a:off x="1481328" y="6080760"/>
            <a:ext cx="9555480" cy="2194560"/>
          </a:xfrm>
          <a:prstGeom prst="rect">
            <a:avLst/>
          </a:prstGeom>
          <a:noFill/>
          <a:ln/>
        </p:spPr>
        <p:txBody>
          <a:bodyPr wrap="square" lIns="0" tIns="0" rIns="0" bIns="0" rtlCol="0" anchor="ctr"/>
          <a:lstStyle/>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That message is for her.</a:t>
            </a:r>
            <a:endParaRPr lang="en-US" sz="2100" dirty="0"/>
          </a:p>
          <a:p>
            <a:pPr indent="0" marL="0">
              <a:lnSpc>
                <a:spcPts val="3500"/>
              </a:lnSpc>
              <a:buNone/>
            </a:pPr>
            <a:endParaRPr lang="en-US" sz="2100" dirty="0"/>
          </a:p>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“Spots are filling fast, book now” is for you. She can feel the difference instantly.</a:t>
            </a:r>
            <a:endParaRPr lang="en-US" sz="2100" dirty="0"/>
          </a:p>
        </p:txBody>
      </p:sp>
      <p:sp>
        <p:nvSpPr>
          <p:cNvPr id="7" name="Shape 5"/>
          <p:cNvSpPr/>
          <p:nvPr/>
        </p:nvSpPr>
        <p:spPr>
          <a:xfrm>
            <a:off x="11484864" y="2340864"/>
            <a:ext cx="5705856" cy="5468112"/>
          </a:xfrm>
          <a:prstGeom prst="rect">
            <a:avLst/>
          </a:prstGeom>
          <a:solidFill>
            <a:srgbClr val="262026"/>
          </a:solidFill>
          <a:ln/>
        </p:spPr>
      </p:sp>
      <p:pic>
        <p:nvPicPr>
          <p:cNvPr id="8" name="Image 0" descr="media/lash-close-2.jpeg">    </p:cNvPr>
          <p:cNvPicPr>
            <a:picLocks noChangeAspect="1"/>
          </p:cNvPicPr>
          <p:nvPr/>
        </p:nvPicPr>
        <p:blipFill>
          <a:blip r:embed="rId1"/>
          <a:srcRect l="0" r="0" t="0" b="0"/>
          <a:stretch/>
        </p:blipFill>
        <p:spPr>
          <a:xfrm>
            <a:off x="11521440" y="2377440"/>
            <a:ext cx="5632704" cy="5394960"/>
          </a:xfrm>
          <a:prstGeom prst="rect">
            <a:avLst/>
          </a:prstGeom>
        </p:spPr>
      </p:pic>
      <p:sp>
        <p:nvSpPr>
          <p:cNvPr id="9" name="Text 6"/>
          <p:cNvSpPr txBox="1"/>
          <p:nvPr/>
        </p:nvSpPr>
        <p:spPr>
          <a:xfrm>
            <a:off x="1481328" y="8887968"/>
            <a:ext cx="9555480" cy="640080"/>
          </a:xfrm>
          <a:prstGeom prst="rect">
            <a:avLst/>
          </a:prstGeom>
          <a:noFill/>
          <a:ln/>
        </p:spPr>
        <p:txBody>
          <a:bodyPr wrap="square" lIns="0" tIns="0" rIns="0" bIns="0" rtlCol="0" anchor="ctr"/>
          <a:lstStyle/>
          <a:p>
            <a:pPr indent="0" marL="0">
              <a:buNone/>
            </a:pPr>
            <a:r>
              <a:rPr lang="en-US" sz="1725" i="1" dirty="0">
                <a:solidFill>
                  <a:srgbClr val="B9B3BB"/>
                </a:solidFill>
                <a:latin typeface="Poppins Italics" pitchFamily="34" charset="0"/>
                <a:ea typeface="Poppins Italics" pitchFamily="34" charset="-122"/>
                <a:cs typeface="Poppins Italics" pitchFamily="34" charset="-120"/>
              </a:rPr>
              <a:t>You do not need fake urgency when your work is good.</a:t>
            </a:r>
            <a:endParaRPr lang="en-US" sz="1725"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0" y="3703320"/>
            <a:ext cx="18288000" cy="457200"/>
          </a:xfrm>
          <a:prstGeom prst="rect">
            <a:avLst/>
          </a:prstGeom>
          <a:noFill/>
          <a:ln/>
        </p:spPr>
        <p:txBody>
          <a:bodyPr wrap="square" lIns="0" tIns="0" rIns="0" bIns="0" rtlCol="0" anchor="ctr"/>
          <a:lstStyle/>
          <a:p>
            <a:pPr algn="ctr" indent="0" marL="0">
              <a:buNone/>
            </a:pPr>
            <a:r>
              <a:rPr lang="en-US" sz="1500" spc="600" kern="0" dirty="0">
                <a:solidFill>
                  <a:srgbClr val="B9B3BB"/>
                </a:solidFill>
                <a:latin typeface="Poppins Bold" pitchFamily="34" charset="0"/>
                <a:ea typeface="Poppins Bold" pitchFamily="34" charset="-122"/>
                <a:cs typeface="Poppins Bold" pitchFamily="34" charset="-120"/>
              </a:rPr>
              <a:t>YOU LEAVE WITH</a:t>
            </a:r>
            <a:endParaRPr lang="en-US" sz="1500" dirty="0"/>
          </a:p>
        </p:txBody>
      </p:sp>
      <p:sp>
        <p:nvSpPr>
          <p:cNvPr id="3" name="Text 1"/>
          <p:cNvSpPr txBox="1"/>
          <p:nvPr/>
        </p:nvSpPr>
        <p:spPr>
          <a:xfrm>
            <a:off x="0" y="4434840"/>
            <a:ext cx="18288000" cy="1554480"/>
          </a:xfrm>
          <a:prstGeom prst="rect">
            <a:avLst/>
          </a:prstGeom>
          <a:noFill/>
          <a:ln/>
        </p:spPr>
        <p:txBody>
          <a:bodyPr wrap="square" lIns="0" tIns="0" rIns="0" bIns="0" rtlCol="0" anchor="ctr"/>
          <a:lstStyle/>
          <a:p>
            <a:pPr algn="ctr" indent="0" marL="0">
              <a:buNone/>
            </a:pPr>
            <a:r>
              <a:rPr lang="en-US" sz="7200" dirty="0">
                <a:solidFill>
                  <a:srgbClr val="FFFFFF"/>
                </a:solidFill>
                <a:latin typeface="Poppins Bold" pitchFamily="34" charset="0"/>
                <a:ea typeface="Poppins Bold" pitchFamily="34" charset="-122"/>
                <a:cs typeface="Poppins Bold" pitchFamily="34" charset="-120"/>
              </a:rPr>
              <a:t>The </a:t>
            </a:r>
            <a:pPr algn="ctr" indent="0" marL="0">
              <a:buNone/>
            </a:pPr>
            <a:r>
              <a:rPr lang="en-US" sz="7200" i="1" dirty="0">
                <a:solidFill>
                  <a:srgbClr val="D4AF37"/>
                </a:solidFill>
                <a:latin typeface="Poppins Italics" pitchFamily="34" charset="0"/>
                <a:ea typeface="Poppins Italics" pitchFamily="34" charset="-122"/>
                <a:cs typeface="Poppins Italics" pitchFamily="34" charset="-120"/>
              </a:rPr>
              <a:t>Protocol</a:t>
            </a:r>
            <a:endParaRPr lang="en-US" sz="7200" dirty="0"/>
          </a:p>
        </p:txBody>
      </p:sp>
      <p:sp>
        <p:nvSpPr>
          <p:cNvPr id="4" name="Text 2"/>
          <p:cNvSpPr txBox="1"/>
          <p:nvPr/>
        </p:nvSpPr>
        <p:spPr>
          <a:xfrm>
            <a:off x="2743200" y="6263640"/>
            <a:ext cx="12801600" cy="1097280"/>
          </a:xfrm>
          <a:prstGeom prst="rect">
            <a:avLst/>
          </a:prstGeom>
          <a:noFill/>
          <a:ln/>
        </p:spPr>
        <p:txBody>
          <a:bodyPr wrap="square" lIns="0" tIns="0" rIns="0" bIns="0" rtlCol="0" anchor="ctr"/>
          <a:lstStyle/>
          <a:p>
            <a:pPr algn="ctr" indent="0" marL="0">
              <a:buNone/>
            </a:pPr>
            <a:r>
              <a:rPr lang="en-US" sz="2100" dirty="0">
                <a:solidFill>
                  <a:srgbClr val="B9B3BB"/>
                </a:solidFill>
                <a:latin typeface="Poppins" pitchFamily="34" charset="0"/>
                <a:ea typeface="Poppins" pitchFamily="34" charset="-122"/>
                <a:cs typeface="Poppins" pitchFamily="34" charset="-120"/>
              </a:rPr>
              <a:t>The day-three message, what to look for in her answer, and how it saves the clients you would have lost.</a:t>
            </a:r>
            <a:endParaRPr lang="en-US" sz="2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IN ONE HOUR YOU GOT</a:t>
            </a:r>
            <a:endParaRPr lang="en-US" sz="1500" dirty="0"/>
          </a:p>
        </p:txBody>
      </p:sp>
      <p:sp>
        <p:nvSpPr>
          <p:cNvPr id="3" name="Text 1"/>
          <p:cNvSpPr txBox="1"/>
          <p:nvPr/>
        </p:nvSpPr>
        <p:spPr>
          <a:xfrm>
            <a:off x="1481328" y="1188720"/>
            <a:ext cx="15672816" cy="1828800"/>
          </a:xfrm>
          <a:prstGeom prst="rect">
            <a:avLst/>
          </a:prstGeom>
          <a:noFill/>
          <a:ln/>
        </p:spPr>
        <p:txBody>
          <a:bodyPr wrap="square" lIns="0" tIns="0" rIns="0" bIns="0" rtlCol="0" anchor="t"/>
          <a:lstStyle/>
          <a:p>
            <a:pPr indent="0" marL="0">
              <a:lnSpc>
                <a:spcPts val="5310"/>
              </a:lnSpc>
              <a:buNone/>
            </a:pPr>
            <a:r>
              <a:rPr lang="en-US" sz="4500" dirty="0">
                <a:solidFill>
                  <a:srgbClr val="FFFFFF"/>
                </a:solidFill>
                <a:latin typeface="Poppins Bold" pitchFamily="34" charset="0"/>
                <a:ea typeface="Poppins Bold" pitchFamily="34" charset="-122"/>
                <a:cs typeface="Poppins Bold" pitchFamily="34" charset="-120"/>
              </a:rPr>
              <a:t>Three things you can use tomorrow.</a:t>
            </a:r>
            <a:endParaRPr lang="en-US" sz="4500" dirty="0"/>
          </a:p>
        </p:txBody>
      </p:sp>
      <p:sp>
        <p:nvSpPr>
          <p:cNvPr id="4" name="Text 2"/>
          <p:cNvSpPr txBox="1"/>
          <p:nvPr/>
        </p:nvSpPr>
        <p:spPr>
          <a:xfrm>
            <a:off x="1481328" y="397764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01</a:t>
            </a:r>
            <a:endParaRPr lang="en-US" sz="1500" dirty="0"/>
          </a:p>
        </p:txBody>
      </p:sp>
      <p:sp>
        <p:nvSpPr>
          <p:cNvPr id="5" name="Text 3"/>
          <p:cNvSpPr txBox="1"/>
          <p:nvPr/>
        </p:nvSpPr>
        <p:spPr>
          <a:xfrm>
            <a:off x="2395728" y="397764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The Cure Check</a:t>
            </a:r>
            <a:endParaRPr lang="en-US" sz="1950" dirty="0"/>
          </a:p>
        </p:txBody>
      </p:sp>
      <p:sp>
        <p:nvSpPr>
          <p:cNvPr id="6" name="Text 4"/>
          <p:cNvSpPr txBox="1"/>
          <p:nvPr/>
        </p:nvSpPr>
        <p:spPr>
          <a:xfrm>
            <a:off x="2395728" y="445312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Your room, read properly, for the first time</a:t>
            </a:r>
            <a:endParaRPr lang="en-US" sz="1725" dirty="0"/>
          </a:p>
        </p:txBody>
      </p:sp>
      <p:sp>
        <p:nvSpPr>
          <p:cNvPr id="7" name="Text 5"/>
          <p:cNvSpPr txBox="1"/>
          <p:nvPr/>
        </p:nvSpPr>
        <p:spPr>
          <a:xfrm>
            <a:off x="1481328" y="516636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02</a:t>
            </a:r>
            <a:endParaRPr lang="en-US" sz="1500" dirty="0"/>
          </a:p>
        </p:txBody>
      </p:sp>
      <p:sp>
        <p:nvSpPr>
          <p:cNvPr id="8" name="Text 6"/>
          <p:cNvSpPr txBox="1"/>
          <p:nvPr/>
        </p:nvSpPr>
        <p:spPr>
          <a:xfrm>
            <a:off x="2395728" y="516636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The Four Questions</a:t>
            </a:r>
            <a:endParaRPr lang="en-US" sz="1950" dirty="0"/>
          </a:p>
        </p:txBody>
      </p:sp>
      <p:sp>
        <p:nvSpPr>
          <p:cNvPr id="9" name="Text 7"/>
          <p:cNvSpPr txBox="1"/>
          <p:nvPr/>
        </p:nvSpPr>
        <p:spPr>
          <a:xfrm>
            <a:off x="2395728" y="564184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Asked at intake, before you touch her</a:t>
            </a:r>
            <a:endParaRPr lang="en-US" sz="1725" dirty="0"/>
          </a:p>
        </p:txBody>
      </p:sp>
      <p:sp>
        <p:nvSpPr>
          <p:cNvPr id="10" name="Text 8"/>
          <p:cNvSpPr txBox="1"/>
          <p:nvPr/>
        </p:nvSpPr>
        <p:spPr>
          <a:xfrm>
            <a:off x="1481328" y="635508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03</a:t>
            </a:r>
            <a:endParaRPr lang="en-US" sz="1500" dirty="0"/>
          </a:p>
        </p:txBody>
      </p:sp>
      <p:sp>
        <p:nvSpPr>
          <p:cNvPr id="11" name="Text 9"/>
          <p:cNvSpPr txBox="1"/>
          <p:nvPr/>
        </p:nvSpPr>
        <p:spPr>
          <a:xfrm>
            <a:off x="2395728" y="635508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The Protocol</a:t>
            </a:r>
            <a:endParaRPr lang="en-US" sz="1950" dirty="0"/>
          </a:p>
        </p:txBody>
      </p:sp>
      <p:sp>
        <p:nvSpPr>
          <p:cNvPr id="12" name="Text 10"/>
          <p:cNvSpPr txBox="1"/>
          <p:nvPr/>
        </p:nvSpPr>
        <p:spPr>
          <a:xfrm>
            <a:off x="2395728" y="683056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Aftercare that sticks and a day-three message</a:t>
            </a:r>
            <a:endParaRPr lang="en-US" sz="1725" dirty="0"/>
          </a:p>
        </p:txBody>
      </p:sp>
      <p:sp>
        <p:nvSpPr>
          <p:cNvPr id="13" name="Text 11"/>
          <p:cNvSpPr txBox="1"/>
          <p:nvPr/>
        </p:nvSpPr>
        <p:spPr>
          <a:xfrm>
            <a:off x="1481328" y="8887968"/>
            <a:ext cx="15672816" cy="640080"/>
          </a:xfrm>
          <a:prstGeom prst="rect">
            <a:avLst/>
          </a:prstGeom>
          <a:noFill/>
          <a:ln/>
        </p:spPr>
        <p:txBody>
          <a:bodyPr wrap="square" lIns="0" tIns="0" rIns="0" bIns="0" rtlCol="0" anchor="ctr"/>
          <a:lstStyle/>
          <a:p>
            <a:pPr indent="0" marL="0">
              <a:buNone/>
            </a:pPr>
            <a:r>
              <a:rPr lang="en-US" sz="1725" i="1" dirty="0">
                <a:solidFill>
                  <a:srgbClr val="B9B3BB"/>
                </a:solidFill>
                <a:latin typeface="Poppins Italics" pitchFamily="34" charset="0"/>
                <a:ea typeface="Poppins Italics" pitchFamily="34" charset="-122"/>
                <a:cs typeface="Poppins Italics" pitchFamily="34" charset="-120"/>
              </a:rPr>
              <a:t>That was the hour I promised you, and I meant every word of it.</a:t>
            </a:r>
            <a:endParaRPr lang="en-US" sz="1725"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NOW LET ME BE HONEST WITH YOU</a:t>
            </a:r>
            <a:endParaRPr lang="en-US" sz="1500" dirty="0"/>
          </a:p>
        </p:txBody>
      </p:sp>
      <p:sp>
        <p:nvSpPr>
          <p:cNvPr id="3" name="Text 1"/>
          <p:cNvSpPr txBox="1"/>
          <p:nvPr/>
        </p:nvSpPr>
        <p:spPr>
          <a:xfrm>
            <a:off x="1481328" y="2148840"/>
            <a:ext cx="15672816" cy="1828800"/>
          </a:xfrm>
          <a:prstGeom prst="rect">
            <a:avLst/>
          </a:prstGeom>
          <a:noFill/>
          <a:ln/>
        </p:spPr>
        <p:txBody>
          <a:bodyPr wrap="square" lIns="0" tIns="0" rIns="0" bIns="0" rtlCol="0" anchor="t"/>
          <a:lstStyle/>
          <a:p>
            <a:pPr indent="0" marL="0">
              <a:lnSpc>
                <a:spcPts val="5900"/>
              </a:lnSpc>
              <a:buNone/>
            </a:pPr>
            <a:r>
              <a:rPr lang="en-US" sz="5000" dirty="0">
                <a:solidFill>
                  <a:srgbClr val="FFFFFF"/>
                </a:solidFill>
                <a:latin typeface="Poppins Bold" pitchFamily="34" charset="0"/>
                <a:ea typeface="Poppins Bold" pitchFamily="34" charset="-122"/>
                <a:cs typeface="Poppins Bold" pitchFamily="34" charset="-120"/>
              </a:rPr>
              <a:t>Knowing why is not</a:t>
            </a:r>
            <a:endParaRPr lang="en-US" sz="5000" dirty="0"/>
          </a:p>
          <a:p>
            <a:pPr indent="0" marL="0">
              <a:lnSpc>
                <a:spcPts val="5900"/>
              </a:lnSpc>
              <a:buNone/>
            </a:pPr>
            <a:r>
              <a:rPr lang="en-US" sz="5000" dirty="0">
                <a:solidFill>
                  <a:srgbClr val="FFFFFF"/>
                </a:solidFill>
                <a:latin typeface="Poppins Bold" pitchFamily="34" charset="0"/>
                <a:ea typeface="Poppins Bold" pitchFamily="34" charset="-122"/>
                <a:cs typeface="Poppins Bold" pitchFamily="34" charset="-120"/>
              </a:rPr>
              <a:t>the same as </a:t>
            </a:r>
            <a:endParaRPr lang="en-US" sz="5000" dirty="0"/>
          </a:p>
          <a:p>
            <a:pPr indent="0" marL="0">
              <a:lnSpc>
                <a:spcPts val="5900"/>
              </a:lnSpc>
              <a:buNone/>
            </a:pPr>
            <a:r>
              <a:rPr lang="en-US" sz="5000" i="1" dirty="0">
                <a:solidFill>
                  <a:srgbClr val="F600A2"/>
                </a:solidFill>
                <a:latin typeface="Poppins Italics" pitchFamily="34" charset="0"/>
                <a:ea typeface="Poppins Italics" pitchFamily="34" charset="-122"/>
                <a:cs typeface="Poppins Italics" pitchFamily="34" charset="-120"/>
              </a:rPr>
              <a:t>being corrected.</a:t>
            </a:r>
            <a:endParaRPr lang="en-US" sz="5000" dirty="0"/>
          </a:p>
        </p:txBody>
      </p:sp>
      <p:sp>
        <p:nvSpPr>
          <p:cNvPr id="4" name="Text 2"/>
          <p:cNvSpPr txBox="1"/>
          <p:nvPr/>
        </p:nvSpPr>
        <p:spPr>
          <a:xfrm>
            <a:off x="1481328" y="5897880"/>
            <a:ext cx="12851709" cy="2468880"/>
          </a:xfrm>
          <a:prstGeom prst="rect">
            <a:avLst/>
          </a:prstGeom>
          <a:noFill/>
          <a:ln/>
        </p:spPr>
        <p:txBody>
          <a:bodyPr wrap="square" lIns="0" tIns="0" rIns="0" bIns="0" rtlCol="0" anchor="ctr"/>
          <a:lstStyle/>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You can leave here knowing exactly what went wrong and still do it again next Tuesday, because nobody is watching your hands.</a:t>
            </a:r>
            <a:endParaRPr lang="en-US" sz="2100" dirty="0"/>
          </a:p>
          <a:p>
            <a:pPr indent="0" marL="0">
              <a:lnSpc>
                <a:spcPts val="3500"/>
              </a:lnSpc>
              <a:buNone/>
            </a:pPr>
            <a:endParaRPr lang="en-US" sz="2100" dirty="0"/>
          </a:p>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That is the gap. It is not information. It is correction.</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THE INVITATION</a:t>
            </a:r>
            <a:endParaRPr lang="en-US" sz="1500" dirty="0"/>
          </a:p>
        </p:txBody>
      </p:sp>
      <p:sp>
        <p:nvSpPr>
          <p:cNvPr id="3" name="Text 1"/>
          <p:cNvSpPr txBox="1"/>
          <p:nvPr/>
        </p:nvSpPr>
        <p:spPr>
          <a:xfrm>
            <a:off x="1481328" y="2514600"/>
            <a:ext cx="15672816" cy="1828800"/>
          </a:xfrm>
          <a:prstGeom prst="rect">
            <a:avLst/>
          </a:prstGeom>
          <a:noFill/>
          <a:ln/>
        </p:spPr>
        <p:txBody>
          <a:bodyPr wrap="square" lIns="0" tIns="0" rIns="0" bIns="0" rtlCol="0" anchor="t"/>
          <a:lstStyle/>
          <a:p>
            <a:pPr indent="0" marL="0">
              <a:lnSpc>
                <a:spcPts val="5428"/>
              </a:lnSpc>
              <a:buNone/>
            </a:pPr>
            <a:r>
              <a:rPr lang="en-US" sz="4600" dirty="0">
                <a:solidFill>
                  <a:srgbClr val="FFFFFF"/>
                </a:solidFill>
                <a:latin typeface="Poppins Bold" pitchFamily="34" charset="0"/>
                <a:ea typeface="Poppins Bold" pitchFamily="34" charset="-122"/>
                <a:cs typeface="Poppins Bold" pitchFamily="34" charset="-120"/>
              </a:rPr>
              <a:t>I want to invite you into the
</a:t>
            </a:r>
            <a:pPr indent="0" marL="0">
              <a:lnSpc>
                <a:spcPts val="5428"/>
              </a:lnSpc>
              <a:buNone/>
            </a:pPr>
            <a:r>
              <a:rPr lang="en-US" sz="4600" i="1" dirty="0">
                <a:solidFill>
                  <a:srgbClr val="D4AF37"/>
                </a:solidFill>
                <a:latin typeface="Poppins Italics" pitchFamily="34" charset="0"/>
                <a:ea typeface="Poppins Italics" pitchFamily="34" charset="-122"/>
                <a:cs typeface="Poppins Italics" pitchFamily="34" charset="-120"/>
              </a:rPr>
              <a:t>Lash Mastery CEO Certification™.</a:t>
            </a:r>
            <a:endParaRPr lang="en-US" sz="4600" dirty="0"/>
          </a:p>
        </p:txBody>
      </p:sp>
      <p:sp>
        <p:nvSpPr>
          <p:cNvPr id="4" name="Text 2"/>
          <p:cNvSpPr txBox="1"/>
          <p:nvPr/>
        </p:nvSpPr>
        <p:spPr>
          <a:xfrm>
            <a:off x="1481328" y="5806440"/>
            <a:ext cx="13165165" cy="914400"/>
          </a:xfrm>
          <a:prstGeom prst="rect">
            <a:avLst/>
          </a:prstGeom>
          <a:noFill/>
          <a:ln/>
        </p:spPr>
        <p:txBody>
          <a:bodyPr wrap="square" lIns="0" tIns="0" rIns="0" bIns="0" rtlCol="0" anchor="ctr"/>
          <a:lstStyle/>
          <a:p>
            <a:pPr indent="0" marL="0">
              <a:buNone/>
            </a:pPr>
            <a:r>
              <a:rPr lang="en-US" sz="2800" dirty="0">
                <a:solidFill>
                  <a:srgbClr val="FFFFFF"/>
                </a:solidFill>
                <a:latin typeface="Poppins Bold" pitchFamily="34" charset="0"/>
                <a:ea typeface="Poppins Bold" pitchFamily="34" charset="-122"/>
                <a:cs typeface="Poppins Bold" pitchFamily="34" charset="-120"/>
              </a:rPr>
              <a:t>If this is what you want for your life, type YES in the chat.</a:t>
            </a:r>
            <a:endParaRPr lang="en-US" sz="2800" dirty="0"/>
          </a:p>
        </p:txBody>
      </p:sp>
      <p:sp>
        <p:nvSpPr>
          <p:cNvPr id="5" name="Text 3"/>
          <p:cNvSpPr txBox="1"/>
          <p:nvPr/>
        </p:nvSpPr>
        <p:spPr>
          <a:xfrm>
            <a:off x="1481328" y="6903720"/>
            <a:ext cx="12851709" cy="1280160"/>
          </a:xfrm>
          <a:prstGeom prst="rect">
            <a:avLst/>
          </a:prstGeom>
          <a:noFill/>
          <a:ln/>
        </p:spPr>
        <p:txBody>
          <a:bodyPr wrap="square" lIns="0" tIns="0" rIns="0" bIns="0" rtlCol="0" anchor="ctr"/>
          <a:lstStyle/>
          <a:p>
            <a:pPr indent="0" marL="0">
              <a:lnSpc>
                <a:spcPts val="3300"/>
              </a:lnSpc>
              <a:buNone/>
            </a:pPr>
            <a:r>
              <a:rPr lang="en-US" sz="2000" dirty="0">
                <a:solidFill>
                  <a:srgbClr val="B9B3BB"/>
                </a:solidFill>
                <a:latin typeface="Poppins" pitchFamily="34" charset="0"/>
                <a:ea typeface="Poppins" pitchFamily="34" charset="-122"/>
                <a:cs typeface="Poppins" pitchFamily="34" charset="-120"/>
              </a:rPr>
              <a:t>The details are for the yeses only. If it is not for you, no hard feelings. The hour was yours either way.</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WHAT YOU JUST SAID YES TO</a:t>
            </a:r>
            <a:endParaRPr lang="en-US" sz="1500" dirty="0"/>
          </a:p>
        </p:txBody>
      </p:sp>
      <p:sp>
        <p:nvSpPr>
          <p:cNvPr id="3" name="Text 1"/>
          <p:cNvSpPr txBox="1"/>
          <p:nvPr/>
        </p:nvSpPr>
        <p:spPr>
          <a:xfrm>
            <a:off x="1481328" y="1188720"/>
            <a:ext cx="9738360" cy="1188720"/>
          </a:xfrm>
          <a:prstGeom prst="rect">
            <a:avLst/>
          </a:prstGeom>
          <a:noFill/>
          <a:ln/>
        </p:spPr>
        <p:txBody>
          <a:bodyPr wrap="square" lIns="0" tIns="0" rIns="0" bIns="0" rtlCol="0" anchor="t"/>
          <a:lstStyle/>
          <a:p>
            <a:pPr indent="0" marL="0">
              <a:lnSpc>
                <a:spcPts val="3894"/>
              </a:lnSpc>
              <a:buNone/>
            </a:pPr>
            <a:r>
              <a:rPr lang="en-US" sz="3300" dirty="0">
                <a:solidFill>
                  <a:srgbClr val="FFFFFF"/>
                </a:solidFill>
                <a:latin typeface="Poppins Bold" pitchFamily="34" charset="0"/>
                <a:ea typeface="Poppins Bold" pitchFamily="34" charset="-122"/>
                <a:cs typeface="Poppins Bold" pitchFamily="34" charset="-120"/>
              </a:rPr>
              <a:t>The Lash Mastery CEO Certification™</a:t>
            </a:r>
            <a:endParaRPr lang="en-US" sz="3300" dirty="0"/>
          </a:p>
        </p:txBody>
      </p:sp>
      <p:sp>
        <p:nvSpPr>
          <p:cNvPr id="4" name="Text 2"/>
          <p:cNvSpPr txBox="1"/>
          <p:nvPr/>
        </p:nvSpPr>
        <p:spPr>
          <a:xfrm>
            <a:off x="1481328" y="3246120"/>
            <a:ext cx="548640" cy="502920"/>
          </a:xfrm>
          <a:prstGeom prst="rect">
            <a:avLst/>
          </a:prstGeom>
          <a:noFill/>
          <a:ln/>
        </p:spPr>
        <p:txBody>
          <a:bodyPr wrap="square" lIns="0" tIns="0" rIns="0" bIns="0" rtlCol="0" anchor="ctr"/>
          <a:lstStyle/>
          <a:p>
            <a:pPr indent="0" marL="0">
              <a:buNone/>
            </a:pPr>
            <a:r>
              <a:rPr lang="en-US" sz="2200" dirty="0">
                <a:solidFill>
                  <a:srgbClr val="4EBB19"/>
                </a:solidFill>
                <a:latin typeface="Poppins Bold" pitchFamily="34" charset="0"/>
                <a:ea typeface="Poppins Bold" pitchFamily="34" charset="-122"/>
                <a:cs typeface="Poppins Bold" pitchFamily="34" charset="-120"/>
              </a:rPr>
              <a:t>✓</a:t>
            </a:r>
            <a:endParaRPr lang="en-US" sz="2200" dirty="0"/>
          </a:p>
        </p:txBody>
      </p:sp>
      <p:sp>
        <p:nvSpPr>
          <p:cNvPr id="5" name="Text 3"/>
          <p:cNvSpPr txBox="1"/>
          <p:nvPr/>
        </p:nvSpPr>
        <p:spPr>
          <a:xfrm>
            <a:off x="2121408" y="3246120"/>
            <a:ext cx="7818120" cy="502920"/>
          </a:xfrm>
          <a:prstGeom prst="rect">
            <a:avLst/>
          </a:prstGeom>
          <a:noFill/>
          <a:ln/>
        </p:spPr>
        <p:txBody>
          <a:bodyPr wrap="square" lIns="0" tIns="0" rIns="0" bIns="0" rtlCol="0" anchor="ctr"/>
          <a:lstStyle/>
          <a:p>
            <a:pPr indent="0" marL="0">
              <a:buNone/>
            </a:pPr>
            <a:r>
              <a:rPr lang="en-US" sz="2000" dirty="0">
                <a:solidFill>
                  <a:srgbClr val="FFFFFF"/>
                </a:solidFill>
                <a:latin typeface="Poppins Bold" pitchFamily="34" charset="0"/>
                <a:ea typeface="Poppins Bold" pitchFamily="34" charset="-122"/>
                <a:cs typeface="Poppins Bold" pitchFamily="34" charset="-120"/>
              </a:rPr>
              <a:t>Six weeks live with an RN</a:t>
            </a:r>
            <a:endParaRPr lang="en-US" sz="2000" dirty="0"/>
          </a:p>
        </p:txBody>
      </p:sp>
      <p:sp>
        <p:nvSpPr>
          <p:cNvPr id="6" name="Text 4"/>
          <p:cNvSpPr txBox="1"/>
          <p:nvPr/>
        </p:nvSpPr>
        <p:spPr>
          <a:xfrm>
            <a:off x="2121408" y="3721608"/>
            <a:ext cx="7818120"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Every session recorded. You leave corrected, not guessing</a:t>
            </a:r>
            <a:endParaRPr lang="en-US" sz="1725" dirty="0"/>
          </a:p>
        </p:txBody>
      </p:sp>
      <p:sp>
        <p:nvSpPr>
          <p:cNvPr id="7" name="Text 5"/>
          <p:cNvSpPr txBox="1"/>
          <p:nvPr/>
        </p:nvSpPr>
        <p:spPr>
          <a:xfrm>
            <a:off x="1481328" y="4343400"/>
            <a:ext cx="548640" cy="502920"/>
          </a:xfrm>
          <a:prstGeom prst="rect">
            <a:avLst/>
          </a:prstGeom>
          <a:noFill/>
          <a:ln/>
        </p:spPr>
        <p:txBody>
          <a:bodyPr wrap="square" lIns="0" tIns="0" rIns="0" bIns="0" rtlCol="0" anchor="ctr"/>
          <a:lstStyle/>
          <a:p>
            <a:pPr indent="0" marL="0">
              <a:buNone/>
            </a:pPr>
            <a:r>
              <a:rPr lang="en-US" sz="2200" dirty="0">
                <a:solidFill>
                  <a:srgbClr val="4EBB19"/>
                </a:solidFill>
                <a:latin typeface="Poppins Bold" pitchFamily="34" charset="0"/>
                <a:ea typeface="Poppins Bold" pitchFamily="34" charset="-122"/>
                <a:cs typeface="Poppins Bold" pitchFamily="34" charset="-120"/>
              </a:rPr>
              <a:t>✓</a:t>
            </a:r>
            <a:endParaRPr lang="en-US" sz="2200" dirty="0"/>
          </a:p>
        </p:txBody>
      </p:sp>
      <p:sp>
        <p:nvSpPr>
          <p:cNvPr id="8" name="Text 6"/>
          <p:cNvSpPr txBox="1"/>
          <p:nvPr/>
        </p:nvSpPr>
        <p:spPr>
          <a:xfrm>
            <a:off x="2121408" y="4343400"/>
            <a:ext cx="7818120" cy="502920"/>
          </a:xfrm>
          <a:prstGeom prst="rect">
            <a:avLst/>
          </a:prstGeom>
          <a:noFill/>
          <a:ln/>
        </p:spPr>
        <p:txBody>
          <a:bodyPr wrap="square" lIns="0" tIns="0" rIns="0" bIns="0" rtlCol="0" anchor="ctr"/>
          <a:lstStyle/>
          <a:p>
            <a:pPr indent="0" marL="0">
              <a:buNone/>
            </a:pPr>
            <a:r>
              <a:rPr lang="en-US" sz="2000" dirty="0">
                <a:solidFill>
                  <a:srgbClr val="FFFFFF"/>
                </a:solidFill>
                <a:latin typeface="Poppins Bold" pitchFamily="34" charset="0"/>
                <a:ea typeface="Poppins Bold" pitchFamily="34" charset="-122"/>
                <a:cs typeface="Poppins Bold" pitchFamily="34" charset="-120"/>
              </a:rPr>
              <a:t>Barbicide® + Master Eyelash Specialist</a:t>
            </a:r>
            <a:endParaRPr lang="en-US" sz="2000" dirty="0"/>
          </a:p>
        </p:txBody>
      </p:sp>
      <p:sp>
        <p:nvSpPr>
          <p:cNvPr id="9" name="Text 7"/>
          <p:cNvSpPr txBox="1"/>
          <p:nvPr/>
        </p:nvSpPr>
        <p:spPr>
          <a:xfrm>
            <a:off x="2121408" y="4818888"/>
            <a:ext cx="7818120"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Credentials clients recognize</a:t>
            </a:r>
            <a:endParaRPr lang="en-US" sz="1725" dirty="0"/>
          </a:p>
        </p:txBody>
      </p:sp>
      <p:sp>
        <p:nvSpPr>
          <p:cNvPr id="10" name="Text 8"/>
          <p:cNvSpPr txBox="1"/>
          <p:nvPr/>
        </p:nvSpPr>
        <p:spPr>
          <a:xfrm>
            <a:off x="1481328" y="5440680"/>
            <a:ext cx="548640" cy="502920"/>
          </a:xfrm>
          <a:prstGeom prst="rect">
            <a:avLst/>
          </a:prstGeom>
          <a:noFill/>
          <a:ln/>
        </p:spPr>
        <p:txBody>
          <a:bodyPr wrap="square" lIns="0" tIns="0" rIns="0" bIns="0" rtlCol="0" anchor="ctr"/>
          <a:lstStyle/>
          <a:p>
            <a:pPr indent="0" marL="0">
              <a:buNone/>
            </a:pPr>
            <a:r>
              <a:rPr lang="en-US" sz="2200" dirty="0">
                <a:solidFill>
                  <a:srgbClr val="4EBB19"/>
                </a:solidFill>
                <a:latin typeface="Poppins Bold" pitchFamily="34" charset="0"/>
                <a:ea typeface="Poppins Bold" pitchFamily="34" charset="-122"/>
                <a:cs typeface="Poppins Bold" pitchFamily="34" charset="-120"/>
              </a:rPr>
              <a:t>✓</a:t>
            </a:r>
            <a:endParaRPr lang="en-US" sz="2200" dirty="0"/>
          </a:p>
        </p:txBody>
      </p:sp>
      <p:sp>
        <p:nvSpPr>
          <p:cNvPr id="11" name="Text 9"/>
          <p:cNvSpPr txBox="1"/>
          <p:nvPr/>
        </p:nvSpPr>
        <p:spPr>
          <a:xfrm>
            <a:off x="2121408" y="5440680"/>
            <a:ext cx="7818120" cy="502920"/>
          </a:xfrm>
          <a:prstGeom prst="rect">
            <a:avLst/>
          </a:prstGeom>
          <a:noFill/>
          <a:ln/>
        </p:spPr>
        <p:txBody>
          <a:bodyPr wrap="square" lIns="0" tIns="0" rIns="0" bIns="0" rtlCol="0" anchor="ctr"/>
          <a:lstStyle/>
          <a:p>
            <a:pPr indent="0" marL="0">
              <a:buNone/>
            </a:pPr>
            <a:r>
              <a:rPr lang="en-US" sz="2000" dirty="0">
                <a:solidFill>
                  <a:srgbClr val="FFFFFF"/>
                </a:solidFill>
                <a:latin typeface="Poppins Bold" pitchFamily="34" charset="0"/>
                <a:ea typeface="Poppins Bold" pitchFamily="34" charset="-122"/>
                <a:cs typeface="Poppins Bold" pitchFamily="34" charset="-120"/>
              </a:rPr>
              <a:t>The Money Maker Lash Kit, shipped</a:t>
            </a:r>
            <a:endParaRPr lang="en-US" sz="2000" dirty="0"/>
          </a:p>
        </p:txBody>
      </p:sp>
      <p:sp>
        <p:nvSpPr>
          <p:cNvPr id="12" name="Text 10"/>
          <p:cNvSpPr txBox="1"/>
          <p:nvPr/>
        </p:nvSpPr>
        <p:spPr>
          <a:xfrm>
            <a:off x="2121408" y="5916168"/>
            <a:ext cx="7818120"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Professional product for your first 30 paying clients</a:t>
            </a:r>
            <a:endParaRPr lang="en-US" sz="1725" dirty="0"/>
          </a:p>
        </p:txBody>
      </p:sp>
      <p:sp>
        <p:nvSpPr>
          <p:cNvPr id="13" name="Text 11"/>
          <p:cNvSpPr txBox="1"/>
          <p:nvPr/>
        </p:nvSpPr>
        <p:spPr>
          <a:xfrm>
            <a:off x="1481328" y="6537960"/>
            <a:ext cx="548640" cy="502920"/>
          </a:xfrm>
          <a:prstGeom prst="rect">
            <a:avLst/>
          </a:prstGeom>
          <a:noFill/>
          <a:ln/>
        </p:spPr>
        <p:txBody>
          <a:bodyPr wrap="square" lIns="0" tIns="0" rIns="0" bIns="0" rtlCol="0" anchor="ctr"/>
          <a:lstStyle/>
          <a:p>
            <a:pPr indent="0" marL="0">
              <a:buNone/>
            </a:pPr>
            <a:r>
              <a:rPr lang="en-US" sz="2200" dirty="0">
                <a:solidFill>
                  <a:srgbClr val="4EBB19"/>
                </a:solidFill>
                <a:latin typeface="Poppins Bold" pitchFamily="34" charset="0"/>
                <a:ea typeface="Poppins Bold" pitchFamily="34" charset="-122"/>
                <a:cs typeface="Poppins Bold" pitchFamily="34" charset="-120"/>
              </a:rPr>
              <a:t>✓</a:t>
            </a:r>
            <a:endParaRPr lang="en-US" sz="2200" dirty="0"/>
          </a:p>
        </p:txBody>
      </p:sp>
      <p:sp>
        <p:nvSpPr>
          <p:cNvPr id="14" name="Text 12"/>
          <p:cNvSpPr txBox="1"/>
          <p:nvPr/>
        </p:nvSpPr>
        <p:spPr>
          <a:xfrm>
            <a:off x="2121408" y="6537960"/>
            <a:ext cx="7818120" cy="502920"/>
          </a:xfrm>
          <a:prstGeom prst="rect">
            <a:avLst/>
          </a:prstGeom>
          <a:noFill/>
          <a:ln/>
        </p:spPr>
        <p:txBody>
          <a:bodyPr wrap="square" lIns="0" tIns="0" rIns="0" bIns="0" rtlCol="0" anchor="ctr"/>
          <a:lstStyle/>
          <a:p>
            <a:pPr indent="0" marL="0">
              <a:buNone/>
            </a:pPr>
            <a:r>
              <a:rPr lang="en-US" sz="2000" dirty="0">
                <a:solidFill>
                  <a:srgbClr val="FFFFFF"/>
                </a:solidFill>
                <a:latin typeface="Poppins Bold" pitchFamily="34" charset="0"/>
                <a:ea typeface="Poppins Bold" pitchFamily="34" charset="-122"/>
                <a:cs typeface="Poppins Bold" pitchFamily="34" charset="-120"/>
              </a:rPr>
              <a:t>Lash CEO GPT Library™ + Vendor List</a:t>
            </a:r>
            <a:endParaRPr lang="en-US" sz="2000" dirty="0"/>
          </a:p>
        </p:txBody>
      </p:sp>
      <p:sp>
        <p:nvSpPr>
          <p:cNvPr id="15" name="Text 13"/>
          <p:cNvSpPr txBox="1"/>
          <p:nvPr/>
        </p:nvSpPr>
        <p:spPr>
          <a:xfrm>
            <a:off x="2121408" y="7013448"/>
            <a:ext cx="7818120"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Four AI tools answering the questions that stop women cold</a:t>
            </a:r>
            <a:endParaRPr lang="en-US" sz="1725" dirty="0"/>
          </a:p>
        </p:txBody>
      </p:sp>
      <p:sp>
        <p:nvSpPr>
          <p:cNvPr id="16" name="Text 14"/>
          <p:cNvSpPr txBox="1"/>
          <p:nvPr/>
        </p:nvSpPr>
        <p:spPr>
          <a:xfrm>
            <a:off x="1481328" y="7635240"/>
            <a:ext cx="548640" cy="502920"/>
          </a:xfrm>
          <a:prstGeom prst="rect">
            <a:avLst/>
          </a:prstGeom>
          <a:noFill/>
          <a:ln/>
        </p:spPr>
        <p:txBody>
          <a:bodyPr wrap="square" lIns="0" tIns="0" rIns="0" bIns="0" rtlCol="0" anchor="ctr"/>
          <a:lstStyle/>
          <a:p>
            <a:pPr indent="0" marL="0">
              <a:buNone/>
            </a:pPr>
            <a:r>
              <a:rPr lang="en-US" sz="2200" dirty="0">
                <a:solidFill>
                  <a:srgbClr val="4EBB19"/>
                </a:solidFill>
                <a:latin typeface="Poppins Bold" pitchFamily="34" charset="0"/>
                <a:ea typeface="Poppins Bold" pitchFamily="34" charset="-122"/>
                <a:cs typeface="Poppins Bold" pitchFamily="34" charset="-120"/>
              </a:rPr>
              <a:t>✓</a:t>
            </a:r>
            <a:endParaRPr lang="en-US" sz="2200" dirty="0"/>
          </a:p>
        </p:txBody>
      </p:sp>
      <p:sp>
        <p:nvSpPr>
          <p:cNvPr id="17" name="Text 15"/>
          <p:cNvSpPr txBox="1"/>
          <p:nvPr/>
        </p:nvSpPr>
        <p:spPr>
          <a:xfrm>
            <a:off x="2121408" y="7635240"/>
            <a:ext cx="7818120" cy="502920"/>
          </a:xfrm>
          <a:prstGeom prst="rect">
            <a:avLst/>
          </a:prstGeom>
          <a:noFill/>
          <a:ln/>
        </p:spPr>
        <p:txBody>
          <a:bodyPr wrap="square" lIns="0" tIns="0" rIns="0" bIns="0" rtlCol="0" anchor="ctr"/>
          <a:lstStyle/>
          <a:p>
            <a:pPr indent="0" marL="0">
              <a:buNone/>
            </a:pPr>
            <a:r>
              <a:rPr lang="en-US" sz="2000" dirty="0">
                <a:solidFill>
                  <a:srgbClr val="FFFFFF"/>
                </a:solidFill>
                <a:latin typeface="Poppins Bold" pitchFamily="34" charset="0"/>
                <a:ea typeface="Poppins Bold" pitchFamily="34" charset="-122"/>
                <a:cs typeface="Poppins Bold" pitchFamily="34" charset="-120"/>
              </a:rPr>
              <a:t>The Rich Lash® Performance Guarantee</a:t>
            </a:r>
            <a:endParaRPr lang="en-US" sz="2000" dirty="0"/>
          </a:p>
        </p:txBody>
      </p:sp>
      <p:sp>
        <p:nvSpPr>
          <p:cNvPr id="18" name="Text 16"/>
          <p:cNvSpPr txBox="1"/>
          <p:nvPr/>
        </p:nvSpPr>
        <p:spPr>
          <a:xfrm>
            <a:off x="2121408" y="8110728"/>
            <a:ext cx="7818120"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We keep working with you until your first paying client</a:t>
            </a:r>
            <a:endParaRPr lang="en-US" sz="1725" dirty="0"/>
          </a:p>
        </p:txBody>
      </p:sp>
      <p:sp>
        <p:nvSpPr>
          <p:cNvPr id="19" name="Shape 17"/>
          <p:cNvSpPr/>
          <p:nvPr/>
        </p:nvSpPr>
        <p:spPr>
          <a:xfrm>
            <a:off x="10844784" y="3209544"/>
            <a:ext cx="6345936" cy="2862072"/>
          </a:xfrm>
          <a:prstGeom prst="rect">
            <a:avLst/>
          </a:prstGeom>
          <a:solidFill>
            <a:srgbClr val="262026"/>
          </a:solidFill>
          <a:ln/>
        </p:spPr>
      </p:sp>
      <p:pic>
        <p:nvPicPr>
          <p:cNvPr id="20" name="Image 0" descr="media/live-teaching.jpeg">    </p:cNvPr>
          <p:cNvPicPr>
            <a:picLocks noChangeAspect="1"/>
          </p:cNvPicPr>
          <p:nvPr/>
        </p:nvPicPr>
        <p:blipFill>
          <a:blip r:embed="rId1"/>
          <a:srcRect l="0" r="0" t="0" b="0"/>
          <a:stretch/>
        </p:blipFill>
        <p:spPr>
          <a:xfrm>
            <a:off x="10881360" y="3246120"/>
            <a:ext cx="6272784" cy="2788920"/>
          </a:xfrm>
          <a:prstGeom prst="rect">
            <a:avLst/>
          </a:prstGeom>
        </p:spPr>
      </p:pic>
      <p:sp>
        <p:nvSpPr>
          <p:cNvPr id="21" name="Text 18"/>
          <p:cNvSpPr txBox="1"/>
          <p:nvPr/>
        </p:nvSpPr>
        <p:spPr>
          <a:xfrm>
            <a:off x="10881360" y="6199632"/>
            <a:ext cx="627278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A LIVE CORRECTION SESSION, ON YOUR REAL WORK</a:t>
            </a:r>
            <a:endParaRPr lang="en-US" sz="1275" dirty="0"/>
          </a:p>
        </p:txBody>
      </p:sp>
      <p:sp>
        <p:nvSpPr>
          <p:cNvPr id="22" name="Shape 19"/>
          <p:cNvSpPr/>
          <p:nvPr/>
        </p:nvSpPr>
        <p:spPr>
          <a:xfrm>
            <a:off x="10844784" y="6684264"/>
            <a:ext cx="6345936" cy="2404872"/>
          </a:xfrm>
          <a:prstGeom prst="rect">
            <a:avLst/>
          </a:prstGeom>
          <a:solidFill>
            <a:srgbClr val="262026"/>
          </a:solidFill>
          <a:ln/>
        </p:spPr>
      </p:sp>
      <p:pic>
        <p:nvPicPr>
          <p:cNvPr id="23" name="Image 1" descr="media/the-kit.jpeg">    </p:cNvPr>
          <p:cNvPicPr>
            <a:picLocks noChangeAspect="1"/>
          </p:cNvPicPr>
          <p:nvPr/>
        </p:nvPicPr>
        <p:blipFill>
          <a:blip r:embed="rId2"/>
          <a:srcRect l="0" r="0" t="0" b="0"/>
          <a:stretch/>
        </p:blipFill>
        <p:spPr>
          <a:xfrm>
            <a:off x="10881360" y="6720840"/>
            <a:ext cx="6272784" cy="233172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AND I AM NOT NEW AT THIS</a:t>
            </a:r>
            <a:endParaRPr lang="en-US" sz="1500" dirty="0"/>
          </a:p>
        </p:txBody>
      </p:sp>
      <p:sp>
        <p:nvSpPr>
          <p:cNvPr id="3" name="Text 1"/>
          <p:cNvSpPr txBox="1"/>
          <p:nvPr/>
        </p:nvSpPr>
        <p:spPr>
          <a:xfrm>
            <a:off x="1481328" y="1143000"/>
            <a:ext cx="15672816" cy="1188720"/>
          </a:xfrm>
          <a:prstGeom prst="rect">
            <a:avLst/>
          </a:prstGeom>
          <a:noFill/>
          <a:ln/>
        </p:spPr>
        <p:txBody>
          <a:bodyPr wrap="square" lIns="0" tIns="0" rIns="0" bIns="0" rtlCol="0" anchor="t"/>
          <a:lstStyle/>
          <a:p>
            <a:pPr indent="0" marL="0">
              <a:lnSpc>
                <a:spcPts val="4248"/>
              </a:lnSpc>
              <a:buNone/>
            </a:pPr>
            <a:r>
              <a:rPr lang="en-US" sz="3600" dirty="0">
                <a:solidFill>
                  <a:srgbClr val="FFFFFF"/>
                </a:solidFill>
                <a:latin typeface="Poppins Bold" pitchFamily="34" charset="0"/>
                <a:ea typeface="Poppins Bold" pitchFamily="34" charset="-122"/>
                <a:cs typeface="Poppins Bold" pitchFamily="34" charset="-120"/>
              </a:rPr>
              <a:t>250+ women have gone through this </a:t>
            </a:r>
            <a:pPr indent="0" marL="0">
              <a:lnSpc>
                <a:spcPts val="4248"/>
              </a:lnSpc>
              <a:buNone/>
            </a:pPr>
            <a:r>
              <a:rPr lang="en-US" sz="3600" i="1" dirty="0">
                <a:solidFill>
                  <a:srgbClr val="D4AF37"/>
                </a:solidFill>
                <a:latin typeface="Poppins Italics" pitchFamily="34" charset="0"/>
                <a:ea typeface="Poppins Italics" pitchFamily="34" charset="-122"/>
                <a:cs typeface="Poppins Italics" pitchFamily="34" charset="-120"/>
              </a:rPr>
              <a:t>since 2017.</a:t>
            </a:r>
            <a:endParaRPr lang="en-US" sz="3600" dirty="0"/>
          </a:p>
        </p:txBody>
      </p:sp>
      <p:sp>
        <p:nvSpPr>
          <p:cNvPr id="4" name="Shape 2"/>
          <p:cNvSpPr/>
          <p:nvPr/>
        </p:nvSpPr>
        <p:spPr>
          <a:xfrm>
            <a:off x="1444752" y="2980944"/>
            <a:ext cx="3625596" cy="4965192"/>
          </a:xfrm>
          <a:prstGeom prst="rect">
            <a:avLst/>
          </a:prstGeom>
          <a:solidFill>
            <a:srgbClr val="262026"/>
          </a:solidFill>
          <a:ln/>
        </p:spPr>
      </p:sp>
      <p:pic>
        <p:nvPicPr>
          <p:cNvPr id="5" name="Image 0" descr="media/grad-1.jpeg">    </p:cNvPr>
          <p:cNvPicPr>
            <a:picLocks noChangeAspect="1"/>
          </p:cNvPicPr>
          <p:nvPr/>
        </p:nvPicPr>
        <p:blipFill>
          <a:blip r:embed="rId1"/>
          <a:srcRect l="0" r="0" t="0" b="0"/>
          <a:stretch/>
        </p:blipFill>
        <p:spPr>
          <a:xfrm>
            <a:off x="1481328" y="3017520"/>
            <a:ext cx="3552444" cy="4892040"/>
          </a:xfrm>
          <a:prstGeom prst="rect">
            <a:avLst/>
          </a:prstGeom>
        </p:spPr>
      </p:pic>
      <p:sp>
        <p:nvSpPr>
          <p:cNvPr id="6" name="Text 3"/>
          <p:cNvSpPr txBox="1"/>
          <p:nvPr/>
        </p:nvSpPr>
        <p:spPr>
          <a:xfrm>
            <a:off x="1481328" y="8092440"/>
            <a:ext cx="355244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CERTIFIED</a:t>
            </a:r>
            <a:endParaRPr lang="en-US" sz="1275" dirty="0"/>
          </a:p>
        </p:txBody>
      </p:sp>
      <p:sp>
        <p:nvSpPr>
          <p:cNvPr id="7" name="Shape 4"/>
          <p:cNvSpPr/>
          <p:nvPr/>
        </p:nvSpPr>
        <p:spPr>
          <a:xfrm>
            <a:off x="5362956" y="2980944"/>
            <a:ext cx="3625596" cy="4965192"/>
          </a:xfrm>
          <a:prstGeom prst="rect">
            <a:avLst/>
          </a:prstGeom>
          <a:solidFill>
            <a:srgbClr val="262026"/>
          </a:solidFill>
          <a:ln/>
        </p:spPr>
      </p:sp>
      <p:pic>
        <p:nvPicPr>
          <p:cNvPr id="8" name="Image 1" descr="media/grad-2.jpeg">    </p:cNvPr>
          <p:cNvPicPr>
            <a:picLocks noChangeAspect="1"/>
          </p:cNvPicPr>
          <p:nvPr/>
        </p:nvPicPr>
        <p:blipFill>
          <a:blip r:embed="rId2"/>
          <a:srcRect l="0" r="0" t="0" b="0"/>
          <a:stretch/>
        </p:blipFill>
        <p:spPr>
          <a:xfrm>
            <a:off x="5399532" y="3017520"/>
            <a:ext cx="3552444" cy="4892040"/>
          </a:xfrm>
          <a:prstGeom prst="rect">
            <a:avLst/>
          </a:prstGeom>
        </p:spPr>
      </p:pic>
      <p:sp>
        <p:nvSpPr>
          <p:cNvPr id="9" name="Text 5"/>
          <p:cNvSpPr txBox="1"/>
          <p:nvPr/>
        </p:nvSpPr>
        <p:spPr>
          <a:xfrm>
            <a:off x="5399532" y="8092440"/>
            <a:ext cx="355244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CERTIFIED</a:t>
            </a:r>
            <a:endParaRPr lang="en-US" sz="1275" dirty="0"/>
          </a:p>
        </p:txBody>
      </p:sp>
      <p:sp>
        <p:nvSpPr>
          <p:cNvPr id="10" name="Shape 6"/>
          <p:cNvSpPr/>
          <p:nvPr/>
        </p:nvSpPr>
        <p:spPr>
          <a:xfrm>
            <a:off x="9281160" y="2980944"/>
            <a:ext cx="3625596" cy="4965192"/>
          </a:xfrm>
          <a:prstGeom prst="rect">
            <a:avLst/>
          </a:prstGeom>
          <a:solidFill>
            <a:srgbClr val="262026"/>
          </a:solidFill>
          <a:ln/>
        </p:spPr>
      </p:sp>
      <p:pic>
        <p:nvPicPr>
          <p:cNvPr id="11" name="Image 2" descr="media/grad-3.jpeg">    </p:cNvPr>
          <p:cNvPicPr>
            <a:picLocks noChangeAspect="1"/>
          </p:cNvPicPr>
          <p:nvPr/>
        </p:nvPicPr>
        <p:blipFill>
          <a:blip r:embed="rId3"/>
          <a:srcRect l="0" r="0" t="0" b="0"/>
          <a:stretch/>
        </p:blipFill>
        <p:spPr>
          <a:xfrm>
            <a:off x="9317736" y="3017520"/>
            <a:ext cx="3552444" cy="4892040"/>
          </a:xfrm>
          <a:prstGeom prst="rect">
            <a:avLst/>
          </a:prstGeom>
        </p:spPr>
      </p:pic>
      <p:sp>
        <p:nvSpPr>
          <p:cNvPr id="12" name="Text 7"/>
          <p:cNvSpPr txBox="1"/>
          <p:nvPr/>
        </p:nvSpPr>
        <p:spPr>
          <a:xfrm>
            <a:off x="9317736" y="8092440"/>
            <a:ext cx="355244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CERTIFIED</a:t>
            </a:r>
            <a:endParaRPr lang="en-US" sz="1275" dirty="0"/>
          </a:p>
        </p:txBody>
      </p:sp>
      <p:sp>
        <p:nvSpPr>
          <p:cNvPr id="13" name="Shape 8"/>
          <p:cNvSpPr/>
          <p:nvPr/>
        </p:nvSpPr>
        <p:spPr>
          <a:xfrm>
            <a:off x="13199364" y="2980944"/>
            <a:ext cx="3625596" cy="4965192"/>
          </a:xfrm>
          <a:prstGeom prst="rect">
            <a:avLst/>
          </a:prstGeom>
          <a:solidFill>
            <a:srgbClr val="262026"/>
          </a:solidFill>
          <a:ln/>
        </p:spPr>
      </p:sp>
      <p:pic>
        <p:nvPicPr>
          <p:cNvPr id="14" name="Image 3" descr="media/grad-4.jpeg">    </p:cNvPr>
          <p:cNvPicPr>
            <a:picLocks noChangeAspect="1"/>
          </p:cNvPicPr>
          <p:nvPr/>
        </p:nvPicPr>
        <p:blipFill>
          <a:blip r:embed="rId4"/>
          <a:srcRect l="0" r="0" t="0" b="0"/>
          <a:stretch/>
        </p:blipFill>
        <p:spPr>
          <a:xfrm>
            <a:off x="13235940" y="3017520"/>
            <a:ext cx="3552444" cy="4892040"/>
          </a:xfrm>
          <a:prstGeom prst="rect">
            <a:avLst/>
          </a:prstGeom>
        </p:spPr>
      </p:pic>
      <p:sp>
        <p:nvSpPr>
          <p:cNvPr id="15" name="Text 9"/>
          <p:cNvSpPr txBox="1"/>
          <p:nvPr/>
        </p:nvSpPr>
        <p:spPr>
          <a:xfrm>
            <a:off x="13235940" y="8092440"/>
            <a:ext cx="355244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CERTIFIED</a:t>
            </a:r>
            <a:endParaRPr lang="en-US" sz="1275" dirty="0"/>
          </a:p>
        </p:txBody>
      </p:sp>
      <p:sp>
        <p:nvSpPr>
          <p:cNvPr id="16" name="Text 10"/>
          <p:cNvSpPr txBox="1"/>
          <p:nvPr/>
        </p:nvSpPr>
        <p:spPr>
          <a:xfrm>
            <a:off x="1481328" y="8823960"/>
            <a:ext cx="15672816" cy="457200"/>
          </a:xfrm>
          <a:prstGeom prst="rect">
            <a:avLst/>
          </a:prstGeom>
          <a:noFill/>
          <a:ln/>
        </p:spPr>
        <p:txBody>
          <a:bodyPr wrap="square" lIns="0" tIns="0" rIns="0" bIns="0" rtlCol="0" anchor="ctr"/>
          <a:lstStyle/>
          <a:p>
            <a:pPr indent="0" marL="0">
              <a:buNone/>
            </a:pPr>
            <a:r>
              <a:rPr lang="en-US" sz="1500" dirty="0">
                <a:solidFill>
                  <a:srgbClr val="B9B3BB"/>
                </a:solidFill>
                <a:latin typeface="Poppins" pitchFamily="34" charset="0"/>
                <a:ea typeface="Poppins" pitchFamily="34" charset="-122"/>
                <a:cs typeface="Poppins" pitchFamily="34" charset="-120"/>
              </a:rPr>
              <a:t>Rich Lash® University graduates. Individual results vary.</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IN THEIR WORDS, NOT MINE</a:t>
            </a:r>
            <a:endParaRPr lang="en-US" sz="1500" dirty="0"/>
          </a:p>
        </p:txBody>
      </p:sp>
      <p:sp>
        <p:nvSpPr>
          <p:cNvPr id="3" name="Text 1"/>
          <p:cNvSpPr txBox="1"/>
          <p:nvPr/>
        </p:nvSpPr>
        <p:spPr>
          <a:xfrm>
            <a:off x="1481328" y="1143000"/>
            <a:ext cx="15672816" cy="1828800"/>
          </a:xfrm>
          <a:prstGeom prst="rect">
            <a:avLst/>
          </a:prstGeom>
          <a:noFill/>
          <a:ln/>
        </p:spPr>
        <p:txBody>
          <a:bodyPr wrap="square" lIns="0" tIns="0" rIns="0" bIns="0" rtlCol="0" anchor="t"/>
          <a:lstStyle/>
          <a:p>
            <a:pPr indent="0" marL="0">
              <a:lnSpc>
                <a:spcPts val="4956"/>
              </a:lnSpc>
              <a:buNone/>
            </a:pPr>
            <a:r>
              <a:rPr lang="en-US" sz="4200" dirty="0">
                <a:solidFill>
                  <a:srgbClr val="FFFFFF"/>
                </a:solidFill>
                <a:latin typeface="Poppins Bold" pitchFamily="34" charset="0"/>
                <a:ea typeface="Poppins Bold" pitchFamily="34" charset="-122"/>
                <a:cs typeface="Poppins Bold" pitchFamily="34" charset="-120"/>
              </a:rPr>
              <a:t>This is what week two sounds like.</a:t>
            </a:r>
            <a:endParaRPr lang="en-US" sz="4200" dirty="0"/>
          </a:p>
        </p:txBody>
      </p:sp>
      <p:sp>
        <p:nvSpPr>
          <p:cNvPr id="4" name="Shape 2"/>
          <p:cNvSpPr/>
          <p:nvPr/>
        </p:nvSpPr>
        <p:spPr>
          <a:xfrm>
            <a:off x="1444752" y="3026664"/>
            <a:ext cx="5650992" cy="5422392"/>
          </a:xfrm>
          <a:prstGeom prst="rect">
            <a:avLst/>
          </a:prstGeom>
          <a:solidFill>
            <a:srgbClr val="262026"/>
          </a:solidFill>
          <a:ln/>
        </p:spPr>
      </p:sp>
      <p:pic>
        <p:nvPicPr>
          <p:cNvPr id="5" name="Image 0" descr="media/testimonial-chelsea.jpeg">    </p:cNvPr>
          <p:cNvPicPr>
            <a:picLocks noChangeAspect="1"/>
          </p:cNvPicPr>
          <p:nvPr/>
        </p:nvPicPr>
        <p:blipFill>
          <a:blip r:embed="rId1"/>
          <a:srcRect l="0" r="0" t="0" b="0"/>
          <a:stretch/>
        </p:blipFill>
        <p:spPr>
          <a:xfrm>
            <a:off x="1481328" y="3063240"/>
            <a:ext cx="5577840" cy="5349240"/>
          </a:xfrm>
          <a:prstGeom prst="rect">
            <a:avLst/>
          </a:prstGeom>
        </p:spPr>
      </p:pic>
      <p:sp>
        <p:nvSpPr>
          <p:cNvPr id="6" name="Shape 3"/>
          <p:cNvSpPr/>
          <p:nvPr/>
        </p:nvSpPr>
        <p:spPr>
          <a:xfrm>
            <a:off x="7461504" y="3026664"/>
            <a:ext cx="4142232" cy="5422392"/>
          </a:xfrm>
          <a:prstGeom prst="rect">
            <a:avLst/>
          </a:prstGeom>
          <a:solidFill>
            <a:srgbClr val="262026"/>
          </a:solidFill>
          <a:ln/>
        </p:spPr>
      </p:sp>
      <p:pic>
        <p:nvPicPr>
          <p:cNvPr id="7" name="Image 1" descr="media/testimonial-omoye.jpeg">    </p:cNvPr>
          <p:cNvPicPr>
            <a:picLocks noChangeAspect="1"/>
          </p:cNvPicPr>
          <p:nvPr/>
        </p:nvPicPr>
        <p:blipFill>
          <a:blip r:embed="rId2"/>
          <a:srcRect l="0" r="0" t="0" b="0"/>
          <a:stretch/>
        </p:blipFill>
        <p:spPr>
          <a:xfrm>
            <a:off x="7498080" y="3063240"/>
            <a:ext cx="4069080" cy="5349240"/>
          </a:xfrm>
          <a:prstGeom prst="rect">
            <a:avLst/>
          </a:prstGeom>
        </p:spPr>
      </p:pic>
      <p:sp>
        <p:nvSpPr>
          <p:cNvPr id="8" name="Text 4"/>
          <p:cNvSpPr txBox="1"/>
          <p:nvPr/>
        </p:nvSpPr>
        <p:spPr>
          <a:xfrm>
            <a:off x="12115800" y="3246120"/>
            <a:ext cx="5038344" cy="3566160"/>
          </a:xfrm>
          <a:prstGeom prst="rect">
            <a:avLst/>
          </a:prstGeom>
          <a:noFill/>
          <a:ln/>
        </p:spPr>
        <p:txBody>
          <a:bodyPr wrap="square" lIns="0" tIns="0" rIns="0" bIns="0" rtlCol="0" anchor="ctr"/>
          <a:lstStyle/>
          <a:p>
            <a:pPr indent="0" marL="0">
              <a:lnSpc>
                <a:spcPts val="3200"/>
              </a:lnSpc>
              <a:buNone/>
            </a:pPr>
            <a:r>
              <a:rPr lang="en-US" sz="1900" i="1" dirty="0">
                <a:solidFill>
                  <a:srgbClr val="FFFFFF"/>
                </a:solidFill>
                <a:latin typeface="Poppins Italics" pitchFamily="34" charset="0"/>
                <a:ea typeface="Poppins Italics" pitchFamily="34" charset="-122"/>
                <a:cs typeface="Poppins Italics" pitchFamily="34" charset="-120"/>
              </a:rPr>
              <a:t>“I just wanted to share with y'all the set I did today. This the very first set that I did that I'm extremely proud of and can't believe I did that.”</a:t>
            </a:r>
            <a:endParaRPr lang="en-US" sz="1900" dirty="0"/>
          </a:p>
        </p:txBody>
      </p:sp>
      <p:sp>
        <p:nvSpPr>
          <p:cNvPr id="9" name="Text 5"/>
          <p:cNvSpPr txBox="1"/>
          <p:nvPr/>
        </p:nvSpPr>
        <p:spPr>
          <a:xfrm>
            <a:off x="12115800" y="6967728"/>
            <a:ext cx="5038344" cy="365760"/>
          </a:xfrm>
          <a:prstGeom prst="rect">
            <a:avLst/>
          </a:prstGeom>
          <a:noFill/>
          <a:ln/>
        </p:spPr>
        <p:txBody>
          <a:bodyPr wrap="square" lIns="0" tIns="0" rIns="0" bIns="0" rtlCol="0" anchor="ctr"/>
          <a:lstStyle/>
          <a:p>
            <a:pPr indent="0" marL="0">
              <a:buNone/>
            </a:pPr>
            <a:r>
              <a:rPr lang="en-US" sz="1275" spc="300" kern="0" dirty="0">
                <a:solidFill>
                  <a:srgbClr val="B9B3BB"/>
                </a:solidFill>
                <a:latin typeface="Poppins Bold" pitchFamily="34" charset="0"/>
                <a:ea typeface="Poppins Bold" pitchFamily="34" charset="-122"/>
                <a:cs typeface="Poppins Bold" pitchFamily="34" charset="-120"/>
              </a:rPr>
              <a:t>CHELSEA B.  ·  CAMPUS MEMBER</a:t>
            </a:r>
            <a:endParaRPr lang="en-US" sz="1275" dirty="0"/>
          </a:p>
        </p:txBody>
      </p:sp>
      <p:sp>
        <p:nvSpPr>
          <p:cNvPr id="10" name="Text 6"/>
          <p:cNvSpPr txBox="1"/>
          <p:nvPr/>
        </p:nvSpPr>
        <p:spPr>
          <a:xfrm>
            <a:off x="1481328" y="8732520"/>
            <a:ext cx="15672816" cy="457200"/>
          </a:xfrm>
          <a:prstGeom prst="rect">
            <a:avLst/>
          </a:prstGeom>
          <a:noFill/>
          <a:ln/>
        </p:spPr>
        <p:txBody>
          <a:bodyPr wrap="square" lIns="0" tIns="0" rIns="0" bIns="0" rtlCol="0" anchor="ctr"/>
          <a:lstStyle/>
          <a:p>
            <a:pPr indent="0" marL="0">
              <a:buNone/>
            </a:pPr>
            <a:r>
              <a:rPr lang="en-US" sz="1500" dirty="0">
                <a:solidFill>
                  <a:srgbClr val="B9B3BB"/>
                </a:solidFill>
                <a:latin typeface="Poppins" pitchFamily="34" charset="0"/>
                <a:ea typeface="Poppins" pitchFamily="34" charset="-122"/>
                <a:cs typeface="Poppins" pitchFamily="34" charset="-120"/>
              </a:rPr>
              <a:t>Posted by Rich Lash® women inside the campus. Individual results vary.</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TIER ONE</a:t>
            </a:r>
            <a:endParaRPr lang="en-US" sz="1500" dirty="0"/>
          </a:p>
        </p:txBody>
      </p:sp>
      <p:sp>
        <p:nvSpPr>
          <p:cNvPr id="3" name="Text 1"/>
          <p:cNvSpPr txBox="1"/>
          <p:nvPr/>
        </p:nvSpPr>
        <p:spPr>
          <a:xfrm>
            <a:off x="1481328" y="1143000"/>
            <a:ext cx="15672816" cy="1828800"/>
          </a:xfrm>
          <a:prstGeom prst="rect">
            <a:avLst/>
          </a:prstGeom>
          <a:noFill/>
          <a:ln/>
        </p:spPr>
        <p:txBody>
          <a:bodyPr wrap="square" lIns="0" tIns="0" rIns="0" bIns="0" rtlCol="0" anchor="t"/>
          <a:lstStyle/>
          <a:p>
            <a:pPr indent="0" marL="0">
              <a:lnSpc>
                <a:spcPts val="6372"/>
              </a:lnSpc>
              <a:buNone/>
            </a:pPr>
            <a:r>
              <a:rPr lang="en-US" sz="5400" dirty="0">
                <a:solidFill>
                  <a:srgbClr val="FFFFFF"/>
                </a:solidFill>
                <a:latin typeface="Poppins Bold" pitchFamily="34" charset="0"/>
                <a:ea typeface="Poppins Bold" pitchFamily="34" charset="-122"/>
                <a:cs typeface="Poppins Bold" pitchFamily="34" charset="-120"/>
              </a:rPr>
              <a:t>Certified </a:t>
            </a:r>
            <a:pPr indent="0" marL="0">
              <a:lnSpc>
                <a:spcPts val="6372"/>
              </a:lnSpc>
              <a:buNone/>
            </a:pPr>
            <a:r>
              <a:rPr lang="en-US" sz="5400" i="1" dirty="0">
                <a:solidFill>
                  <a:srgbClr val="D4AF37"/>
                </a:solidFill>
                <a:latin typeface="Poppins Italics" pitchFamily="34" charset="0"/>
                <a:ea typeface="Poppins Italics" pitchFamily="34" charset="-122"/>
                <a:cs typeface="Poppins Italics" pitchFamily="34" charset="-120"/>
              </a:rPr>
              <a:t>CEO</a:t>
            </a:r>
            <a:endParaRPr lang="en-US" sz="5400" dirty="0"/>
          </a:p>
        </p:txBody>
      </p:sp>
      <p:sp>
        <p:nvSpPr>
          <p:cNvPr id="4" name="Text 2"/>
          <p:cNvSpPr txBox="1"/>
          <p:nvPr/>
        </p:nvSpPr>
        <p:spPr>
          <a:xfrm>
            <a:off x="1481328" y="3246120"/>
            <a:ext cx="5486400" cy="411480"/>
          </a:xfrm>
          <a:prstGeom prst="rect">
            <a:avLst/>
          </a:prstGeom>
          <a:noFill/>
          <a:ln/>
        </p:spPr>
        <p:txBody>
          <a:bodyPr wrap="square" lIns="0" tIns="0" rIns="0" bIns="0" rtlCol="0" anchor="ctr"/>
          <a:lstStyle/>
          <a:p>
            <a:pPr indent="0" marL="0">
              <a:buNone/>
            </a:pPr>
            <a:r>
              <a:rPr lang="en-US" sz="1500" spc="400" kern="0" dirty="0">
                <a:solidFill>
                  <a:srgbClr val="B9B3BB"/>
                </a:solidFill>
                <a:latin typeface="Poppins Bold" pitchFamily="34" charset="0"/>
                <a:ea typeface="Poppins Bold" pitchFamily="34" charset="-122"/>
                <a:cs typeface="Poppins Bold" pitchFamily="34" charset="-120"/>
              </a:rPr>
              <a:t>START TONIGHT WITH</a:t>
            </a:r>
            <a:endParaRPr lang="en-US" sz="1500" dirty="0"/>
          </a:p>
        </p:txBody>
      </p:sp>
      <p:sp>
        <p:nvSpPr>
          <p:cNvPr id="5" name="Text 3"/>
          <p:cNvSpPr txBox="1"/>
          <p:nvPr/>
        </p:nvSpPr>
        <p:spPr>
          <a:xfrm>
            <a:off x="1481328" y="3657600"/>
            <a:ext cx="5486400" cy="1371600"/>
          </a:xfrm>
          <a:prstGeom prst="rect">
            <a:avLst/>
          </a:prstGeom>
          <a:noFill/>
          <a:ln/>
        </p:spPr>
        <p:txBody>
          <a:bodyPr wrap="square" lIns="0" tIns="0" rIns="0" bIns="0" rtlCol="0" anchor="ctr"/>
          <a:lstStyle/>
          <a:p>
            <a:pPr indent="0" marL="0">
              <a:buNone/>
            </a:pPr>
            <a:r>
              <a:rPr lang="en-US" sz="7600" dirty="0">
                <a:solidFill>
                  <a:srgbClr val="F600A2"/>
                </a:solidFill>
                <a:latin typeface="Poppins Bold" pitchFamily="34" charset="0"/>
                <a:ea typeface="Poppins Bold" pitchFamily="34" charset="-122"/>
                <a:cs typeface="Poppins Bold" pitchFamily="34" charset="-120"/>
              </a:rPr>
              <a:t>$750</a:t>
            </a:r>
            <a:endParaRPr lang="en-US" sz="7600" dirty="0"/>
          </a:p>
        </p:txBody>
      </p:sp>
      <p:sp>
        <p:nvSpPr>
          <p:cNvPr id="6" name="Text 4"/>
          <p:cNvSpPr txBox="1"/>
          <p:nvPr/>
        </p:nvSpPr>
        <p:spPr>
          <a:xfrm>
            <a:off x="1481328" y="5074920"/>
            <a:ext cx="8778240" cy="548640"/>
          </a:xfrm>
          <a:prstGeom prst="rect">
            <a:avLst/>
          </a:prstGeom>
          <a:noFill/>
          <a:ln/>
        </p:spPr>
        <p:txBody>
          <a:bodyPr wrap="square" lIns="0" tIns="0" rIns="0" bIns="0" rtlCol="0" anchor="ctr"/>
          <a:lstStyle/>
          <a:p>
            <a:pPr indent="0" marL="0">
              <a:buNone/>
            </a:pPr>
            <a:r>
              <a:rPr lang="en-US" sz="1875" dirty="0">
                <a:solidFill>
                  <a:srgbClr val="B9B3BB"/>
                </a:solidFill>
                <a:latin typeface="Poppins" pitchFamily="34" charset="0"/>
                <a:ea typeface="Poppins" pitchFamily="34" charset="-122"/>
                <a:cs typeface="Poppins" pitchFamily="34" charset="-120"/>
              </a:rPr>
              <a:t>Total $2,997  ·  RLU Pay™ total $3,147, no credit check</a:t>
            </a:r>
            <a:endParaRPr lang="en-US" sz="1875" dirty="0"/>
          </a:p>
        </p:txBody>
      </p:sp>
      <p:sp>
        <p:nvSpPr>
          <p:cNvPr id="7" name="Text 5"/>
          <p:cNvSpPr txBox="1"/>
          <p:nvPr/>
        </p:nvSpPr>
        <p:spPr>
          <a:xfrm>
            <a:off x="10533888" y="3383280"/>
            <a:ext cx="457200" cy="457200"/>
          </a:xfrm>
          <a:prstGeom prst="rect">
            <a:avLst/>
          </a:prstGeom>
          <a:noFill/>
          <a:ln/>
        </p:spPr>
        <p:txBody>
          <a:bodyPr wrap="square" lIns="0" tIns="0" rIns="0" bIns="0" rtlCol="0" anchor="ctr"/>
          <a:lstStyle/>
          <a:p>
            <a:pPr indent="0" marL="0">
              <a:buNone/>
            </a:pPr>
            <a:r>
              <a:rPr lang="en-US" sz="1900" dirty="0">
                <a:solidFill>
                  <a:srgbClr val="4EBB19"/>
                </a:solidFill>
                <a:latin typeface="Poppins Bold" pitchFamily="34" charset="0"/>
                <a:ea typeface="Poppins Bold" pitchFamily="34" charset="-122"/>
                <a:cs typeface="Poppins Bold" pitchFamily="34" charset="-120"/>
              </a:rPr>
              <a:t>✓</a:t>
            </a:r>
            <a:endParaRPr lang="en-US" sz="1900" dirty="0"/>
          </a:p>
        </p:txBody>
      </p:sp>
      <p:sp>
        <p:nvSpPr>
          <p:cNvPr id="8" name="Text 6"/>
          <p:cNvSpPr txBox="1"/>
          <p:nvPr/>
        </p:nvSpPr>
        <p:spPr>
          <a:xfrm>
            <a:off x="11082528" y="3383280"/>
            <a:ext cx="6071616"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6-week live RN-led certification</a:t>
            </a:r>
            <a:endParaRPr lang="en-US" sz="1875" dirty="0"/>
          </a:p>
        </p:txBody>
      </p:sp>
      <p:sp>
        <p:nvSpPr>
          <p:cNvPr id="9" name="Text 7"/>
          <p:cNvSpPr txBox="1"/>
          <p:nvPr/>
        </p:nvSpPr>
        <p:spPr>
          <a:xfrm>
            <a:off x="10533888" y="4169664"/>
            <a:ext cx="457200" cy="457200"/>
          </a:xfrm>
          <a:prstGeom prst="rect">
            <a:avLst/>
          </a:prstGeom>
          <a:noFill/>
          <a:ln/>
        </p:spPr>
        <p:txBody>
          <a:bodyPr wrap="square" lIns="0" tIns="0" rIns="0" bIns="0" rtlCol="0" anchor="ctr"/>
          <a:lstStyle/>
          <a:p>
            <a:pPr indent="0" marL="0">
              <a:buNone/>
            </a:pPr>
            <a:r>
              <a:rPr lang="en-US" sz="1900" dirty="0">
                <a:solidFill>
                  <a:srgbClr val="4EBB19"/>
                </a:solidFill>
                <a:latin typeface="Poppins Bold" pitchFamily="34" charset="0"/>
                <a:ea typeface="Poppins Bold" pitchFamily="34" charset="-122"/>
                <a:cs typeface="Poppins Bold" pitchFamily="34" charset="-120"/>
              </a:rPr>
              <a:t>✓</a:t>
            </a:r>
            <a:endParaRPr lang="en-US" sz="1900" dirty="0"/>
          </a:p>
        </p:txBody>
      </p:sp>
      <p:sp>
        <p:nvSpPr>
          <p:cNvPr id="10" name="Text 8"/>
          <p:cNvSpPr txBox="1"/>
          <p:nvPr/>
        </p:nvSpPr>
        <p:spPr>
          <a:xfrm>
            <a:off x="11082528" y="4169664"/>
            <a:ext cx="6071616"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Barbicide® + Master Eyelash Specialist Certs</a:t>
            </a:r>
            <a:endParaRPr lang="en-US" sz="1875" dirty="0"/>
          </a:p>
        </p:txBody>
      </p:sp>
      <p:sp>
        <p:nvSpPr>
          <p:cNvPr id="11" name="Text 9"/>
          <p:cNvSpPr txBox="1"/>
          <p:nvPr/>
        </p:nvSpPr>
        <p:spPr>
          <a:xfrm>
            <a:off x="10533888" y="4956048"/>
            <a:ext cx="457200" cy="457200"/>
          </a:xfrm>
          <a:prstGeom prst="rect">
            <a:avLst/>
          </a:prstGeom>
          <a:noFill/>
          <a:ln/>
        </p:spPr>
        <p:txBody>
          <a:bodyPr wrap="square" lIns="0" tIns="0" rIns="0" bIns="0" rtlCol="0" anchor="ctr"/>
          <a:lstStyle/>
          <a:p>
            <a:pPr indent="0" marL="0">
              <a:buNone/>
            </a:pPr>
            <a:r>
              <a:rPr lang="en-US" sz="1900" dirty="0">
                <a:solidFill>
                  <a:srgbClr val="4EBB19"/>
                </a:solidFill>
                <a:latin typeface="Poppins Bold" pitchFamily="34" charset="0"/>
                <a:ea typeface="Poppins Bold" pitchFamily="34" charset="-122"/>
                <a:cs typeface="Poppins Bold" pitchFamily="34" charset="-120"/>
              </a:rPr>
              <a:t>✓</a:t>
            </a:r>
            <a:endParaRPr lang="en-US" sz="1900" dirty="0"/>
          </a:p>
        </p:txBody>
      </p:sp>
      <p:sp>
        <p:nvSpPr>
          <p:cNvPr id="12" name="Text 10"/>
          <p:cNvSpPr txBox="1"/>
          <p:nvPr/>
        </p:nvSpPr>
        <p:spPr>
          <a:xfrm>
            <a:off x="11082528" y="4956048"/>
            <a:ext cx="6071616"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Money Maker Lash Kit for your first 30 clients</a:t>
            </a:r>
            <a:endParaRPr lang="en-US" sz="1875" dirty="0"/>
          </a:p>
        </p:txBody>
      </p:sp>
      <p:sp>
        <p:nvSpPr>
          <p:cNvPr id="13" name="Text 11"/>
          <p:cNvSpPr txBox="1"/>
          <p:nvPr/>
        </p:nvSpPr>
        <p:spPr>
          <a:xfrm>
            <a:off x="10533888" y="5742432"/>
            <a:ext cx="457200" cy="457200"/>
          </a:xfrm>
          <a:prstGeom prst="rect">
            <a:avLst/>
          </a:prstGeom>
          <a:noFill/>
          <a:ln/>
        </p:spPr>
        <p:txBody>
          <a:bodyPr wrap="square" lIns="0" tIns="0" rIns="0" bIns="0" rtlCol="0" anchor="ctr"/>
          <a:lstStyle/>
          <a:p>
            <a:pPr indent="0" marL="0">
              <a:buNone/>
            </a:pPr>
            <a:r>
              <a:rPr lang="en-US" sz="1900" dirty="0">
                <a:solidFill>
                  <a:srgbClr val="4EBB19"/>
                </a:solidFill>
                <a:latin typeface="Poppins Bold" pitchFamily="34" charset="0"/>
                <a:ea typeface="Poppins Bold" pitchFamily="34" charset="-122"/>
                <a:cs typeface="Poppins Bold" pitchFamily="34" charset="-120"/>
              </a:rPr>
              <a:t>✓</a:t>
            </a:r>
            <a:endParaRPr lang="en-US" sz="1900" dirty="0"/>
          </a:p>
        </p:txBody>
      </p:sp>
      <p:sp>
        <p:nvSpPr>
          <p:cNvPr id="14" name="Text 12"/>
          <p:cNvSpPr txBox="1"/>
          <p:nvPr/>
        </p:nvSpPr>
        <p:spPr>
          <a:xfrm>
            <a:off x="11082528" y="5742432"/>
            <a:ext cx="6071616"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Lash CEO GPT Library™ + Vendor List</a:t>
            </a:r>
            <a:endParaRPr lang="en-US" sz="1875" dirty="0"/>
          </a:p>
        </p:txBody>
      </p:sp>
      <p:sp>
        <p:nvSpPr>
          <p:cNvPr id="15" name="Text 13"/>
          <p:cNvSpPr txBox="1"/>
          <p:nvPr/>
        </p:nvSpPr>
        <p:spPr>
          <a:xfrm>
            <a:off x="10533888" y="6528816"/>
            <a:ext cx="457200" cy="457200"/>
          </a:xfrm>
          <a:prstGeom prst="rect">
            <a:avLst/>
          </a:prstGeom>
          <a:noFill/>
          <a:ln/>
        </p:spPr>
        <p:txBody>
          <a:bodyPr wrap="square" lIns="0" tIns="0" rIns="0" bIns="0" rtlCol="0" anchor="ctr"/>
          <a:lstStyle/>
          <a:p>
            <a:pPr indent="0" marL="0">
              <a:buNone/>
            </a:pPr>
            <a:r>
              <a:rPr lang="en-US" sz="1900" dirty="0">
                <a:solidFill>
                  <a:srgbClr val="4EBB19"/>
                </a:solidFill>
                <a:latin typeface="Poppins Bold" pitchFamily="34" charset="0"/>
                <a:ea typeface="Poppins Bold" pitchFamily="34" charset="-122"/>
                <a:cs typeface="Poppins Bold" pitchFamily="34" charset="-120"/>
              </a:rPr>
              <a:t>✓</a:t>
            </a:r>
            <a:endParaRPr lang="en-US" sz="1900" dirty="0"/>
          </a:p>
        </p:txBody>
      </p:sp>
      <p:sp>
        <p:nvSpPr>
          <p:cNvPr id="16" name="Text 14"/>
          <p:cNvSpPr txBox="1"/>
          <p:nvPr/>
        </p:nvSpPr>
        <p:spPr>
          <a:xfrm>
            <a:off x="11082528" y="6528816"/>
            <a:ext cx="6071616"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Performance Guarantee · 12 months campus access</a:t>
            </a:r>
            <a:endParaRPr lang="en-US" sz="1875" dirty="0"/>
          </a:p>
        </p:txBody>
      </p:sp>
      <p:sp>
        <p:nvSpPr>
          <p:cNvPr id="17" name="Shape 15"/>
          <p:cNvSpPr/>
          <p:nvPr/>
        </p:nvSpPr>
        <p:spPr>
          <a:xfrm>
            <a:off x="1481328" y="7818120"/>
            <a:ext cx="15672816" cy="10973"/>
          </a:xfrm>
          <a:prstGeom prst="rect">
            <a:avLst/>
          </a:prstGeom>
          <a:solidFill>
            <a:srgbClr val="262026"/>
          </a:solidFill>
          <a:ln/>
        </p:spPr>
      </p:sp>
      <p:sp>
        <p:nvSpPr>
          <p:cNvPr id="18" name="Text 16"/>
          <p:cNvSpPr txBox="1"/>
          <p:nvPr/>
        </p:nvSpPr>
        <p:spPr>
          <a:xfrm>
            <a:off x="1481328" y="8092440"/>
            <a:ext cx="15672816" cy="640080"/>
          </a:xfrm>
          <a:prstGeom prst="rect">
            <a:avLst/>
          </a:prstGeom>
          <a:noFill/>
          <a:ln/>
        </p:spPr>
        <p:txBody>
          <a:bodyPr wrap="square" lIns="0" tIns="0" rIns="0" bIns="0" rtlCol="0" anchor="ctr"/>
          <a:lstStyle/>
          <a:p>
            <a:pPr indent="0" marL="0">
              <a:buNone/>
            </a:pPr>
            <a:r>
              <a:rPr lang="en-US" sz="1950" dirty="0">
                <a:solidFill>
                  <a:srgbClr val="D4AF37"/>
                </a:solidFill>
                <a:latin typeface="Poppins Bold" pitchFamily="34" charset="0"/>
                <a:ea typeface="Poppins Bold" pitchFamily="34" charset="-122"/>
                <a:cs typeface="Poppins Bold" pitchFamily="34" charset="-120"/>
              </a:rPr>
              <a:t>Enroll by Thursday September 3 and your kit reaches you before Week One.</a:t>
            </a:r>
            <a:endParaRPr lang="en-US" sz="1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TIER TWO  ·  MOST CHOSEN</a:t>
            </a:r>
            <a:endParaRPr lang="en-US" sz="1500" dirty="0"/>
          </a:p>
        </p:txBody>
      </p:sp>
      <p:sp>
        <p:nvSpPr>
          <p:cNvPr id="3" name="Text 1"/>
          <p:cNvSpPr txBox="1"/>
          <p:nvPr/>
        </p:nvSpPr>
        <p:spPr>
          <a:xfrm>
            <a:off x="1481328" y="1143000"/>
            <a:ext cx="15672816" cy="1828800"/>
          </a:xfrm>
          <a:prstGeom prst="rect">
            <a:avLst/>
          </a:prstGeom>
          <a:noFill/>
          <a:ln/>
        </p:spPr>
        <p:txBody>
          <a:bodyPr wrap="square" lIns="0" tIns="0" rIns="0" bIns="0" rtlCol="0" anchor="t"/>
          <a:lstStyle/>
          <a:p>
            <a:pPr indent="0" marL="0">
              <a:lnSpc>
                <a:spcPts val="6372"/>
              </a:lnSpc>
              <a:buNone/>
            </a:pPr>
            <a:r>
              <a:rPr lang="en-US" sz="5400" dirty="0">
                <a:solidFill>
                  <a:srgbClr val="FFFFFF"/>
                </a:solidFill>
                <a:latin typeface="Poppins Bold" pitchFamily="34" charset="0"/>
                <a:ea typeface="Poppins Bold" pitchFamily="34" charset="-122"/>
                <a:cs typeface="Poppins Bold" pitchFamily="34" charset="-120"/>
              </a:rPr>
              <a:t>Equipped </a:t>
            </a:r>
            <a:pPr indent="0" marL="0">
              <a:lnSpc>
                <a:spcPts val="6372"/>
              </a:lnSpc>
              <a:buNone/>
            </a:pPr>
            <a:r>
              <a:rPr lang="en-US" sz="5400" i="1" dirty="0">
                <a:solidFill>
                  <a:srgbClr val="D4AF37"/>
                </a:solidFill>
                <a:latin typeface="Poppins Italics" pitchFamily="34" charset="0"/>
                <a:ea typeface="Poppins Italics" pitchFamily="34" charset="-122"/>
                <a:cs typeface="Poppins Italics" pitchFamily="34" charset="-120"/>
              </a:rPr>
              <a:t>CEO</a:t>
            </a:r>
            <a:endParaRPr lang="en-US" sz="5400" dirty="0"/>
          </a:p>
        </p:txBody>
      </p:sp>
      <p:sp>
        <p:nvSpPr>
          <p:cNvPr id="4" name="Text 2"/>
          <p:cNvSpPr txBox="1"/>
          <p:nvPr/>
        </p:nvSpPr>
        <p:spPr>
          <a:xfrm>
            <a:off x="1481328" y="3246120"/>
            <a:ext cx="5486400" cy="411480"/>
          </a:xfrm>
          <a:prstGeom prst="rect">
            <a:avLst/>
          </a:prstGeom>
          <a:noFill/>
          <a:ln/>
        </p:spPr>
        <p:txBody>
          <a:bodyPr wrap="square" lIns="0" tIns="0" rIns="0" bIns="0" rtlCol="0" anchor="ctr"/>
          <a:lstStyle/>
          <a:p>
            <a:pPr indent="0" marL="0">
              <a:buNone/>
            </a:pPr>
            <a:r>
              <a:rPr lang="en-US" sz="1500" spc="400" kern="0" dirty="0">
                <a:solidFill>
                  <a:srgbClr val="B9B3BB"/>
                </a:solidFill>
                <a:latin typeface="Poppins Bold" pitchFamily="34" charset="0"/>
                <a:ea typeface="Poppins Bold" pitchFamily="34" charset="-122"/>
                <a:cs typeface="Poppins Bold" pitchFamily="34" charset="-120"/>
              </a:rPr>
              <a:t>START TONIGHT WITH</a:t>
            </a:r>
            <a:endParaRPr lang="en-US" sz="1500" dirty="0"/>
          </a:p>
        </p:txBody>
      </p:sp>
      <p:sp>
        <p:nvSpPr>
          <p:cNvPr id="5" name="Text 3"/>
          <p:cNvSpPr txBox="1"/>
          <p:nvPr/>
        </p:nvSpPr>
        <p:spPr>
          <a:xfrm>
            <a:off x="1481328" y="3657600"/>
            <a:ext cx="6035040" cy="1371600"/>
          </a:xfrm>
          <a:prstGeom prst="rect">
            <a:avLst/>
          </a:prstGeom>
          <a:noFill/>
          <a:ln/>
        </p:spPr>
        <p:txBody>
          <a:bodyPr wrap="square" lIns="0" tIns="0" rIns="0" bIns="0" rtlCol="0" anchor="ctr"/>
          <a:lstStyle/>
          <a:p>
            <a:pPr indent="0" marL="0">
              <a:buNone/>
            </a:pPr>
            <a:r>
              <a:rPr lang="en-US" sz="7600" dirty="0">
                <a:solidFill>
                  <a:srgbClr val="F600A2"/>
                </a:solidFill>
                <a:latin typeface="Poppins Bold" pitchFamily="34" charset="0"/>
                <a:ea typeface="Poppins Bold" pitchFamily="34" charset="-122"/>
                <a:cs typeface="Poppins Bold" pitchFamily="34" charset="-120"/>
              </a:rPr>
              <a:t>$1,200</a:t>
            </a:r>
            <a:endParaRPr lang="en-US" sz="7600" dirty="0"/>
          </a:p>
        </p:txBody>
      </p:sp>
      <p:sp>
        <p:nvSpPr>
          <p:cNvPr id="6" name="Text 4"/>
          <p:cNvSpPr txBox="1"/>
          <p:nvPr/>
        </p:nvSpPr>
        <p:spPr>
          <a:xfrm>
            <a:off x="1481328" y="5074920"/>
            <a:ext cx="8778240" cy="548640"/>
          </a:xfrm>
          <a:prstGeom prst="rect">
            <a:avLst/>
          </a:prstGeom>
          <a:noFill/>
          <a:ln/>
        </p:spPr>
        <p:txBody>
          <a:bodyPr wrap="square" lIns="0" tIns="0" rIns="0" bIns="0" rtlCol="0" anchor="ctr"/>
          <a:lstStyle/>
          <a:p>
            <a:pPr indent="0" marL="0">
              <a:buNone/>
            </a:pPr>
            <a:r>
              <a:rPr lang="en-US" sz="1875" dirty="0">
                <a:solidFill>
                  <a:srgbClr val="B9B3BB"/>
                </a:solidFill>
                <a:latin typeface="Poppins" pitchFamily="34" charset="0"/>
                <a:ea typeface="Poppins" pitchFamily="34" charset="-122"/>
                <a:cs typeface="Poppins" pitchFamily="34" charset="-120"/>
              </a:rPr>
              <a:t>Total $3,997  ·  RLU Pay™ total $4,147, no credit check</a:t>
            </a:r>
            <a:endParaRPr lang="en-US" sz="1875" dirty="0"/>
          </a:p>
        </p:txBody>
      </p:sp>
      <p:sp>
        <p:nvSpPr>
          <p:cNvPr id="7" name="Text 5"/>
          <p:cNvSpPr txBox="1"/>
          <p:nvPr/>
        </p:nvSpPr>
        <p:spPr>
          <a:xfrm>
            <a:off x="10533888" y="3246120"/>
            <a:ext cx="457200" cy="457200"/>
          </a:xfrm>
          <a:prstGeom prst="rect">
            <a:avLst/>
          </a:prstGeom>
          <a:noFill/>
          <a:ln/>
        </p:spPr>
        <p:txBody>
          <a:bodyPr wrap="square" lIns="0" tIns="0" rIns="0" bIns="0" rtlCol="0" anchor="ctr"/>
          <a:lstStyle/>
          <a:p>
            <a:pPr indent="0" marL="0">
              <a:buNone/>
            </a:pPr>
            <a:r>
              <a:rPr lang="en-US" sz="1900" dirty="0">
                <a:solidFill>
                  <a:srgbClr val="4EBB19"/>
                </a:solidFill>
                <a:latin typeface="Poppins Bold" pitchFamily="34" charset="0"/>
                <a:ea typeface="Poppins Bold" pitchFamily="34" charset="-122"/>
                <a:cs typeface="Poppins Bold" pitchFamily="34" charset="-120"/>
              </a:rPr>
              <a:t>✓</a:t>
            </a:r>
            <a:endParaRPr lang="en-US" sz="1900" dirty="0"/>
          </a:p>
        </p:txBody>
      </p:sp>
      <p:sp>
        <p:nvSpPr>
          <p:cNvPr id="8" name="Text 6"/>
          <p:cNvSpPr txBox="1"/>
          <p:nvPr/>
        </p:nvSpPr>
        <p:spPr>
          <a:xfrm>
            <a:off x="11082528" y="3246120"/>
            <a:ext cx="6071616"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Everything in Certified CEO, kit included</a:t>
            </a:r>
            <a:endParaRPr lang="en-US" sz="1875" dirty="0"/>
          </a:p>
        </p:txBody>
      </p:sp>
      <p:sp>
        <p:nvSpPr>
          <p:cNvPr id="9" name="Text 7"/>
          <p:cNvSpPr txBox="1"/>
          <p:nvPr/>
        </p:nvSpPr>
        <p:spPr>
          <a:xfrm>
            <a:off x="10533888" y="4014216"/>
            <a:ext cx="457200" cy="457200"/>
          </a:xfrm>
          <a:prstGeom prst="rect">
            <a:avLst/>
          </a:prstGeom>
          <a:noFill/>
          <a:ln/>
        </p:spPr>
        <p:txBody>
          <a:bodyPr wrap="square" lIns="0" tIns="0" rIns="0" bIns="0" rtlCol="0" anchor="ctr"/>
          <a:lstStyle/>
          <a:p>
            <a:pPr indent="0" marL="0">
              <a:buNone/>
            </a:pPr>
            <a:r>
              <a:rPr lang="en-US" sz="1900" dirty="0">
                <a:solidFill>
                  <a:srgbClr val="4EBB19"/>
                </a:solidFill>
                <a:latin typeface="Poppins Bold" pitchFamily="34" charset="0"/>
                <a:ea typeface="Poppins Bold" pitchFamily="34" charset="-122"/>
                <a:cs typeface="Poppins Bold" pitchFamily="34" charset="-120"/>
              </a:rPr>
              <a:t>✓</a:t>
            </a:r>
            <a:endParaRPr lang="en-US" sz="1900" dirty="0"/>
          </a:p>
        </p:txBody>
      </p:sp>
      <p:sp>
        <p:nvSpPr>
          <p:cNvPr id="10" name="Text 8"/>
          <p:cNvSpPr txBox="1"/>
          <p:nvPr/>
        </p:nvSpPr>
        <p:spPr>
          <a:xfrm>
            <a:off x="11082528" y="4014216"/>
            <a:ext cx="6071616"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Complete Professional Studio, shipped to your door</a:t>
            </a:r>
            <a:endParaRPr lang="en-US" sz="1875" dirty="0"/>
          </a:p>
        </p:txBody>
      </p:sp>
      <p:sp>
        <p:nvSpPr>
          <p:cNvPr id="11" name="Text 9"/>
          <p:cNvSpPr txBox="1"/>
          <p:nvPr/>
        </p:nvSpPr>
        <p:spPr>
          <a:xfrm>
            <a:off x="10533888" y="4782312"/>
            <a:ext cx="457200" cy="457200"/>
          </a:xfrm>
          <a:prstGeom prst="rect">
            <a:avLst/>
          </a:prstGeom>
          <a:noFill/>
          <a:ln/>
        </p:spPr>
        <p:txBody>
          <a:bodyPr wrap="square" lIns="0" tIns="0" rIns="0" bIns="0" rtlCol="0" anchor="ctr"/>
          <a:lstStyle/>
          <a:p>
            <a:pPr indent="0" marL="0">
              <a:buNone/>
            </a:pPr>
            <a:r>
              <a:rPr lang="en-US" sz="1900" dirty="0">
                <a:solidFill>
                  <a:srgbClr val="4EBB19"/>
                </a:solidFill>
                <a:latin typeface="Poppins Bold" pitchFamily="34" charset="0"/>
                <a:ea typeface="Poppins Bold" pitchFamily="34" charset="-122"/>
                <a:cs typeface="Poppins Bold" pitchFamily="34" charset="-120"/>
              </a:rPr>
              <a:t>✓</a:t>
            </a:r>
            <a:endParaRPr lang="en-US" sz="1900" dirty="0"/>
          </a:p>
        </p:txBody>
      </p:sp>
      <p:sp>
        <p:nvSpPr>
          <p:cNvPr id="12" name="Text 10"/>
          <p:cNvSpPr txBox="1"/>
          <p:nvPr/>
        </p:nvSpPr>
        <p:spPr>
          <a:xfrm>
            <a:off x="11082528" y="4782312"/>
            <a:ext cx="6071616"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Shadow Labs · live correction on your real hands</a:t>
            </a:r>
            <a:endParaRPr lang="en-US" sz="1875" dirty="0"/>
          </a:p>
        </p:txBody>
      </p:sp>
      <p:sp>
        <p:nvSpPr>
          <p:cNvPr id="13" name="Text 11"/>
          <p:cNvSpPr txBox="1"/>
          <p:nvPr/>
        </p:nvSpPr>
        <p:spPr>
          <a:xfrm>
            <a:off x="10533888" y="5550408"/>
            <a:ext cx="457200" cy="457200"/>
          </a:xfrm>
          <a:prstGeom prst="rect">
            <a:avLst/>
          </a:prstGeom>
          <a:noFill/>
          <a:ln/>
        </p:spPr>
        <p:txBody>
          <a:bodyPr wrap="square" lIns="0" tIns="0" rIns="0" bIns="0" rtlCol="0" anchor="ctr"/>
          <a:lstStyle/>
          <a:p>
            <a:pPr indent="0" marL="0">
              <a:buNone/>
            </a:pPr>
            <a:r>
              <a:rPr lang="en-US" sz="1900" dirty="0">
                <a:solidFill>
                  <a:srgbClr val="4EBB19"/>
                </a:solidFill>
                <a:latin typeface="Poppins Bold" pitchFamily="34" charset="0"/>
                <a:ea typeface="Poppins Bold" pitchFamily="34" charset="-122"/>
                <a:cs typeface="Poppins Bold" pitchFamily="34" charset="-120"/>
              </a:rPr>
              <a:t>✓</a:t>
            </a:r>
            <a:endParaRPr lang="en-US" sz="1900" dirty="0"/>
          </a:p>
        </p:txBody>
      </p:sp>
      <p:sp>
        <p:nvSpPr>
          <p:cNvPr id="14" name="Text 12"/>
          <p:cNvSpPr txBox="1"/>
          <p:nvPr/>
        </p:nvSpPr>
        <p:spPr>
          <a:xfrm>
            <a:off x="11082528" y="5550408"/>
            <a:ext cx="6071616"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Private 1:1 Strategy Sessions with Destyni</a:t>
            </a:r>
            <a:endParaRPr lang="en-US" sz="1875" dirty="0"/>
          </a:p>
        </p:txBody>
      </p:sp>
      <p:sp>
        <p:nvSpPr>
          <p:cNvPr id="15" name="Text 13"/>
          <p:cNvSpPr txBox="1"/>
          <p:nvPr/>
        </p:nvSpPr>
        <p:spPr>
          <a:xfrm>
            <a:off x="10533888" y="6318504"/>
            <a:ext cx="457200" cy="457200"/>
          </a:xfrm>
          <a:prstGeom prst="rect">
            <a:avLst/>
          </a:prstGeom>
          <a:noFill/>
          <a:ln/>
        </p:spPr>
        <p:txBody>
          <a:bodyPr wrap="square" lIns="0" tIns="0" rIns="0" bIns="0" rtlCol="0" anchor="ctr"/>
          <a:lstStyle/>
          <a:p>
            <a:pPr indent="0" marL="0">
              <a:buNone/>
            </a:pPr>
            <a:r>
              <a:rPr lang="en-US" sz="1900" dirty="0">
                <a:solidFill>
                  <a:srgbClr val="4EBB19"/>
                </a:solidFill>
                <a:latin typeface="Poppins Bold" pitchFamily="34" charset="0"/>
                <a:ea typeface="Poppins Bold" pitchFamily="34" charset="-122"/>
                <a:cs typeface="Poppins Bold" pitchFamily="34" charset="-120"/>
              </a:rPr>
              <a:t>✓</a:t>
            </a:r>
            <a:endParaRPr lang="en-US" sz="1900" dirty="0"/>
          </a:p>
        </p:txBody>
      </p:sp>
      <p:sp>
        <p:nvSpPr>
          <p:cNvPr id="16" name="Text 14"/>
          <p:cNvSpPr txBox="1"/>
          <p:nvPr/>
        </p:nvSpPr>
        <p:spPr>
          <a:xfrm>
            <a:off x="11082528" y="6318504"/>
            <a:ext cx="6071616"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Lash Cash Q4 included · a $997 program</a:t>
            </a:r>
            <a:endParaRPr lang="en-US" sz="1875" dirty="0"/>
          </a:p>
        </p:txBody>
      </p:sp>
      <p:sp>
        <p:nvSpPr>
          <p:cNvPr id="17" name="Text 15"/>
          <p:cNvSpPr txBox="1"/>
          <p:nvPr/>
        </p:nvSpPr>
        <p:spPr>
          <a:xfrm>
            <a:off x="10533888" y="7086600"/>
            <a:ext cx="457200" cy="457200"/>
          </a:xfrm>
          <a:prstGeom prst="rect">
            <a:avLst/>
          </a:prstGeom>
          <a:noFill/>
          <a:ln/>
        </p:spPr>
        <p:txBody>
          <a:bodyPr wrap="square" lIns="0" tIns="0" rIns="0" bIns="0" rtlCol="0" anchor="ctr"/>
          <a:lstStyle/>
          <a:p>
            <a:pPr indent="0" marL="0">
              <a:buNone/>
            </a:pPr>
            <a:r>
              <a:rPr lang="en-US" sz="1900" dirty="0">
                <a:solidFill>
                  <a:srgbClr val="4EBB19"/>
                </a:solidFill>
                <a:latin typeface="Poppins Bold" pitchFamily="34" charset="0"/>
                <a:ea typeface="Poppins Bold" pitchFamily="34" charset="-122"/>
                <a:cs typeface="Poppins Bold" pitchFamily="34" charset="-120"/>
              </a:rPr>
              <a:t>✓</a:t>
            </a:r>
            <a:endParaRPr lang="en-US" sz="1900" dirty="0"/>
          </a:p>
        </p:txBody>
      </p:sp>
      <p:sp>
        <p:nvSpPr>
          <p:cNvPr id="18" name="Text 16"/>
          <p:cNvSpPr txBox="1"/>
          <p:nvPr/>
        </p:nvSpPr>
        <p:spPr>
          <a:xfrm>
            <a:off x="11082528" y="7086600"/>
            <a:ext cx="6071616"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24 months of campus and curriculum access</a:t>
            </a:r>
            <a:endParaRPr lang="en-US" sz="1875" dirty="0"/>
          </a:p>
        </p:txBody>
      </p:sp>
      <p:sp>
        <p:nvSpPr>
          <p:cNvPr id="19" name="Shape 17"/>
          <p:cNvSpPr/>
          <p:nvPr/>
        </p:nvSpPr>
        <p:spPr>
          <a:xfrm>
            <a:off x="1481328" y="7818120"/>
            <a:ext cx="15672816" cy="10973"/>
          </a:xfrm>
          <a:prstGeom prst="rect">
            <a:avLst/>
          </a:prstGeom>
          <a:solidFill>
            <a:srgbClr val="262026"/>
          </a:solidFill>
          <a:ln/>
        </p:spPr>
      </p:sp>
      <p:sp>
        <p:nvSpPr>
          <p:cNvPr id="20" name="Text 18"/>
          <p:cNvSpPr txBox="1"/>
          <p:nvPr/>
        </p:nvSpPr>
        <p:spPr>
          <a:xfrm>
            <a:off x="1481328" y="8092440"/>
            <a:ext cx="15672816" cy="640080"/>
          </a:xfrm>
          <a:prstGeom prst="rect">
            <a:avLst/>
          </a:prstGeom>
          <a:noFill/>
          <a:ln/>
        </p:spPr>
        <p:txBody>
          <a:bodyPr wrap="square" lIns="0" tIns="0" rIns="0" bIns="0" rtlCol="0" anchor="ctr"/>
          <a:lstStyle/>
          <a:p>
            <a:pPr indent="0" marL="0">
              <a:buNone/>
            </a:pPr>
            <a:r>
              <a:rPr lang="en-US" sz="2100" i="1" dirty="0">
                <a:solidFill>
                  <a:srgbClr val="D4AF37"/>
                </a:solidFill>
                <a:latin typeface="Poppins Italics" pitchFamily="34" charset="0"/>
                <a:ea typeface="Poppins Italics" pitchFamily="34" charset="-122"/>
                <a:cs typeface="Poppins Italics" pitchFamily="34" charset="-120"/>
              </a:rPr>
              <a:t>You do not start experimenting. You start equipped.</a:t>
            </a:r>
            <a:endParaRPr lang="en-US" sz="2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RLU PAY™</a:t>
            </a:r>
            <a:endParaRPr lang="en-US" sz="1500" dirty="0"/>
          </a:p>
        </p:txBody>
      </p:sp>
      <p:sp>
        <p:nvSpPr>
          <p:cNvPr id="3" name="Text 1"/>
          <p:cNvSpPr txBox="1"/>
          <p:nvPr/>
        </p:nvSpPr>
        <p:spPr>
          <a:xfrm>
            <a:off x="1481328" y="1143000"/>
            <a:ext cx="15672816" cy="1828800"/>
          </a:xfrm>
          <a:prstGeom prst="rect">
            <a:avLst/>
          </a:prstGeom>
          <a:noFill/>
          <a:ln/>
        </p:spPr>
        <p:txBody>
          <a:bodyPr wrap="square" lIns="0" tIns="0" rIns="0" bIns="0" rtlCol="0" anchor="t"/>
          <a:lstStyle/>
          <a:p>
            <a:pPr indent="0" marL="0">
              <a:lnSpc>
                <a:spcPts val="5310"/>
              </a:lnSpc>
              <a:buNone/>
            </a:pPr>
            <a:r>
              <a:rPr lang="en-US" sz="4500" dirty="0">
                <a:solidFill>
                  <a:srgbClr val="FFFFFF"/>
                </a:solidFill>
                <a:latin typeface="Poppins Bold" pitchFamily="34" charset="0"/>
                <a:ea typeface="Poppins Bold" pitchFamily="34" charset="-122"/>
                <a:cs typeface="Poppins Bold" pitchFamily="34" charset="-120"/>
              </a:rPr>
              <a:t>Pick your tier. Pick your pace.</a:t>
            </a:r>
            <a:endParaRPr lang="en-US" sz="4500" dirty="0"/>
          </a:p>
        </p:txBody>
      </p:sp>
      <p:sp>
        <p:nvSpPr>
          <p:cNvPr id="4" name="Shape 2"/>
          <p:cNvSpPr/>
          <p:nvPr/>
        </p:nvSpPr>
        <p:spPr>
          <a:xfrm>
            <a:off x="1481328" y="3520440"/>
            <a:ext cx="7379208" cy="3977640"/>
          </a:xfrm>
          <a:prstGeom prst="roundRect">
            <a:avLst>
              <a:gd name="adj" fmla="val 3218"/>
            </a:avLst>
          </a:prstGeom>
          <a:solidFill>
            <a:srgbClr val="121013"/>
          </a:solidFill>
          <a:ln w="12700">
            <a:solidFill>
              <a:srgbClr val="262026"/>
            </a:solidFill>
            <a:prstDash val="solid"/>
          </a:ln>
        </p:spPr>
      </p:sp>
      <p:sp>
        <p:nvSpPr>
          <p:cNvPr id="5" name="Text 3"/>
          <p:cNvSpPr txBox="1"/>
          <p:nvPr/>
        </p:nvSpPr>
        <p:spPr>
          <a:xfrm>
            <a:off x="2029968" y="3840480"/>
            <a:ext cx="6281928" cy="411480"/>
          </a:xfrm>
          <a:prstGeom prst="rect">
            <a:avLst/>
          </a:prstGeom>
          <a:noFill/>
          <a:ln/>
        </p:spPr>
        <p:txBody>
          <a:bodyPr wrap="square" lIns="0" tIns="0" rIns="0" bIns="0" rtlCol="0" anchor="ctr"/>
          <a:lstStyle/>
          <a:p>
            <a:pPr indent="0" marL="0">
              <a:buNone/>
            </a:pPr>
            <a:r>
              <a:rPr lang="en-US" sz="1500" spc="400" kern="0" dirty="0">
                <a:solidFill>
                  <a:srgbClr val="D4AF37"/>
                </a:solidFill>
                <a:latin typeface="Poppins Bold" pitchFamily="34" charset="0"/>
                <a:ea typeface="Poppins Bold" pitchFamily="34" charset="-122"/>
                <a:cs typeface="Poppins Bold" pitchFamily="34" charset="-120"/>
              </a:rPr>
              <a:t>CERTIFIED CEO</a:t>
            </a:r>
            <a:endParaRPr lang="en-US" sz="1500" dirty="0"/>
          </a:p>
        </p:txBody>
      </p:sp>
      <p:sp>
        <p:nvSpPr>
          <p:cNvPr id="6" name="Text 4"/>
          <p:cNvSpPr txBox="1"/>
          <p:nvPr/>
        </p:nvSpPr>
        <p:spPr>
          <a:xfrm>
            <a:off x="2029968" y="4297680"/>
            <a:ext cx="6281928" cy="960120"/>
          </a:xfrm>
          <a:prstGeom prst="rect">
            <a:avLst/>
          </a:prstGeom>
          <a:noFill/>
          <a:ln/>
        </p:spPr>
        <p:txBody>
          <a:bodyPr wrap="square" lIns="0" tIns="0" rIns="0" bIns="0" rtlCol="0" anchor="ctr"/>
          <a:lstStyle/>
          <a:p>
            <a:pPr indent="0" marL="0">
              <a:buNone/>
            </a:pPr>
            <a:r>
              <a:rPr lang="en-US" sz="5200" dirty="0">
                <a:solidFill>
                  <a:srgbClr val="FFFFFF"/>
                </a:solidFill>
                <a:latin typeface="Poppins Bold" pitchFamily="34" charset="0"/>
                <a:ea typeface="Poppins Bold" pitchFamily="34" charset="-122"/>
                <a:cs typeface="Poppins Bold" pitchFamily="34" charset="-120"/>
              </a:rPr>
              <a:t>$750</a:t>
            </a:r>
            <a:endParaRPr lang="en-US" sz="5200" dirty="0"/>
          </a:p>
        </p:txBody>
      </p:sp>
      <p:sp>
        <p:nvSpPr>
          <p:cNvPr id="7" name="Text 5"/>
          <p:cNvSpPr txBox="1"/>
          <p:nvPr/>
        </p:nvSpPr>
        <p:spPr>
          <a:xfrm>
            <a:off x="2029968" y="5285232"/>
            <a:ext cx="6281928" cy="36576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deposit tonight</a:t>
            </a:r>
            <a:endParaRPr lang="en-US" sz="1725" dirty="0"/>
          </a:p>
        </p:txBody>
      </p:sp>
      <p:sp>
        <p:nvSpPr>
          <p:cNvPr id="8" name="Text 6"/>
          <p:cNvSpPr txBox="1"/>
          <p:nvPr/>
        </p:nvSpPr>
        <p:spPr>
          <a:xfrm>
            <a:off x="2029968" y="5806440"/>
            <a:ext cx="6281928"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Weekly · $400 × 3, then $399 × 3</a:t>
            </a:r>
            <a:endParaRPr lang="en-US" sz="1875" dirty="0"/>
          </a:p>
        </p:txBody>
      </p:sp>
      <p:sp>
        <p:nvSpPr>
          <p:cNvPr id="9" name="Text 7"/>
          <p:cNvSpPr txBox="1"/>
          <p:nvPr/>
        </p:nvSpPr>
        <p:spPr>
          <a:xfrm>
            <a:off x="2029968" y="6318504"/>
            <a:ext cx="6281928"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Biweekly · 3 payments of $799</a:t>
            </a:r>
            <a:endParaRPr lang="en-US" sz="1875" dirty="0"/>
          </a:p>
        </p:txBody>
      </p:sp>
      <p:sp>
        <p:nvSpPr>
          <p:cNvPr id="10" name="Text 8"/>
          <p:cNvSpPr txBox="1"/>
          <p:nvPr/>
        </p:nvSpPr>
        <p:spPr>
          <a:xfrm>
            <a:off x="2029968" y="6830568"/>
            <a:ext cx="6281928"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Two payments · $1,198.50 each</a:t>
            </a:r>
            <a:endParaRPr lang="en-US" sz="1875" dirty="0"/>
          </a:p>
        </p:txBody>
      </p:sp>
      <p:sp>
        <p:nvSpPr>
          <p:cNvPr id="11" name="Shape 9"/>
          <p:cNvSpPr/>
          <p:nvPr/>
        </p:nvSpPr>
        <p:spPr>
          <a:xfrm>
            <a:off x="9409176" y="3520440"/>
            <a:ext cx="7379208" cy="3977640"/>
          </a:xfrm>
          <a:prstGeom prst="roundRect">
            <a:avLst>
              <a:gd name="adj" fmla="val 3218"/>
            </a:avLst>
          </a:prstGeom>
          <a:solidFill>
            <a:srgbClr val="121013"/>
          </a:solidFill>
          <a:ln w="19050">
            <a:solidFill>
              <a:srgbClr val="F600A2"/>
            </a:solidFill>
            <a:prstDash val="solid"/>
          </a:ln>
        </p:spPr>
      </p:sp>
      <p:sp>
        <p:nvSpPr>
          <p:cNvPr id="12" name="Text 10"/>
          <p:cNvSpPr txBox="1"/>
          <p:nvPr/>
        </p:nvSpPr>
        <p:spPr>
          <a:xfrm>
            <a:off x="9957816" y="3840480"/>
            <a:ext cx="6281928" cy="411480"/>
          </a:xfrm>
          <a:prstGeom prst="rect">
            <a:avLst/>
          </a:prstGeom>
          <a:noFill/>
          <a:ln/>
        </p:spPr>
        <p:txBody>
          <a:bodyPr wrap="square" lIns="0" tIns="0" rIns="0" bIns="0" rtlCol="0" anchor="ctr"/>
          <a:lstStyle/>
          <a:p>
            <a:pPr indent="0" marL="0">
              <a:buNone/>
            </a:pPr>
            <a:r>
              <a:rPr lang="en-US" sz="1500" spc="400" kern="0" dirty="0">
                <a:solidFill>
                  <a:srgbClr val="F600A2"/>
                </a:solidFill>
                <a:latin typeface="Poppins Bold" pitchFamily="34" charset="0"/>
                <a:ea typeface="Poppins Bold" pitchFamily="34" charset="-122"/>
                <a:cs typeface="Poppins Bold" pitchFamily="34" charset="-120"/>
              </a:rPr>
              <a:t>EQUIPPED CEO · MOST CHOSEN</a:t>
            </a:r>
            <a:endParaRPr lang="en-US" sz="1500" dirty="0"/>
          </a:p>
        </p:txBody>
      </p:sp>
      <p:sp>
        <p:nvSpPr>
          <p:cNvPr id="13" name="Text 11"/>
          <p:cNvSpPr txBox="1"/>
          <p:nvPr/>
        </p:nvSpPr>
        <p:spPr>
          <a:xfrm>
            <a:off x="9957816" y="4297680"/>
            <a:ext cx="6281928" cy="960120"/>
          </a:xfrm>
          <a:prstGeom prst="rect">
            <a:avLst/>
          </a:prstGeom>
          <a:noFill/>
          <a:ln/>
        </p:spPr>
        <p:txBody>
          <a:bodyPr wrap="square" lIns="0" tIns="0" rIns="0" bIns="0" rtlCol="0" anchor="ctr"/>
          <a:lstStyle/>
          <a:p>
            <a:pPr indent="0" marL="0">
              <a:buNone/>
            </a:pPr>
            <a:r>
              <a:rPr lang="en-US" sz="5200" dirty="0">
                <a:solidFill>
                  <a:srgbClr val="FFFFFF"/>
                </a:solidFill>
                <a:latin typeface="Poppins Bold" pitchFamily="34" charset="0"/>
                <a:ea typeface="Poppins Bold" pitchFamily="34" charset="-122"/>
                <a:cs typeface="Poppins Bold" pitchFamily="34" charset="-120"/>
              </a:rPr>
              <a:t>$1,200</a:t>
            </a:r>
            <a:endParaRPr lang="en-US" sz="5200" dirty="0"/>
          </a:p>
        </p:txBody>
      </p:sp>
      <p:sp>
        <p:nvSpPr>
          <p:cNvPr id="14" name="Text 12"/>
          <p:cNvSpPr txBox="1"/>
          <p:nvPr/>
        </p:nvSpPr>
        <p:spPr>
          <a:xfrm>
            <a:off x="9957816" y="5285232"/>
            <a:ext cx="6281928" cy="36576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deposit tonight</a:t>
            </a:r>
            <a:endParaRPr lang="en-US" sz="1725" dirty="0"/>
          </a:p>
        </p:txBody>
      </p:sp>
      <p:sp>
        <p:nvSpPr>
          <p:cNvPr id="15" name="Text 13"/>
          <p:cNvSpPr txBox="1"/>
          <p:nvPr/>
        </p:nvSpPr>
        <p:spPr>
          <a:xfrm>
            <a:off x="9957816" y="5806440"/>
            <a:ext cx="6281928"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Weekly · $491 × 6</a:t>
            </a:r>
            <a:endParaRPr lang="en-US" sz="1875" dirty="0"/>
          </a:p>
        </p:txBody>
      </p:sp>
      <p:sp>
        <p:nvSpPr>
          <p:cNvPr id="16" name="Text 14"/>
          <p:cNvSpPr txBox="1"/>
          <p:nvPr/>
        </p:nvSpPr>
        <p:spPr>
          <a:xfrm>
            <a:off x="9957816" y="6318504"/>
            <a:ext cx="6281928"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Biweekly · 3 payments of $982.33</a:t>
            </a:r>
            <a:endParaRPr lang="en-US" sz="1875" dirty="0"/>
          </a:p>
        </p:txBody>
      </p:sp>
      <p:sp>
        <p:nvSpPr>
          <p:cNvPr id="17" name="Text 15"/>
          <p:cNvSpPr txBox="1"/>
          <p:nvPr/>
        </p:nvSpPr>
        <p:spPr>
          <a:xfrm>
            <a:off x="9957816" y="6830568"/>
            <a:ext cx="6281928" cy="457200"/>
          </a:xfrm>
          <a:prstGeom prst="rect">
            <a:avLst/>
          </a:prstGeom>
          <a:noFill/>
          <a:ln/>
        </p:spPr>
        <p:txBody>
          <a:bodyPr wrap="square" lIns="0" tIns="0" rIns="0" bIns="0" rtlCol="0" anchor="ctr"/>
          <a:lstStyle/>
          <a:p>
            <a:pPr indent="0" marL="0">
              <a:buNone/>
            </a:pPr>
            <a:r>
              <a:rPr lang="en-US" sz="1875" dirty="0">
                <a:solidFill>
                  <a:srgbClr val="FFFFFF"/>
                </a:solidFill>
                <a:latin typeface="Poppins" pitchFamily="34" charset="0"/>
                <a:ea typeface="Poppins" pitchFamily="34" charset="-122"/>
                <a:cs typeface="Poppins" pitchFamily="34" charset="-120"/>
              </a:rPr>
              <a:t>Two payments · $1,473.50 each</a:t>
            </a:r>
            <a:endParaRPr lang="en-US" sz="1875" dirty="0"/>
          </a:p>
        </p:txBody>
      </p:sp>
      <p:sp>
        <p:nvSpPr>
          <p:cNvPr id="18" name="Text 16"/>
          <p:cNvSpPr txBox="1"/>
          <p:nvPr/>
        </p:nvSpPr>
        <p:spPr>
          <a:xfrm>
            <a:off x="1481328" y="8001000"/>
            <a:ext cx="15672816" cy="640080"/>
          </a:xfrm>
          <a:prstGeom prst="rect">
            <a:avLst/>
          </a:prstGeom>
          <a:noFill/>
          <a:ln/>
        </p:spPr>
        <p:txBody>
          <a:bodyPr wrap="square" lIns="0" tIns="0" rIns="0" bIns="0" rtlCol="0" anchor="ctr"/>
          <a:lstStyle/>
          <a:p>
            <a:pPr indent="0" marL="0">
              <a:buNone/>
            </a:pPr>
            <a:r>
              <a:rPr lang="en-US" sz="1950" dirty="0">
                <a:solidFill>
                  <a:srgbClr val="B9B3BB"/>
                </a:solidFill>
                <a:latin typeface="Poppins" pitchFamily="34" charset="0"/>
                <a:ea typeface="Poppins" pitchFamily="34" charset="-122"/>
                <a:cs typeface="Poppins" pitchFamily="34" charset="-120"/>
              </a:rPr>
              <a:t>No credit check  ·  No lender  ·  No interest.  Or pay in full with Shop Pay, Affirm or Sezzle.</a:t>
            </a:r>
            <a:endParaRPr lang="en-US" sz="1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THE RICH LASH® PERFORMANCE GUARANTEE</a:t>
            </a:r>
            <a:endParaRPr lang="en-US" sz="1500" dirty="0"/>
          </a:p>
        </p:txBody>
      </p:sp>
      <p:sp>
        <p:nvSpPr>
          <p:cNvPr id="3" name="Text 1"/>
          <p:cNvSpPr txBox="1"/>
          <p:nvPr/>
        </p:nvSpPr>
        <p:spPr>
          <a:xfrm>
            <a:off x="1481328" y="1691640"/>
            <a:ext cx="15672816" cy="1828800"/>
          </a:xfrm>
          <a:prstGeom prst="rect">
            <a:avLst/>
          </a:prstGeom>
          <a:noFill/>
          <a:ln/>
        </p:spPr>
        <p:txBody>
          <a:bodyPr wrap="square" lIns="0" tIns="0" rIns="0" bIns="0" rtlCol="0" anchor="t"/>
          <a:lstStyle/>
          <a:p>
            <a:pPr indent="0" marL="0">
              <a:lnSpc>
                <a:spcPts val="5428"/>
              </a:lnSpc>
              <a:buNone/>
            </a:pPr>
            <a:r>
              <a:rPr lang="en-US" sz="4600" dirty="0">
                <a:solidFill>
                  <a:srgbClr val="FFFFFF"/>
                </a:solidFill>
                <a:latin typeface="Poppins Bold" pitchFamily="34" charset="0"/>
                <a:ea typeface="Poppins Bold" pitchFamily="34" charset="-122"/>
                <a:cs typeface="Poppins Bold" pitchFamily="34" charset="-120"/>
              </a:rPr>
              <a:t>The real fear is betting on</a:t>
            </a:r>
            <a:endParaRPr lang="en-US" sz="4600" dirty="0"/>
          </a:p>
          <a:p>
            <a:pPr indent="0" marL="0">
              <a:lnSpc>
                <a:spcPts val="5428"/>
              </a:lnSpc>
              <a:buNone/>
            </a:pPr>
            <a:r>
              <a:rPr lang="en-US" sz="4600" dirty="0">
                <a:solidFill>
                  <a:srgbClr val="FFFFFF"/>
                </a:solidFill>
                <a:latin typeface="Poppins Bold" pitchFamily="34" charset="0"/>
                <a:ea typeface="Poppins Bold" pitchFamily="34" charset="-122"/>
                <a:cs typeface="Poppins Bold" pitchFamily="34" charset="-120"/>
              </a:rPr>
              <a:t>yourself and </a:t>
            </a:r>
            <a:endParaRPr lang="en-US" sz="4600" dirty="0"/>
          </a:p>
          <a:p>
            <a:pPr indent="0" marL="0">
              <a:lnSpc>
                <a:spcPts val="5428"/>
              </a:lnSpc>
              <a:buNone/>
            </a:pPr>
            <a:r>
              <a:rPr lang="en-US" sz="4600" i="1" dirty="0">
                <a:solidFill>
                  <a:srgbClr val="F600A2"/>
                </a:solidFill>
                <a:latin typeface="Poppins Italics" pitchFamily="34" charset="0"/>
                <a:ea typeface="Poppins Italics" pitchFamily="34" charset="-122"/>
                <a:cs typeface="Poppins Italics" pitchFamily="34" charset="-120"/>
              </a:rPr>
              <a:t>it not working.</a:t>
            </a:r>
            <a:endParaRPr lang="en-US" sz="4600" dirty="0"/>
          </a:p>
        </p:txBody>
      </p:sp>
      <p:sp>
        <p:nvSpPr>
          <p:cNvPr id="4" name="Text 2"/>
          <p:cNvSpPr txBox="1"/>
          <p:nvPr/>
        </p:nvSpPr>
        <p:spPr>
          <a:xfrm>
            <a:off x="1481328" y="461772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01</a:t>
            </a:r>
            <a:endParaRPr lang="en-US" sz="1500" dirty="0"/>
          </a:p>
        </p:txBody>
      </p:sp>
      <p:sp>
        <p:nvSpPr>
          <p:cNvPr id="5" name="Text 3"/>
          <p:cNvSpPr txBox="1"/>
          <p:nvPr/>
        </p:nvSpPr>
        <p:spPr>
          <a:xfrm>
            <a:off x="2395728" y="461772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Complete the curriculum</a:t>
            </a:r>
            <a:endParaRPr lang="en-US" sz="1950" dirty="0"/>
          </a:p>
        </p:txBody>
      </p:sp>
      <p:sp>
        <p:nvSpPr>
          <p:cNvPr id="6" name="Text 4"/>
          <p:cNvSpPr txBox="1"/>
          <p:nvPr/>
        </p:nvSpPr>
        <p:spPr>
          <a:xfrm>
            <a:off x="2395728" y="509320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Do the six weeks</a:t>
            </a:r>
            <a:endParaRPr lang="en-US" sz="1725" dirty="0"/>
          </a:p>
        </p:txBody>
      </p:sp>
      <p:sp>
        <p:nvSpPr>
          <p:cNvPr id="7" name="Text 5"/>
          <p:cNvSpPr txBox="1"/>
          <p:nvPr/>
        </p:nvSpPr>
        <p:spPr>
          <a:xfrm>
            <a:off x="1481328" y="580644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02</a:t>
            </a:r>
            <a:endParaRPr lang="en-US" sz="1500" dirty="0"/>
          </a:p>
        </p:txBody>
      </p:sp>
      <p:sp>
        <p:nvSpPr>
          <p:cNvPr id="8" name="Text 6"/>
          <p:cNvSpPr txBox="1"/>
          <p:nvPr/>
        </p:nvSpPr>
        <p:spPr>
          <a:xfrm>
            <a:off x="2395728" y="580644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Show up to your live sessions</a:t>
            </a:r>
            <a:endParaRPr lang="en-US" sz="1950" dirty="0"/>
          </a:p>
        </p:txBody>
      </p:sp>
      <p:sp>
        <p:nvSpPr>
          <p:cNvPr id="9" name="Text 7"/>
          <p:cNvSpPr txBox="1"/>
          <p:nvPr/>
        </p:nvSpPr>
        <p:spPr>
          <a:xfrm>
            <a:off x="2395728" y="628192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Be in the room</a:t>
            </a:r>
            <a:endParaRPr lang="en-US" sz="1725" dirty="0"/>
          </a:p>
        </p:txBody>
      </p:sp>
      <p:sp>
        <p:nvSpPr>
          <p:cNvPr id="10" name="Text 8"/>
          <p:cNvSpPr txBox="1"/>
          <p:nvPr/>
        </p:nvSpPr>
        <p:spPr>
          <a:xfrm>
            <a:off x="1481328" y="699516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03</a:t>
            </a:r>
            <a:endParaRPr lang="en-US" sz="1500" dirty="0"/>
          </a:p>
        </p:txBody>
      </p:sp>
      <p:sp>
        <p:nvSpPr>
          <p:cNvPr id="11" name="Text 9"/>
          <p:cNvSpPr txBox="1"/>
          <p:nvPr/>
        </p:nvSpPr>
        <p:spPr>
          <a:xfrm>
            <a:off x="2395728" y="699516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Run the client strategy we give you</a:t>
            </a:r>
            <a:endParaRPr lang="en-US" sz="1950" dirty="0"/>
          </a:p>
        </p:txBody>
      </p:sp>
      <p:sp>
        <p:nvSpPr>
          <p:cNvPr id="12" name="Text 10"/>
          <p:cNvSpPr txBox="1"/>
          <p:nvPr/>
        </p:nvSpPr>
        <p:spPr>
          <a:xfrm>
            <a:off x="2395728" y="747064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Use what we hand you</a:t>
            </a:r>
            <a:endParaRPr lang="en-US" sz="1725" dirty="0"/>
          </a:p>
        </p:txBody>
      </p:sp>
      <p:sp>
        <p:nvSpPr>
          <p:cNvPr id="13" name="Shape 11"/>
          <p:cNvSpPr/>
          <p:nvPr/>
        </p:nvSpPr>
        <p:spPr>
          <a:xfrm>
            <a:off x="1481328" y="7909560"/>
            <a:ext cx="15672816" cy="10973"/>
          </a:xfrm>
          <a:prstGeom prst="rect">
            <a:avLst/>
          </a:prstGeom>
          <a:solidFill>
            <a:srgbClr val="262026"/>
          </a:solidFill>
          <a:ln/>
        </p:spPr>
      </p:sp>
      <p:sp>
        <p:nvSpPr>
          <p:cNvPr id="14" name="Text 12"/>
          <p:cNvSpPr txBox="1"/>
          <p:nvPr/>
        </p:nvSpPr>
        <p:spPr>
          <a:xfrm>
            <a:off x="1481328" y="8183880"/>
            <a:ext cx="15672816" cy="640080"/>
          </a:xfrm>
          <a:prstGeom prst="rect">
            <a:avLst/>
          </a:prstGeom>
          <a:noFill/>
          <a:ln/>
        </p:spPr>
        <p:txBody>
          <a:bodyPr wrap="square" lIns="0" tIns="0" rIns="0" bIns="0" rtlCol="0" anchor="ctr"/>
          <a:lstStyle/>
          <a:p>
            <a:pPr indent="0" marL="0">
              <a:buNone/>
            </a:pPr>
            <a:r>
              <a:rPr lang="en-US" sz="2000" dirty="0">
                <a:solidFill>
                  <a:srgbClr val="D4AF37"/>
                </a:solidFill>
                <a:latin typeface="Poppins Bold" pitchFamily="34" charset="0"/>
                <a:ea typeface="Poppins Bold" pitchFamily="34" charset="-122"/>
                <a:cs typeface="Poppins Bold" pitchFamily="34" charset="-120"/>
              </a:rPr>
              <a:t>Still no first paying client after that? We keep working with you until you land her.</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REAL TALK  ·  I KNOW WHAT IS IN YOUR HEAD</a:t>
            </a:r>
            <a:endParaRPr lang="en-US" sz="1500" dirty="0"/>
          </a:p>
        </p:txBody>
      </p:sp>
      <p:sp>
        <p:nvSpPr>
          <p:cNvPr id="3" name="Text 1"/>
          <p:cNvSpPr txBox="1"/>
          <p:nvPr/>
        </p:nvSpPr>
        <p:spPr>
          <a:xfrm>
            <a:off x="1481328" y="1143000"/>
            <a:ext cx="15672816" cy="1828800"/>
          </a:xfrm>
          <a:prstGeom prst="rect">
            <a:avLst/>
          </a:prstGeom>
          <a:noFill/>
          <a:ln/>
        </p:spPr>
        <p:txBody>
          <a:bodyPr wrap="square" lIns="0" tIns="0" rIns="0" bIns="0" rtlCol="0" anchor="t"/>
          <a:lstStyle/>
          <a:p>
            <a:pPr indent="0" marL="0">
              <a:lnSpc>
                <a:spcPts val="4956"/>
              </a:lnSpc>
              <a:buNone/>
            </a:pPr>
            <a:r>
              <a:rPr lang="en-US" sz="4200" dirty="0">
                <a:solidFill>
                  <a:srgbClr val="FFFFFF"/>
                </a:solidFill>
                <a:latin typeface="Poppins Bold" pitchFamily="34" charset="0"/>
                <a:ea typeface="Poppins Bold" pitchFamily="34" charset="-122"/>
                <a:cs typeface="Poppins Bold" pitchFamily="34" charset="-120"/>
              </a:rPr>
              <a:t>Let me answer it before you close the tab.</a:t>
            </a:r>
            <a:endParaRPr lang="en-US" sz="4200" dirty="0"/>
          </a:p>
        </p:txBody>
      </p:sp>
      <p:sp>
        <p:nvSpPr>
          <p:cNvPr id="4" name="Text 2"/>
          <p:cNvSpPr txBox="1"/>
          <p:nvPr/>
        </p:nvSpPr>
        <p:spPr>
          <a:xfrm>
            <a:off x="1481328" y="3611880"/>
            <a:ext cx="15672816" cy="548640"/>
          </a:xfrm>
          <a:prstGeom prst="rect">
            <a:avLst/>
          </a:prstGeom>
          <a:noFill/>
          <a:ln/>
        </p:spPr>
        <p:txBody>
          <a:bodyPr wrap="square" lIns="0" tIns="0" rIns="0" bIns="0" rtlCol="0" anchor="ctr"/>
          <a:lstStyle/>
          <a:p>
            <a:pPr indent="0" marL="0">
              <a:buNone/>
            </a:pPr>
            <a:r>
              <a:rPr lang="en-US" sz="2300" i="1" dirty="0">
                <a:solidFill>
                  <a:srgbClr val="FFFFFF"/>
                </a:solidFill>
                <a:latin typeface="Poppins Italics" pitchFamily="34" charset="0"/>
                <a:ea typeface="Poppins Italics" pitchFamily="34" charset="-122"/>
                <a:cs typeface="Poppins Italics" pitchFamily="34" charset="-120"/>
              </a:rPr>
              <a:t>“It is virtual. Will I really learn?”</a:t>
            </a:r>
            <a:endParaRPr lang="en-US" sz="2300" dirty="0"/>
          </a:p>
        </p:txBody>
      </p:sp>
      <p:sp>
        <p:nvSpPr>
          <p:cNvPr id="5" name="Text 3"/>
          <p:cNvSpPr txBox="1"/>
          <p:nvPr/>
        </p:nvSpPr>
        <p:spPr>
          <a:xfrm>
            <a:off x="1481328" y="4178808"/>
            <a:ext cx="13478622" cy="914400"/>
          </a:xfrm>
          <a:prstGeom prst="rect">
            <a:avLst/>
          </a:prstGeom>
          <a:noFill/>
          <a:ln/>
        </p:spPr>
        <p:txBody>
          <a:bodyPr wrap="square" lIns="0" tIns="0" rIns="0" bIns="0" rtlCol="0" anchor="ctr"/>
          <a:lstStyle/>
          <a:p>
            <a:pPr indent="0" marL="0">
              <a:lnSpc>
                <a:spcPts val="3000"/>
              </a:lnSpc>
              <a:buNone/>
            </a:pPr>
            <a:r>
              <a:rPr lang="en-US" sz="1875" dirty="0">
                <a:solidFill>
                  <a:srgbClr val="B9B3BB"/>
                </a:solidFill>
                <a:latin typeface="Poppins" pitchFamily="34" charset="0"/>
                <a:ea typeface="Poppins" pitchFamily="34" charset="-122"/>
                <a:cs typeface="Poppins" pitchFamily="34" charset="-120"/>
              </a:rPr>
              <a:t>More live coaching than any one-day class. Every session recorded. Your real work corrected by an RN, on camera.</a:t>
            </a:r>
            <a:endParaRPr lang="en-US" sz="1875" dirty="0"/>
          </a:p>
        </p:txBody>
      </p:sp>
      <p:sp>
        <p:nvSpPr>
          <p:cNvPr id="6" name="Text 4"/>
          <p:cNvSpPr txBox="1"/>
          <p:nvPr/>
        </p:nvSpPr>
        <p:spPr>
          <a:xfrm>
            <a:off x="1481328" y="5367528"/>
            <a:ext cx="15672816" cy="548640"/>
          </a:xfrm>
          <a:prstGeom prst="rect">
            <a:avLst/>
          </a:prstGeom>
          <a:noFill/>
          <a:ln/>
        </p:spPr>
        <p:txBody>
          <a:bodyPr wrap="square" lIns="0" tIns="0" rIns="0" bIns="0" rtlCol="0" anchor="ctr"/>
          <a:lstStyle/>
          <a:p>
            <a:pPr indent="0" marL="0">
              <a:buNone/>
            </a:pPr>
            <a:r>
              <a:rPr lang="en-US" sz="2300" i="1" dirty="0">
                <a:solidFill>
                  <a:srgbClr val="FFFFFF"/>
                </a:solidFill>
                <a:latin typeface="Poppins Italics" pitchFamily="34" charset="0"/>
                <a:ea typeface="Poppins Italics" pitchFamily="34" charset="-122"/>
                <a:cs typeface="Poppins Italics" pitchFamily="34" charset="-120"/>
              </a:rPr>
              <a:t>“It is still a real investment.”</a:t>
            </a:r>
            <a:endParaRPr lang="en-US" sz="2300" dirty="0"/>
          </a:p>
        </p:txBody>
      </p:sp>
      <p:sp>
        <p:nvSpPr>
          <p:cNvPr id="7" name="Text 5"/>
          <p:cNvSpPr txBox="1"/>
          <p:nvPr/>
        </p:nvSpPr>
        <p:spPr>
          <a:xfrm>
            <a:off x="1481328" y="5934456"/>
            <a:ext cx="13478622" cy="914400"/>
          </a:xfrm>
          <a:prstGeom prst="rect">
            <a:avLst/>
          </a:prstGeom>
          <a:noFill/>
          <a:ln/>
        </p:spPr>
        <p:txBody>
          <a:bodyPr wrap="square" lIns="0" tIns="0" rIns="0" bIns="0" rtlCol="0" anchor="ctr"/>
          <a:lstStyle/>
          <a:p>
            <a:pPr indent="0" marL="0">
              <a:lnSpc>
                <a:spcPts val="3000"/>
              </a:lnSpc>
              <a:buNone/>
            </a:pPr>
            <a:r>
              <a:rPr lang="en-US" sz="1875" dirty="0">
                <a:solidFill>
                  <a:srgbClr val="B9B3BB"/>
                </a:solidFill>
                <a:latin typeface="Poppins" pitchFamily="34" charset="0"/>
                <a:ea typeface="Poppins" pitchFamily="34" charset="-122"/>
                <a:cs typeface="Poppins" pitchFamily="34" charset="-120"/>
              </a:rPr>
              <a:t>A certification, six weeks of coaching, the kit, the AI library, and a guarantee. If full pay is a stretch, that is what the deposit is for.</a:t>
            </a:r>
            <a:endParaRPr lang="en-US" sz="1875" dirty="0"/>
          </a:p>
        </p:txBody>
      </p:sp>
      <p:sp>
        <p:nvSpPr>
          <p:cNvPr id="8" name="Text 6"/>
          <p:cNvSpPr txBox="1"/>
          <p:nvPr/>
        </p:nvSpPr>
        <p:spPr>
          <a:xfrm>
            <a:off x="1481328" y="7123176"/>
            <a:ext cx="15672816" cy="548640"/>
          </a:xfrm>
          <a:prstGeom prst="rect">
            <a:avLst/>
          </a:prstGeom>
          <a:noFill/>
          <a:ln/>
        </p:spPr>
        <p:txBody>
          <a:bodyPr wrap="square" lIns="0" tIns="0" rIns="0" bIns="0" rtlCol="0" anchor="ctr"/>
          <a:lstStyle/>
          <a:p>
            <a:pPr indent="0" marL="0">
              <a:buNone/>
            </a:pPr>
            <a:r>
              <a:rPr lang="en-US" sz="2300" i="1" dirty="0">
                <a:solidFill>
                  <a:srgbClr val="FFFFFF"/>
                </a:solidFill>
                <a:latin typeface="Poppins Italics" pitchFamily="34" charset="0"/>
                <a:ea typeface="Poppins Italics" pitchFamily="34" charset="-122"/>
                <a:cs typeface="Poppins Italics" pitchFamily="34" charset="-120"/>
              </a:rPr>
              <a:t>“I could find something cheaper.”</a:t>
            </a:r>
            <a:endParaRPr lang="en-US" sz="2300" dirty="0"/>
          </a:p>
        </p:txBody>
      </p:sp>
      <p:sp>
        <p:nvSpPr>
          <p:cNvPr id="9" name="Text 7"/>
          <p:cNvSpPr txBox="1"/>
          <p:nvPr/>
        </p:nvSpPr>
        <p:spPr>
          <a:xfrm>
            <a:off x="1481328" y="7690104"/>
            <a:ext cx="13478622" cy="914400"/>
          </a:xfrm>
          <a:prstGeom prst="rect">
            <a:avLst/>
          </a:prstGeom>
          <a:noFill/>
          <a:ln/>
        </p:spPr>
        <p:txBody>
          <a:bodyPr wrap="square" lIns="0" tIns="0" rIns="0" bIns="0" rtlCol="0" anchor="ctr"/>
          <a:lstStyle/>
          <a:p>
            <a:pPr indent="0" marL="0">
              <a:lnSpc>
                <a:spcPts val="3000"/>
              </a:lnSpc>
              <a:buNone/>
            </a:pPr>
            <a:r>
              <a:rPr lang="en-US" sz="1875" dirty="0">
                <a:solidFill>
                  <a:srgbClr val="B9B3BB"/>
                </a:solidFill>
                <a:latin typeface="Poppins" pitchFamily="34" charset="0"/>
                <a:ea typeface="Poppins" pitchFamily="34" charset="-122"/>
                <a:cs typeface="Poppins" pitchFamily="34" charset="-120"/>
              </a:rPr>
              <a:t>You could. Pre-recorded videos and nobody watching your hands. Cheap teaches you to lash. This builds you a business.</a:t>
            </a:r>
            <a:endParaRPr lang="en-US" sz="1875" dirty="0"/>
          </a:p>
        </p:txBody>
      </p:sp>
      <p:sp>
        <p:nvSpPr>
          <p:cNvPr id="10" name="Text 8"/>
          <p:cNvSpPr txBox="1"/>
          <p:nvPr/>
        </p:nvSpPr>
        <p:spPr>
          <a:xfrm>
            <a:off x="1481328" y="8887968"/>
            <a:ext cx="15672816" cy="640080"/>
          </a:xfrm>
          <a:prstGeom prst="rect">
            <a:avLst/>
          </a:prstGeom>
          <a:noFill/>
          <a:ln/>
        </p:spPr>
        <p:txBody>
          <a:bodyPr wrap="square" lIns="0" tIns="0" rIns="0" bIns="0" rtlCol="0" anchor="ctr"/>
          <a:lstStyle/>
          <a:p>
            <a:pPr indent="0" marL="0">
              <a:buNone/>
            </a:pPr>
            <a:r>
              <a:rPr lang="en-US" sz="1725" i="1" dirty="0">
                <a:solidFill>
                  <a:srgbClr val="B9B3BB"/>
                </a:solidFill>
                <a:latin typeface="Poppins Italics" pitchFamily="34" charset="0"/>
                <a:ea typeface="Poppins Italics" pitchFamily="34" charset="-122"/>
                <a:cs typeface="Poppins Italics" pitchFamily="34" charset="-120"/>
              </a:rPr>
              <a:t>My best graduates had all three of those thoughts. They came anyway.</a:t>
            </a:r>
            <a:endParaRPr lang="en-US" sz="1725"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THE WINDOW</a:t>
            </a:r>
            <a:endParaRPr lang="en-US" sz="1500" dirty="0"/>
          </a:p>
        </p:txBody>
      </p:sp>
      <p:sp>
        <p:nvSpPr>
          <p:cNvPr id="3" name="Text 1"/>
          <p:cNvSpPr txBox="1"/>
          <p:nvPr/>
        </p:nvSpPr>
        <p:spPr>
          <a:xfrm>
            <a:off x="1481328" y="1143000"/>
            <a:ext cx="15672816" cy="1828800"/>
          </a:xfrm>
          <a:prstGeom prst="rect">
            <a:avLst/>
          </a:prstGeom>
          <a:noFill/>
          <a:ln/>
        </p:spPr>
        <p:txBody>
          <a:bodyPr wrap="square" lIns="0" tIns="0" rIns="0" bIns="0" rtlCol="0" anchor="t"/>
          <a:lstStyle/>
          <a:p>
            <a:pPr indent="0" marL="0">
              <a:lnSpc>
                <a:spcPts val="5310"/>
              </a:lnSpc>
              <a:buNone/>
            </a:pPr>
            <a:r>
              <a:rPr lang="en-US" sz="4500" dirty="0">
                <a:solidFill>
                  <a:srgbClr val="FFFFFF"/>
                </a:solidFill>
                <a:latin typeface="Poppins Bold" pitchFamily="34" charset="0"/>
                <a:ea typeface="Poppins Bold" pitchFamily="34" charset="-122"/>
                <a:cs typeface="Poppins Bold" pitchFamily="34" charset="-120"/>
              </a:rPr>
              <a:t>Here is exactly what happens next.</a:t>
            </a:r>
            <a:endParaRPr lang="en-US" sz="4500" dirty="0"/>
          </a:p>
        </p:txBody>
      </p:sp>
      <p:sp>
        <p:nvSpPr>
          <p:cNvPr id="4" name="Text 2"/>
          <p:cNvSpPr txBox="1"/>
          <p:nvPr/>
        </p:nvSpPr>
        <p:spPr>
          <a:xfrm>
            <a:off x="1481328" y="365760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01</a:t>
            </a:r>
            <a:endParaRPr lang="en-US" sz="1500" dirty="0"/>
          </a:p>
        </p:txBody>
      </p:sp>
      <p:sp>
        <p:nvSpPr>
          <p:cNvPr id="5" name="Text 3"/>
          <p:cNvSpPr txBox="1"/>
          <p:nvPr/>
        </p:nvSpPr>
        <p:spPr>
          <a:xfrm>
            <a:off x="2395728" y="365760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You are in</a:t>
            </a:r>
            <a:endParaRPr lang="en-US" sz="1950" dirty="0"/>
          </a:p>
        </p:txBody>
      </p:sp>
      <p:sp>
        <p:nvSpPr>
          <p:cNvPr id="6" name="Text 4"/>
          <p:cNvSpPr txBox="1"/>
          <p:nvPr/>
        </p:nvSpPr>
        <p:spPr>
          <a:xfrm>
            <a:off x="2395728" y="413308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Your seat locks tonight. An acceptance letter, not silence.</a:t>
            </a:r>
            <a:endParaRPr lang="en-US" sz="1725" dirty="0"/>
          </a:p>
        </p:txBody>
      </p:sp>
      <p:sp>
        <p:nvSpPr>
          <p:cNvPr id="7" name="Text 5"/>
          <p:cNvSpPr txBox="1"/>
          <p:nvPr/>
        </p:nvSpPr>
        <p:spPr>
          <a:xfrm>
            <a:off x="1481328" y="484632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02</a:t>
            </a:r>
            <a:endParaRPr lang="en-US" sz="1500" dirty="0"/>
          </a:p>
        </p:txBody>
      </p:sp>
      <p:sp>
        <p:nvSpPr>
          <p:cNvPr id="8" name="Text 6"/>
          <p:cNvSpPr txBox="1"/>
          <p:nvPr/>
        </p:nvSpPr>
        <p:spPr>
          <a:xfrm>
            <a:off x="2395728" y="484632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You get set up</a:t>
            </a:r>
            <a:endParaRPr lang="en-US" sz="1950" dirty="0"/>
          </a:p>
        </p:txBody>
      </p:sp>
      <p:sp>
        <p:nvSpPr>
          <p:cNvPr id="9" name="Text 7"/>
          <p:cNvSpPr txBox="1"/>
          <p:nvPr/>
        </p:nvSpPr>
        <p:spPr>
          <a:xfrm>
            <a:off x="2395728" y="532180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Campus opens. Kit ships. Equipped CEOs, the studio ships too.</a:t>
            </a:r>
            <a:endParaRPr lang="en-US" sz="1725" dirty="0"/>
          </a:p>
        </p:txBody>
      </p:sp>
      <p:sp>
        <p:nvSpPr>
          <p:cNvPr id="10" name="Text 8"/>
          <p:cNvSpPr txBox="1"/>
          <p:nvPr/>
        </p:nvSpPr>
        <p:spPr>
          <a:xfrm>
            <a:off x="1481328" y="603504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03</a:t>
            </a:r>
            <a:endParaRPr lang="en-US" sz="1500" dirty="0"/>
          </a:p>
        </p:txBody>
      </p:sp>
      <p:sp>
        <p:nvSpPr>
          <p:cNvPr id="11" name="Text 9"/>
          <p:cNvSpPr txBox="1"/>
          <p:nvPr/>
        </p:nvSpPr>
        <p:spPr>
          <a:xfrm>
            <a:off x="2395728" y="603504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We begin Monday September 7</a:t>
            </a:r>
            <a:endParaRPr lang="en-US" sz="1950" dirty="0"/>
          </a:p>
        </p:txBody>
      </p:sp>
      <p:sp>
        <p:nvSpPr>
          <p:cNvPr id="12" name="Text 10"/>
          <p:cNvSpPr txBox="1"/>
          <p:nvPr/>
        </p:nvSpPr>
        <p:spPr>
          <a:xfrm>
            <a:off x="2395728" y="651052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Six weeks of live coaching with an RN correcting your work.</a:t>
            </a:r>
            <a:endParaRPr lang="en-US" sz="1725" dirty="0"/>
          </a:p>
        </p:txBody>
      </p:sp>
      <p:sp>
        <p:nvSpPr>
          <p:cNvPr id="13" name="Text 11"/>
          <p:cNvSpPr txBox="1"/>
          <p:nvPr/>
        </p:nvSpPr>
        <p:spPr>
          <a:xfrm>
            <a:off x="1481328" y="7223760"/>
            <a:ext cx="822960" cy="457200"/>
          </a:xfrm>
          <a:prstGeom prst="rect">
            <a:avLst/>
          </a:prstGeom>
          <a:noFill/>
          <a:ln/>
        </p:spPr>
        <p:txBody>
          <a:bodyPr wrap="square" lIns="0" tIns="0" rIns="0" bIns="0" rtlCol="0" anchor="ctr"/>
          <a:lstStyle/>
          <a:p>
            <a:pPr indent="0" marL="0">
              <a:buNone/>
            </a:pPr>
            <a:r>
              <a:rPr lang="en-US" sz="1500" spc="300" kern="0" dirty="0">
                <a:solidFill>
                  <a:srgbClr val="D4AF37"/>
                </a:solidFill>
                <a:latin typeface="Poppins Bold" pitchFamily="34" charset="0"/>
                <a:ea typeface="Poppins Bold" pitchFamily="34" charset="-122"/>
                <a:cs typeface="Poppins Bold" pitchFamily="34" charset="-120"/>
              </a:rPr>
              <a:t>04</a:t>
            </a:r>
            <a:endParaRPr lang="en-US" sz="1500" dirty="0"/>
          </a:p>
        </p:txBody>
      </p:sp>
      <p:sp>
        <p:nvSpPr>
          <p:cNvPr id="14" name="Text 12"/>
          <p:cNvSpPr txBox="1"/>
          <p:nvPr/>
        </p:nvSpPr>
        <p:spPr>
          <a:xfrm>
            <a:off x="2395728" y="7223760"/>
            <a:ext cx="14758416" cy="457200"/>
          </a:xfrm>
          <a:prstGeom prst="rect">
            <a:avLst/>
          </a:prstGeom>
          <a:noFill/>
          <a:ln/>
        </p:spPr>
        <p:txBody>
          <a:bodyPr wrap="square" lIns="0" tIns="0" rIns="0" bIns="0" rtlCol="0" anchor="ctr"/>
          <a:lstStyle/>
          <a:p>
            <a:pPr indent="0" marL="0">
              <a:buNone/>
            </a:pPr>
            <a:r>
              <a:rPr lang="en-US" sz="1950" dirty="0">
                <a:solidFill>
                  <a:srgbClr val="FFFFFF"/>
                </a:solidFill>
                <a:latin typeface="Poppins Bold" pitchFamily="34" charset="0"/>
                <a:ea typeface="Poppins Bold" pitchFamily="34" charset="-122"/>
                <a:cs typeface="Poppins Bold" pitchFamily="34" charset="-120"/>
              </a:rPr>
              <a:t>You launch</a:t>
            </a:r>
            <a:endParaRPr lang="en-US" sz="1950" dirty="0"/>
          </a:p>
        </p:txBody>
      </p:sp>
      <p:sp>
        <p:nvSpPr>
          <p:cNvPr id="15" name="Text 13"/>
          <p:cNvSpPr txBox="1"/>
          <p:nvPr/>
        </p:nvSpPr>
        <p:spPr>
          <a:xfrm>
            <a:off x="2395728" y="7699248"/>
            <a:ext cx="14758416" cy="457200"/>
          </a:xfrm>
          <a:prstGeom prst="rect">
            <a:avLst/>
          </a:prstGeom>
          <a:noFill/>
          <a:ln/>
        </p:spPr>
        <p:txBody>
          <a:bodyPr wrap="square" lIns="0" tIns="0" rIns="0" bIns="0" rtlCol="0" anchor="ctr"/>
          <a:lstStyle/>
          <a:p>
            <a:pPr indent="0" marL="0">
              <a:buNone/>
            </a:pPr>
            <a:r>
              <a:rPr lang="en-US" sz="1725" dirty="0">
                <a:solidFill>
                  <a:srgbClr val="B9B3BB"/>
                </a:solidFill>
                <a:latin typeface="Poppins" pitchFamily="34" charset="0"/>
                <a:ea typeface="Poppins" pitchFamily="34" charset="-122"/>
                <a:cs typeface="Poppins" pitchFamily="34" charset="-120"/>
              </a:rPr>
              <a:t>Certified, equipped, first clients, guarantee behind you.</a:t>
            </a:r>
            <a:endParaRPr lang="en-US" sz="1725" dirty="0"/>
          </a:p>
        </p:txBody>
      </p:sp>
      <p:sp>
        <p:nvSpPr>
          <p:cNvPr id="16" name="Shape 14"/>
          <p:cNvSpPr/>
          <p:nvPr/>
        </p:nvSpPr>
        <p:spPr>
          <a:xfrm>
            <a:off x="1481328" y="8321040"/>
            <a:ext cx="15672816" cy="10973"/>
          </a:xfrm>
          <a:prstGeom prst="rect">
            <a:avLst/>
          </a:prstGeom>
          <a:solidFill>
            <a:srgbClr val="262026"/>
          </a:solidFill>
          <a:ln/>
        </p:spPr>
      </p:sp>
      <p:sp>
        <p:nvSpPr>
          <p:cNvPr id="17" name="Text 15"/>
          <p:cNvSpPr txBox="1"/>
          <p:nvPr/>
        </p:nvSpPr>
        <p:spPr>
          <a:xfrm>
            <a:off x="1481328" y="8595360"/>
            <a:ext cx="15672816" cy="640080"/>
          </a:xfrm>
          <a:prstGeom prst="rect">
            <a:avLst/>
          </a:prstGeom>
          <a:noFill/>
          <a:ln/>
        </p:spPr>
        <p:txBody>
          <a:bodyPr wrap="square" lIns="0" tIns="0" rIns="0" bIns="0" rtlCol="0" anchor="ctr"/>
          <a:lstStyle/>
          <a:p>
            <a:pPr indent="0" marL="0">
              <a:buNone/>
            </a:pPr>
            <a:r>
              <a:rPr lang="en-US" sz="2000" dirty="0">
                <a:solidFill>
                  <a:srgbClr val="F600A2"/>
                </a:solidFill>
                <a:latin typeface="Poppins Bold" pitchFamily="34" charset="0"/>
                <a:ea typeface="Poppins Bold" pitchFamily="34" charset="-122"/>
                <a:cs typeface="Poppins Bold" pitchFamily="34" charset="-120"/>
              </a:rPr>
              <a:t>Kit cutoff Thursday September 3  ·  Doors close Sunday September 6  ·  4 seats left</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ONE MORE TIME</a:t>
            </a:r>
            <a:endParaRPr lang="en-US" sz="1500" dirty="0"/>
          </a:p>
        </p:txBody>
      </p:sp>
      <p:sp>
        <p:nvSpPr>
          <p:cNvPr id="3" name="Text 1"/>
          <p:cNvSpPr txBox="1"/>
          <p:nvPr/>
        </p:nvSpPr>
        <p:spPr>
          <a:xfrm>
            <a:off x="1481328" y="2926080"/>
            <a:ext cx="9738360" cy="1828800"/>
          </a:xfrm>
          <a:prstGeom prst="rect">
            <a:avLst/>
          </a:prstGeom>
          <a:noFill/>
          <a:ln/>
        </p:spPr>
        <p:txBody>
          <a:bodyPr wrap="square" lIns="0" tIns="0" rIns="0" bIns="0" rtlCol="0" anchor="t"/>
          <a:lstStyle/>
          <a:p>
            <a:pPr indent="0" marL="0">
              <a:lnSpc>
                <a:spcPts val="5310"/>
              </a:lnSpc>
              <a:buNone/>
            </a:pPr>
            <a:r>
              <a:rPr lang="en-US" sz="4500" dirty="0">
                <a:solidFill>
                  <a:srgbClr val="FFFFFF"/>
                </a:solidFill>
                <a:latin typeface="Poppins Bold" pitchFamily="34" charset="0"/>
                <a:ea typeface="Poppins Bold" pitchFamily="34" charset="-122"/>
                <a:cs typeface="Poppins Bold" pitchFamily="34" charset="-120"/>
              </a:rPr>
              <a:t>Who are you doing this for?
</a:t>
            </a:r>
            <a:pPr indent="0" marL="0">
              <a:lnSpc>
                <a:spcPts val="5310"/>
              </a:lnSpc>
              <a:buNone/>
            </a:pPr>
            <a:r>
              <a:rPr lang="en-US" sz="4500" i="1" dirty="0">
                <a:solidFill>
                  <a:srgbClr val="F600A2"/>
                </a:solidFill>
                <a:latin typeface="Poppins Italics" pitchFamily="34" charset="0"/>
                <a:ea typeface="Poppins Italics" pitchFamily="34" charset="-122"/>
                <a:cs typeface="Poppins Italics" pitchFamily="34" charset="-120"/>
              </a:rPr>
              <a:t>Type the name in the chat.</a:t>
            </a:r>
            <a:endParaRPr lang="en-US" sz="4500" dirty="0"/>
          </a:p>
        </p:txBody>
      </p:sp>
      <p:sp>
        <p:nvSpPr>
          <p:cNvPr id="4" name="Text 2"/>
          <p:cNvSpPr txBox="1"/>
          <p:nvPr/>
        </p:nvSpPr>
        <p:spPr>
          <a:xfrm>
            <a:off x="1481328" y="6263640"/>
            <a:ext cx="9738360" cy="2103120"/>
          </a:xfrm>
          <a:prstGeom prst="rect">
            <a:avLst/>
          </a:prstGeom>
          <a:noFill/>
          <a:ln/>
        </p:spPr>
        <p:txBody>
          <a:bodyPr wrap="square" lIns="0" tIns="0" rIns="0" bIns="0" rtlCol="0" anchor="ctr"/>
          <a:lstStyle/>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Just the name.</a:t>
            </a:r>
            <a:endParaRPr lang="en-US" sz="2100" dirty="0"/>
          </a:p>
          <a:p>
            <a:pPr indent="0" marL="0">
              <a:lnSpc>
                <a:spcPts val="3500"/>
              </a:lnSpc>
              <a:buNone/>
            </a:pPr>
            <a:endParaRPr lang="en-US" sz="2100" dirty="0"/>
          </a:p>
          <a:p>
            <a:pPr indent="0" marL="0">
              <a:lnSpc>
                <a:spcPts val="3500"/>
              </a:lnSpc>
              <a:buNone/>
            </a:pPr>
            <a:r>
              <a:rPr lang="en-US" sz="2100" dirty="0">
                <a:solidFill>
                  <a:srgbClr val="B9B3BB"/>
                </a:solidFill>
                <a:latin typeface="Poppins" pitchFamily="34" charset="0"/>
                <a:ea typeface="Poppins" pitchFamily="34" charset="-122"/>
                <a:cs typeface="Poppins" pitchFamily="34" charset="-120"/>
              </a:rPr>
              <a:t>That name is not asking you to feel ready. That name is waiting on you to decide.</a:t>
            </a:r>
            <a:endParaRPr lang="en-US" sz="2100" dirty="0"/>
          </a:p>
        </p:txBody>
      </p:sp>
      <p:sp>
        <p:nvSpPr>
          <p:cNvPr id="5" name="Shape 3"/>
          <p:cNvSpPr/>
          <p:nvPr/>
        </p:nvSpPr>
        <p:spPr>
          <a:xfrm>
            <a:off x="11713464" y="2295144"/>
            <a:ext cx="5477256" cy="5193792"/>
          </a:xfrm>
          <a:prstGeom prst="rect">
            <a:avLst/>
          </a:prstGeom>
          <a:solidFill>
            <a:srgbClr val="262026"/>
          </a:solidFill>
          <a:ln/>
        </p:spPr>
      </p:sp>
      <p:pic>
        <p:nvPicPr>
          <p:cNvPr id="6" name="Image 0" descr="media/grad-1.jpeg">    </p:cNvPr>
          <p:cNvPicPr>
            <a:picLocks noChangeAspect="1"/>
          </p:cNvPicPr>
          <p:nvPr/>
        </p:nvPicPr>
        <p:blipFill>
          <a:blip r:embed="rId1"/>
          <a:srcRect l="0" r="0" t="0" b="0"/>
          <a:stretch/>
        </p:blipFill>
        <p:spPr>
          <a:xfrm>
            <a:off x="11750040" y="2331720"/>
            <a:ext cx="5404104" cy="512064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A0A0A"/>
        </a:solidFill>
      </p:bgPr>
    </p:bg>
    <p:spTree>
      <p:nvGrpSpPr>
        <p:cNvPr id="1" name=""/>
        <p:cNvGrpSpPr/>
        <p:nvPr/>
      </p:nvGrpSpPr>
      <p:grpSpPr>
        <a:xfrm>
          <a:off x="0" y="0"/>
          <a:ext cx="0" cy="0"/>
          <a:chOff x="0" y="0"/>
          <a:chExt cx="0" cy="0"/>
        </a:xfrm>
      </p:grpSpPr>
      <p:sp>
        <p:nvSpPr>
          <p:cNvPr id="2" name="Text 0"/>
          <p:cNvSpPr txBox="1"/>
          <p:nvPr/>
        </p:nvSpPr>
        <p:spPr>
          <a:xfrm>
            <a:off x="1481328" y="566928"/>
            <a:ext cx="15672816" cy="384048"/>
          </a:xfrm>
          <a:prstGeom prst="rect">
            <a:avLst/>
          </a:prstGeom>
          <a:noFill/>
          <a:ln/>
        </p:spPr>
        <p:txBody>
          <a:bodyPr wrap="square" lIns="0" tIns="0" rIns="0" bIns="0" rtlCol="0" anchor="ctr"/>
          <a:lstStyle/>
          <a:p>
            <a:pPr indent="0" marL="0">
              <a:buNone/>
            </a:pPr>
            <a:r>
              <a:rPr lang="en-US" sz="1500" b="1" spc="600" kern="0" dirty="0">
                <a:solidFill>
                  <a:srgbClr val="D4AF37"/>
                </a:solidFill>
                <a:latin typeface="Poppins Bold" pitchFamily="34" charset="0"/>
                <a:ea typeface="Poppins Bold" pitchFamily="34" charset="-122"/>
                <a:cs typeface="Poppins Bold" pitchFamily="34" charset="-120"/>
              </a:rPr>
              <a:t>NINE O’CLOCK</a:t>
            </a:r>
            <a:endParaRPr lang="en-US" sz="1500" dirty="0"/>
          </a:p>
        </p:txBody>
      </p:sp>
      <p:sp>
        <p:nvSpPr>
          <p:cNvPr id="3" name="Text 1"/>
          <p:cNvSpPr txBox="1"/>
          <p:nvPr/>
        </p:nvSpPr>
        <p:spPr>
          <a:xfrm>
            <a:off x="1481328" y="1965960"/>
            <a:ext cx="15672816" cy="1828800"/>
          </a:xfrm>
          <a:prstGeom prst="rect">
            <a:avLst/>
          </a:prstGeom>
          <a:noFill/>
          <a:ln/>
        </p:spPr>
        <p:txBody>
          <a:bodyPr wrap="square" lIns="0" tIns="0" rIns="0" bIns="0" rtlCol="0" anchor="t"/>
          <a:lstStyle/>
          <a:p>
            <a:pPr indent="0" marL="0">
              <a:lnSpc>
                <a:spcPts val="5192"/>
              </a:lnSpc>
              <a:buNone/>
            </a:pPr>
            <a:r>
              <a:rPr lang="en-US" sz="4400" dirty="0">
                <a:solidFill>
                  <a:srgbClr val="FFFFFF"/>
                </a:solidFill>
                <a:latin typeface="Poppins Bold" pitchFamily="34" charset="0"/>
                <a:ea typeface="Poppins Bold" pitchFamily="34" charset="-122"/>
                <a:cs typeface="Poppins Bold" pitchFamily="34" charset="-120"/>
              </a:rPr>
              <a:t>General Admission leaves with notes.
</a:t>
            </a:r>
            <a:pPr indent="0" marL="0">
              <a:lnSpc>
                <a:spcPts val="5192"/>
              </a:lnSpc>
              <a:buNone/>
            </a:pPr>
            <a:r>
              <a:rPr lang="en-US" sz="4400" i="1" dirty="0">
                <a:solidFill>
                  <a:srgbClr val="D4AF37"/>
                </a:solidFill>
                <a:latin typeface="Poppins Italics" pitchFamily="34" charset="0"/>
                <a:ea typeface="Poppins Italics" pitchFamily="34" charset="-122"/>
                <a:cs typeface="Poppins Italics" pitchFamily="34" charset="-120"/>
              </a:rPr>
              <a:t>The Campus stays in the room.</a:t>
            </a:r>
            <a:endParaRPr lang="en-US" sz="4400" dirty="0"/>
          </a:p>
        </p:txBody>
      </p:sp>
      <p:sp>
        <p:nvSpPr>
          <p:cNvPr id="4" name="Shape 2"/>
          <p:cNvSpPr/>
          <p:nvPr/>
        </p:nvSpPr>
        <p:spPr>
          <a:xfrm>
            <a:off x="1481328" y="4892040"/>
            <a:ext cx="12538253" cy="2514600"/>
          </a:xfrm>
          <a:prstGeom prst="roundRect">
            <a:avLst>
              <a:gd name="adj" fmla="val 5091"/>
            </a:avLst>
          </a:prstGeom>
          <a:solidFill>
            <a:srgbClr val="0D160B"/>
          </a:solidFill>
          <a:ln w="19050">
            <a:solidFill>
              <a:srgbClr val="398414"/>
            </a:solidFill>
            <a:prstDash val="solid"/>
          </a:ln>
        </p:spPr>
      </p:sp>
      <p:sp>
        <p:nvSpPr>
          <p:cNvPr id="5" name="Text 3"/>
          <p:cNvSpPr txBox="1"/>
          <p:nvPr/>
        </p:nvSpPr>
        <p:spPr>
          <a:xfrm>
            <a:off x="2121408" y="5212080"/>
            <a:ext cx="7315200" cy="411480"/>
          </a:xfrm>
          <a:prstGeom prst="rect">
            <a:avLst/>
          </a:prstGeom>
          <a:noFill/>
          <a:ln/>
        </p:spPr>
        <p:txBody>
          <a:bodyPr wrap="square" lIns="0" tIns="0" rIns="0" bIns="0" rtlCol="0" anchor="ctr"/>
          <a:lstStyle/>
          <a:p>
            <a:pPr indent="0" marL="0">
              <a:buNone/>
            </a:pPr>
            <a:r>
              <a:rPr lang="en-US" sz="1500" spc="400" kern="0" dirty="0">
                <a:solidFill>
                  <a:srgbClr val="7FD317"/>
                </a:solidFill>
                <a:latin typeface="Poppins Bold" pitchFamily="34" charset="0"/>
                <a:ea typeface="Poppins Bold" pitchFamily="34" charset="-122"/>
                <a:cs typeface="Poppins Bold" pitchFamily="34" charset="-120"/>
              </a:rPr>
              <a:t>STAY UNTIL 9:45</a:t>
            </a:r>
            <a:endParaRPr lang="en-US" sz="1500" dirty="0"/>
          </a:p>
        </p:txBody>
      </p:sp>
      <p:sp>
        <p:nvSpPr>
          <p:cNvPr id="6" name="Text 4"/>
          <p:cNvSpPr txBox="1"/>
          <p:nvPr/>
        </p:nvSpPr>
        <p:spPr>
          <a:xfrm>
            <a:off x="2121408" y="5715000"/>
            <a:ext cx="11258093" cy="1371600"/>
          </a:xfrm>
          <a:prstGeom prst="rect">
            <a:avLst/>
          </a:prstGeom>
          <a:noFill/>
          <a:ln/>
        </p:spPr>
        <p:txBody>
          <a:bodyPr wrap="square" lIns="0" tIns="0" rIns="0" bIns="0" rtlCol="0" anchor="ctr"/>
          <a:lstStyle/>
          <a:p>
            <a:pPr indent="0" marL="0">
              <a:lnSpc>
                <a:spcPts val="3400"/>
              </a:lnSpc>
              <a:buNone/>
            </a:pPr>
            <a:r>
              <a:rPr lang="en-US" sz="2100" dirty="0">
                <a:solidFill>
                  <a:srgbClr val="FFFFFF"/>
                </a:solidFill>
                <a:latin typeface="Poppins" pitchFamily="34" charset="0"/>
                <a:ea typeface="Poppins" pitchFamily="34" charset="-122"/>
                <a:cs typeface="Poppins" pitchFamily="34" charset="-120"/>
              </a:rPr>
              <a:t>Pull up a set that did not last and we work out what happened to yours, on the screen, together.</a:t>
            </a:r>
            <a:endParaRPr lang="en-US" sz="2100" dirty="0"/>
          </a:p>
        </p:txBody>
      </p:sp>
      <p:sp>
        <p:nvSpPr>
          <p:cNvPr id="7" name="Text 5"/>
          <p:cNvSpPr txBox="1"/>
          <p:nvPr/>
        </p:nvSpPr>
        <p:spPr>
          <a:xfrm>
            <a:off x="1481328" y="7818120"/>
            <a:ext cx="15672816" cy="640080"/>
          </a:xfrm>
          <a:prstGeom prst="rect">
            <a:avLst/>
          </a:prstGeom>
          <a:noFill/>
          <a:ln/>
        </p:spPr>
        <p:txBody>
          <a:bodyPr wrap="square" lIns="0" tIns="0" rIns="0" bIns="0" rtlCol="0" anchor="ctr"/>
          <a:lstStyle/>
          <a:p>
            <a:pPr indent="0" marL="0">
              <a:buNone/>
            </a:pPr>
            <a:r>
              <a:rPr lang="en-US" sz="2100" dirty="0">
                <a:solidFill>
                  <a:srgbClr val="F600A2"/>
                </a:solidFill>
                <a:latin typeface="Poppins Bold" pitchFamily="34" charset="0"/>
                <a:ea typeface="Poppins Bold" pitchFamily="34" charset="-122"/>
                <a:cs typeface="Poppins Bold" pitchFamily="34" charset="-120"/>
              </a:rPr>
              <a:t>Nine dollars.  Less than the adhesive you are going to throw out this month.</a:t>
            </a:r>
            <a:endParaRPr lang="en-US" sz="2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A0A0A"/>
        </a:solidFill>
      </p:bgPr>
    </p:bg>
    <p:spTree>
      <p:nvGrpSpPr>
        <p:cNvPr id="1" name=""/>
        <p:cNvGrpSpPr/>
        <p:nvPr/>
      </p:nvGrpSpPr>
      <p:grpSpPr>
        <a:xfrm>
          <a:off x="0" y="0"/>
          <a:ext cx="0" cy="0"/>
          <a:chOff x="0" y="0"/>
          <a:chExt cx="0" cy="0"/>
        </a:xfrm>
      </p:grpSpPr>
      <p:sp>
        <p:nvSpPr>
          <p:cNvPr id="2" name="Shape 0"/>
          <p:cNvSpPr/>
          <p:nvPr/>
        </p:nvSpPr>
        <p:spPr>
          <a:xfrm>
            <a:off x="-36576" y="-36576"/>
            <a:ext cx="18361152" cy="10360152"/>
          </a:xfrm>
          <a:prstGeom prst="rect">
            <a:avLst/>
          </a:prstGeom>
          <a:solidFill>
            <a:srgbClr val="262026"/>
          </a:solidFill>
          <a:ln/>
        </p:spPr>
      </p:sp>
      <p:pic>
        <p:nvPicPr>
          <p:cNvPr id="3" name="Image 0" descr="media/grad-hall.jpeg">    </p:cNvPr>
          <p:cNvPicPr>
            <a:picLocks noChangeAspect="1"/>
          </p:cNvPicPr>
          <p:nvPr/>
        </p:nvPicPr>
        <p:blipFill>
          <a:blip r:embed="rId1"/>
          <a:srcRect l="0" r="0" t="0" b="0"/>
          <a:stretch/>
        </p:blipFill>
        <p:spPr>
          <a:xfrm>
            <a:off x="0" y="0"/>
            <a:ext cx="18288000" cy="10287000"/>
          </a:xfrm>
          <a:prstGeom prst="rect">
            <a:avLst/>
          </a:prstGeom>
        </p:spPr>
      </p:pic>
      <p:sp>
        <p:nvSpPr>
          <p:cNvPr id="4" name="Shape 1"/>
          <p:cNvSpPr/>
          <p:nvPr/>
        </p:nvSpPr>
        <p:spPr>
          <a:xfrm>
            <a:off x="0" y="0"/>
            <a:ext cx="18288000" cy="10287000"/>
          </a:xfrm>
          <a:prstGeom prst="rect">
            <a:avLst/>
          </a:prstGeom>
          <a:solidFill>
            <a:srgbClr val="0A0A0A">
              <a:alpha val="78000"/>
            </a:srgbClr>
          </a:solidFill>
          <a:ln/>
        </p:spPr>
      </p:sp>
      <p:sp>
        <p:nvSpPr>
          <p:cNvPr id="5" name="Text 2"/>
          <p:cNvSpPr txBox="1"/>
          <p:nvPr/>
        </p:nvSpPr>
        <p:spPr>
          <a:xfrm>
            <a:off x="0" y="1965960"/>
            <a:ext cx="18288000" cy="457200"/>
          </a:xfrm>
          <a:prstGeom prst="rect">
            <a:avLst/>
          </a:prstGeom>
          <a:noFill/>
          <a:ln/>
        </p:spPr>
        <p:txBody>
          <a:bodyPr wrap="square" lIns="0" tIns="0" rIns="0" bIns="0" rtlCol="0" anchor="ctr"/>
          <a:lstStyle/>
          <a:p>
            <a:pPr algn="ctr" indent="0" marL="0">
              <a:buNone/>
            </a:pPr>
            <a:r>
              <a:rPr lang="en-US" sz="1500" spc="600" kern="0" dirty="0">
                <a:solidFill>
                  <a:srgbClr val="D4AF37"/>
                </a:solidFill>
                <a:latin typeface="Poppins Bold" pitchFamily="34" charset="0"/>
                <a:ea typeface="Poppins Bold" pitchFamily="34" charset="-122"/>
                <a:cs typeface="Poppins Bold" pitchFamily="34" charset="-120"/>
              </a:rPr>
              <a:t>R I C H   L A S H ®   U N I V E R S I T Y</a:t>
            </a:r>
            <a:endParaRPr lang="en-US" sz="1500" dirty="0"/>
          </a:p>
        </p:txBody>
      </p:sp>
      <p:sp>
        <p:nvSpPr>
          <p:cNvPr id="6" name="Text 3"/>
          <p:cNvSpPr txBox="1"/>
          <p:nvPr/>
        </p:nvSpPr>
        <p:spPr>
          <a:xfrm>
            <a:off x="0" y="2926080"/>
            <a:ext cx="18288000" cy="2286000"/>
          </a:xfrm>
          <a:prstGeom prst="rect">
            <a:avLst/>
          </a:prstGeom>
          <a:noFill/>
          <a:ln/>
        </p:spPr>
        <p:txBody>
          <a:bodyPr wrap="square" lIns="0" tIns="0" rIns="0" bIns="0" rtlCol="0" anchor="ctr"/>
          <a:lstStyle/>
          <a:p>
            <a:pPr algn="ctr" indent="0" marL="0">
              <a:lnSpc>
                <a:spcPts val="7000"/>
              </a:lnSpc>
              <a:buNone/>
            </a:pPr>
            <a:r>
              <a:rPr lang="en-US" sz="6000" dirty="0">
                <a:solidFill>
                  <a:srgbClr val="FFFFFF"/>
                </a:solidFill>
                <a:latin typeface="Poppins Bold" pitchFamily="34" charset="0"/>
                <a:ea typeface="Poppins Bold" pitchFamily="34" charset="-122"/>
                <a:cs typeface="Poppins Bold" pitchFamily="34" charset="-120"/>
              </a:rPr>
              <a:t>Your seat is open.
</a:t>
            </a:r>
            <a:pPr algn="ctr" indent="0" marL="0">
              <a:lnSpc>
                <a:spcPts val="7000"/>
              </a:lnSpc>
              <a:buNone/>
            </a:pPr>
            <a:r>
              <a:rPr lang="en-US" sz="6000" i="1" dirty="0">
                <a:solidFill>
                  <a:srgbClr val="F600A2"/>
                </a:solidFill>
                <a:latin typeface="Poppins Italics" pitchFamily="34" charset="0"/>
                <a:ea typeface="Poppins Italics" pitchFamily="34" charset="-122"/>
                <a:cs typeface="Poppins Italics" pitchFamily="34" charset="-120"/>
              </a:rPr>
              <a:t>The next move is yours.</a:t>
            </a:r>
            <a:endParaRPr lang="en-US" sz="6000" dirty="0"/>
          </a:p>
        </p:txBody>
      </p:sp>
      <p:sp>
        <p:nvSpPr>
          <p:cNvPr id="7" name="Text 4"/>
          <p:cNvSpPr txBox="1"/>
          <p:nvPr/>
        </p:nvSpPr>
        <p:spPr>
          <a:xfrm>
            <a:off x="0" y="5440680"/>
            <a:ext cx="18288000" cy="731520"/>
          </a:xfrm>
          <a:prstGeom prst="rect">
            <a:avLst/>
          </a:prstGeom>
          <a:noFill/>
          <a:ln/>
        </p:spPr>
        <p:txBody>
          <a:bodyPr wrap="square" lIns="0" tIns="0" rIns="0" bIns="0" rtlCol="0" anchor="ctr"/>
          <a:lstStyle/>
          <a:p>
            <a:pPr algn="ctr" indent="0" marL="0">
              <a:buNone/>
            </a:pPr>
            <a:r>
              <a:rPr lang="en-US" sz="3000" dirty="0">
                <a:solidFill>
                  <a:srgbClr val="D4AF37"/>
                </a:solidFill>
                <a:latin typeface="Poppins Bold" pitchFamily="34" charset="0"/>
                <a:ea typeface="Poppins Bold" pitchFamily="34" charset="-122"/>
                <a:cs typeface="Poppins Bold" pitchFamily="34" charset="-120"/>
              </a:rPr>
              <a:t>richlash.university/pages/enroll</a:t>
            </a:r>
            <a:endParaRPr lang="en-US" sz="3000" dirty="0"/>
          </a:p>
        </p:txBody>
      </p:sp>
      <p:sp>
        <p:nvSpPr>
          <p:cNvPr id="8" name="Text 5"/>
          <p:cNvSpPr txBox="1"/>
          <p:nvPr/>
        </p:nvSpPr>
        <p:spPr>
          <a:xfrm>
            <a:off x="0" y="6355080"/>
            <a:ext cx="18288000" cy="548640"/>
          </a:xfrm>
          <a:prstGeom prst="rect">
            <a:avLst/>
          </a:prstGeom>
          <a:noFill/>
          <a:ln/>
        </p:spPr>
        <p:txBody>
          <a:bodyPr wrap="square" lIns="0" tIns="0" rIns="0" bIns="0" rtlCol="0" anchor="ctr"/>
          <a:lstStyle/>
          <a:p>
            <a:pPr algn="ctr" indent="0" marL="0">
              <a:buNone/>
            </a:pPr>
            <a:r>
              <a:rPr lang="en-US" sz="1950" dirty="0">
                <a:solidFill>
                  <a:srgbClr val="FFFFFF"/>
                </a:solidFill>
                <a:latin typeface="Poppins" pitchFamily="34" charset="0"/>
                <a:ea typeface="Poppins" pitchFamily="34" charset="-122"/>
                <a:cs typeface="Poppins" pitchFamily="34" charset="-120"/>
              </a:rPr>
              <a:t>Certified CEO $2,997 or $750 down   ·   Equipped CEO $3,997 or $1,200 down</a:t>
            </a:r>
            <a:endParaRPr lang="en-US" sz="1950" dirty="0"/>
          </a:p>
        </p:txBody>
      </p:sp>
      <p:sp>
        <p:nvSpPr>
          <p:cNvPr id="9" name="Text 6"/>
          <p:cNvSpPr txBox="1"/>
          <p:nvPr/>
        </p:nvSpPr>
        <p:spPr>
          <a:xfrm>
            <a:off x="0" y="6949440"/>
            <a:ext cx="18288000" cy="548640"/>
          </a:xfrm>
          <a:prstGeom prst="rect">
            <a:avLst/>
          </a:prstGeom>
          <a:noFill/>
          <a:ln/>
        </p:spPr>
        <p:txBody>
          <a:bodyPr wrap="square" lIns="0" tIns="0" rIns="0" bIns="0" rtlCol="0" anchor="ctr"/>
          <a:lstStyle/>
          <a:p>
            <a:pPr algn="ctr" indent="0" marL="0">
              <a:buNone/>
            </a:pPr>
            <a:r>
              <a:rPr lang="en-US" sz="1875" dirty="0">
                <a:solidFill>
                  <a:srgbClr val="B9B3BB"/>
                </a:solidFill>
                <a:latin typeface="Poppins" pitchFamily="34" charset="0"/>
                <a:ea typeface="Poppins" pitchFamily="34" charset="-122"/>
                <a:cs typeface="Poppins" pitchFamily="34" charset="-120"/>
              </a:rPr>
              <a:t>Cohort begins Monday September 7  ·  Kit cutoff Thursday the 3rd  ·  Doors close Sunday the 6th</a:t>
            </a:r>
            <a:endParaRPr lang="en-US" sz="1875" dirty="0"/>
          </a:p>
        </p:txBody>
      </p:sp>
      <p:sp>
        <p:nvSpPr>
          <p:cNvPr id="10" name="Text 7"/>
          <p:cNvSpPr txBox="1"/>
          <p:nvPr/>
        </p:nvSpPr>
        <p:spPr>
          <a:xfrm>
            <a:off x="0" y="7635240"/>
            <a:ext cx="18288000" cy="548640"/>
          </a:xfrm>
          <a:prstGeom prst="rect">
            <a:avLst/>
          </a:prstGeom>
          <a:noFill/>
          <a:ln/>
        </p:spPr>
        <p:txBody>
          <a:bodyPr wrap="square" lIns="0" tIns="0" rIns="0" bIns="0" rtlCol="0" anchor="ctr"/>
          <a:lstStyle/>
          <a:p>
            <a:pPr algn="ctr" indent="0" marL="0">
              <a:buNone/>
            </a:pPr>
            <a:r>
              <a:rPr lang="en-US" sz="1950" i="1" dirty="0">
                <a:solidFill>
                  <a:srgbClr val="4EBB19"/>
                </a:solidFill>
                <a:latin typeface="Poppins Italics" pitchFamily="34" charset="0"/>
                <a:ea typeface="Poppins Italics" pitchFamily="34" charset="-122"/>
                <a:cs typeface="Poppins Italics" pitchFamily="34" charset="-120"/>
              </a:rPr>
              <a:t>Campus: stay on at nine. We look at your sets together.</a:t>
            </a:r>
            <a:endParaRPr lang="en-US" sz="1950" dirty="0"/>
          </a:p>
        </p:txBody>
      </p:sp>
      <p:sp>
        <p:nvSpPr>
          <p:cNvPr id="11" name="Text 8"/>
          <p:cNvSpPr txBox="1"/>
          <p:nvPr/>
        </p:nvSpPr>
        <p:spPr>
          <a:xfrm>
            <a:off x="0" y="8732520"/>
            <a:ext cx="18288000" cy="548640"/>
          </a:xfrm>
          <a:prstGeom prst="rect">
            <a:avLst/>
          </a:prstGeom>
          <a:noFill/>
          <a:ln/>
        </p:spPr>
        <p:txBody>
          <a:bodyPr wrap="square" lIns="0" tIns="0" rIns="0" bIns="0" rtlCol="0" anchor="ctr"/>
          <a:lstStyle/>
          <a:p>
            <a:pPr algn="ctr" indent="0" marL="0">
              <a:buNone/>
            </a:pPr>
            <a:r>
              <a:rPr lang="en-US" sz="1650" spc="300" kern="0" dirty="0">
                <a:solidFill>
                  <a:srgbClr val="D4AF37"/>
                </a:solidFill>
                <a:latin typeface="Poppins Bold" pitchFamily="34" charset="0"/>
                <a:ea typeface="Poppins Bold" pitchFamily="34" charset="-122"/>
                <a:cs typeface="Poppins Bold" pitchFamily="34" charset="-120"/>
              </a:rPr>
              <a:t>Faith first. Work daily. Watch it come.</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Retention Room</dc:title>
  <dc:subject>Why her lashes fall off in nine days</dc:subject>
  <dc:creator>Destyni Triplett, RN</dc:creator>
  <cp:lastModifiedBy>Destyni Triplett, RN</cp:lastModifiedBy>
  <cp:revision>1</cp:revision>
  <dcterms:created xsi:type="dcterms:W3CDTF">2026-09-01T23:23:31Z</dcterms:created>
  <dcterms:modified xsi:type="dcterms:W3CDTF">2026-09-01T23:23:31Z</dcterms:modified>
</cp:coreProperties>
</file>